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64" r:id="rId5"/>
    <p:sldId id="259" r:id="rId6"/>
    <p:sldId id="265" r:id="rId7"/>
    <p:sldId id="261" r:id="rId8"/>
    <p:sldId id="262" r:id="rId9"/>
    <p:sldId id="263"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6928" autoAdjust="0"/>
  </p:normalViewPr>
  <p:slideViewPr>
    <p:cSldViewPr snapToGrid="0" snapToObjects="1">
      <p:cViewPr varScale="1">
        <p:scale>
          <a:sx n="73" d="100"/>
          <a:sy n="73" d="100"/>
        </p:scale>
        <p:origin x="1738"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55678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400" dirty="0"/>
              <a:t>Добрый день! Меня зовут Хайбулоев Дамир Ахлидинович.</a:t>
            </a:r>
          </a:p>
          <a:p>
            <a:r>
              <a:rPr lang="ru-RU" sz="1400" dirty="0"/>
              <a:t>Тема моей выпускной квалификационной работы — сравнение явных и неявных разностных схем для уравнения переноса.</a:t>
            </a:r>
          </a:p>
          <a:p>
            <a:r>
              <a:rPr lang="ru-RU" sz="1400" dirty="0"/>
              <a:t>Работа ведётся под руководством Кобелькова Георгия Михайловича.</a:t>
            </a:r>
          </a:p>
          <a:p>
            <a:r>
              <a:rPr lang="ru-RU" sz="1400" dirty="0"/>
              <a:t>Постараюсь уложиться в отведённые 5 минут.</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400" dirty="0"/>
              <a:t>Цель работы — систематически сравнить явные и неявные схемы по точности и устойчивости</a:t>
            </a:r>
          </a:p>
          <a:p>
            <a:r>
              <a:rPr lang="ru-RU" sz="1400" dirty="0"/>
              <a:t>Для достижения цели мы поставили 4 задачи:</a:t>
            </a:r>
          </a:p>
          <a:p>
            <a:endParaRPr lang="ru-RU" sz="1400" dirty="0"/>
          </a:p>
          <a:p>
            <a:r>
              <a:rPr lang="ru-RU" sz="1400" dirty="0"/>
              <a:t>первая — получить аналитические решения для четырёх типов коэффициента переноса;</a:t>
            </a:r>
          </a:p>
          <a:p>
            <a:endParaRPr lang="ru-RU" sz="1400" dirty="0"/>
          </a:p>
          <a:p>
            <a:r>
              <a:rPr lang="ru-RU" sz="1400" dirty="0"/>
              <a:t>вторая — реализовать набор явных и неявных схем;</a:t>
            </a:r>
          </a:p>
          <a:p>
            <a:endParaRPr lang="ru-RU" sz="1400" dirty="0"/>
          </a:p>
          <a:p>
            <a:r>
              <a:rPr lang="ru-RU" sz="1400" dirty="0"/>
              <a:t>третья — провести численные эксперименты и вычислить нормы ошибок L1, L2, L-бесконечность;</a:t>
            </a:r>
          </a:p>
          <a:p>
            <a:endParaRPr lang="ru-RU" sz="1400" dirty="0"/>
          </a:p>
          <a:p>
            <a:r>
              <a:rPr lang="ru-RU" sz="1400" dirty="0"/>
              <a:t>четвёртая — на основе экспериментов сформулировать практические рекомендации.</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400" dirty="0"/>
              <a:t>Рассматривается уравнение переноса в общем виде.</a:t>
            </a:r>
          </a:p>
          <a:p>
            <a:r>
              <a:rPr lang="ru-RU" sz="1400" dirty="0"/>
              <a:t>Мы исследуем четыре типа коэффициента переноса: константный, зависящий от координаты, от времени, и нестационарный переменный.</a:t>
            </a:r>
          </a:p>
          <a:p>
            <a:r>
              <a:rPr lang="ru-RU" sz="1400" dirty="0"/>
              <a:t>В качестве начального условия используется ступенчатая функция — разрыв.</a:t>
            </a:r>
          </a:p>
          <a:p>
            <a:r>
              <a:rPr lang="ru-RU" sz="1400" dirty="0"/>
              <a:t>Выбор обусловлен тремя причинами:</a:t>
            </a:r>
          </a:p>
          <a:p>
            <a:r>
              <a:rPr lang="ru-RU" sz="1400" dirty="0"/>
              <a:t> </a:t>
            </a:r>
          </a:p>
          <a:p>
            <a:r>
              <a:rPr lang="ru-RU" sz="1400" dirty="0"/>
              <a:t>во-первых, разрыв является наиболее жёстким тестом для численной схемы; </a:t>
            </a:r>
          </a:p>
          <a:p>
            <a:endParaRPr lang="ru-RU" sz="1400" dirty="0"/>
          </a:p>
          <a:p>
            <a:r>
              <a:rPr lang="ru-RU" sz="1400" dirty="0"/>
              <a:t>во-вторых, по форме фронта можно сразу увидеть диссипацию — сглаживание — и дисперсию — осцилляции; </a:t>
            </a:r>
          </a:p>
          <a:p>
            <a:endParaRPr lang="ru-RU" sz="1400" dirty="0"/>
          </a:p>
          <a:p>
            <a:r>
              <a:rPr lang="ru-RU" sz="1400" dirty="0"/>
              <a:t>в-третьих, это стандарт для схем переноса.</a:t>
            </a:r>
          </a:p>
          <a:p>
            <a:endParaRPr lang="ru-RU" sz="1400"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2499C-C93A-3B6C-6289-50DC9C1DDF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9AB843-0A5B-3B49-5DEC-8ABAD7743E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376B45-FA0C-C186-EE32-D6989FF4A58A}"/>
              </a:ext>
            </a:extLst>
          </p:cNvPr>
          <p:cNvSpPr>
            <a:spLocks noGrp="1"/>
          </p:cNvSpPr>
          <p:nvPr>
            <p:ph type="body" idx="1"/>
          </p:nvPr>
        </p:nvSpPr>
        <p:spPr/>
        <p:txBody>
          <a:bodyPr/>
          <a:lstStyle/>
          <a:p>
            <a:r>
              <a:rPr lang="ru-RU" sz="1400" dirty="0"/>
              <a:t>Для каждого из четырёх типов коэффициента переноса мы получили аналитическое решение.</a:t>
            </a:r>
          </a:p>
          <a:p>
            <a:r>
              <a:rPr lang="ru-RU" sz="1400" dirty="0"/>
              <a:t>Для каждого случая приведено соответствующее аналитическое решение и визуализация распространения волны. </a:t>
            </a:r>
          </a:p>
          <a:p>
            <a:r>
              <a:rPr lang="ru-RU" sz="1400" dirty="0"/>
              <a:t>Эти решения использовались как эталон для сравнения работы численных схем и оценки их точности.</a:t>
            </a:r>
          </a:p>
        </p:txBody>
      </p:sp>
      <p:sp>
        <p:nvSpPr>
          <p:cNvPr id="4" name="Slide Number Placeholder 3">
            <a:extLst>
              <a:ext uri="{FF2B5EF4-FFF2-40B4-BE49-F238E27FC236}">
                <a16:creationId xmlns:a16="http://schemas.microsoft.com/office/drawing/2014/main" id="{EBE831A7-AEF8-5750-B87E-0F3FBBBE057A}"/>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79347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400" dirty="0"/>
              <a:t>Слева показаны явные схемы. Основным преимуществом явных методов является простота реализации и минимальные вычислительные затраты на каждом временном шаге. Однако их устойчивость ограничивается условием Куранта, то есть шаг по времени должен выбираться достаточно малым.</a:t>
            </a:r>
          </a:p>
          <a:p>
            <a:endParaRPr lang="ru-RU" sz="1400" dirty="0"/>
          </a:p>
          <a:p>
            <a:r>
              <a:rPr lang="ru-RU" sz="1400" dirty="0"/>
              <a:t>Справа представлены неявные схемы. Их главным преимуществом является безусловная устойчивость по числу Куранта, что позволяет использовать более крупный временной шаг. Однако за это приходится платить увеличением вычислительной сложности, так как на каждом шаге требуется решение системы линейных уравнений.</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66BF2-E3E2-4CB5-128C-17AF2132DF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F7BD6E-23EA-94B0-197D-2D24BBCFC3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83D253-C088-7C4F-D1F3-66AB6096EDAF}"/>
              </a:ext>
            </a:extLst>
          </p:cNvPr>
          <p:cNvSpPr>
            <a:spLocks noGrp="1"/>
          </p:cNvSpPr>
          <p:nvPr>
            <p:ph type="body" idx="1"/>
          </p:nvPr>
        </p:nvSpPr>
        <p:spPr/>
        <p:txBody>
          <a:bodyPr/>
          <a:lstStyle/>
          <a:p>
            <a:r>
              <a:rPr lang="ru-RU" sz="1400" dirty="0"/>
              <a:t>На слайде показаны результаты численных экспериментов.</a:t>
            </a:r>
          </a:p>
          <a:p>
            <a:r>
              <a:rPr lang="ru-RU" sz="1400" dirty="0"/>
              <a:t>Левая сторона — явные схемы. Хорошо видны паразитные осцилляции.</a:t>
            </a:r>
          </a:p>
          <a:p>
            <a:r>
              <a:rPr lang="ru-RU" sz="1400" dirty="0"/>
              <a:t>Правая сторона — неявные схемы. Заметно сглаживание фронта — численная диффузия, — но без осцилляций.</a:t>
            </a:r>
          </a:p>
          <a:p>
            <a:r>
              <a:rPr lang="ru-RU" sz="1400" dirty="0"/>
              <a:t>Нормы ошибок L1 и L2 у неявных схем систематически ниже при больших шагах по времени.</a:t>
            </a:r>
          </a:p>
        </p:txBody>
      </p:sp>
      <p:sp>
        <p:nvSpPr>
          <p:cNvPr id="4" name="Slide Number Placeholder 3">
            <a:extLst>
              <a:ext uri="{FF2B5EF4-FFF2-40B4-BE49-F238E27FC236}">
                <a16:creationId xmlns:a16="http://schemas.microsoft.com/office/drawing/2014/main" id="{156F0C27-4F4F-C282-059F-8B27E73BF62B}"/>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97729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400" dirty="0"/>
              <a:t>Проведём сравнительный анализ по следующим ключевым критериям.</a:t>
            </a:r>
          </a:p>
          <a:p>
            <a:endParaRPr lang="ru-RU" sz="1400" dirty="0"/>
          </a:p>
          <a:p>
            <a:r>
              <a:rPr lang="ru-RU" sz="1400" dirty="0"/>
              <a:t>По устойчивости: явные схемы ограничены числом Куранта, неявные — безусловно устойчивы.</a:t>
            </a:r>
          </a:p>
          <a:p>
            <a:endParaRPr lang="ru-RU" sz="1400" dirty="0"/>
          </a:p>
          <a:p>
            <a:r>
              <a:rPr lang="ru-RU" sz="1400" dirty="0"/>
              <a:t>По характеру ошибок: явные дают осцилляции, неявные — численную диффузию с размазыванием фронта.</a:t>
            </a:r>
          </a:p>
          <a:p>
            <a:endParaRPr lang="ru-RU" sz="1400" dirty="0"/>
          </a:p>
          <a:p>
            <a:r>
              <a:rPr lang="ru-RU" sz="1400" dirty="0"/>
              <a:t>По вычислительным затратам: явные дешевле на каждом шаге, неявные требуют решения СЛАУ.</a:t>
            </a:r>
          </a:p>
          <a:p>
            <a:endParaRPr lang="ru-RU" sz="1400" dirty="0"/>
          </a:p>
          <a:p>
            <a:r>
              <a:rPr lang="ru-RU" sz="1400" dirty="0"/>
              <a:t>По применимости: явные — для задач с резкими градиентами, в частности TVD и MUSCL; неявные — там, где нужен крупный шаг по времени, например схема Кранка–Николсона.</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400" dirty="0"/>
              <a:t>Подведём итоги работы. Я остановлюсь на ключевых выводах.</a:t>
            </a:r>
          </a:p>
          <a:p>
            <a:r>
              <a:rPr lang="ru-RU" sz="1400" dirty="0"/>
              <a:t>Первое: аналитические решения методом характеристик получены для всех четырёх случаев. </a:t>
            </a:r>
          </a:p>
          <a:p>
            <a:endParaRPr lang="ru-RU" sz="1400" dirty="0"/>
          </a:p>
          <a:p>
            <a:r>
              <a:rPr lang="ru-RU" sz="1400" dirty="0"/>
              <a:t>Второе: среди явных схем лучшие результаты по совокупности точности и устойчивости — у TVD и MUSCL</a:t>
            </a:r>
          </a:p>
          <a:p>
            <a:endParaRPr lang="ru-RU" sz="1400" dirty="0"/>
          </a:p>
          <a:p>
            <a:r>
              <a:rPr lang="ru-RU" sz="1400" dirty="0"/>
              <a:t>Третье: из классических явных схем выделяется схема Годунова — за консервативность</a:t>
            </a:r>
          </a:p>
          <a:p>
            <a:endParaRPr lang="ru-RU" sz="1400" dirty="0"/>
          </a:p>
          <a:p>
            <a:r>
              <a:rPr lang="ru-RU" sz="1400" dirty="0"/>
              <a:t>Четвёртое: среди неявных — схема Кранка–Николсона с </a:t>
            </a:r>
            <a:r>
              <a:rPr lang="ru-RU" sz="1400" dirty="0" err="1"/>
              <a:t>апроксимацией</a:t>
            </a:r>
            <a:r>
              <a:rPr lang="ru-RU" sz="1400" dirty="0"/>
              <a:t> против потока безусловная устойчивость и отсутствие нефизических осцилляций.</a:t>
            </a:r>
          </a:p>
          <a:p>
            <a:endParaRPr lang="ru-RU" sz="1400" dirty="0"/>
          </a:p>
          <a:p>
            <a:r>
              <a:rPr lang="ru-RU" sz="1400" dirty="0"/>
              <a:t>Пятое: выбор критерия качества влияет на выбор схемы. Норма L-бесконечность — для точности фронта; L1 и L2 — для средней точности по области.</a:t>
            </a:r>
          </a:p>
          <a:p>
            <a:endParaRPr lang="ru-RU" sz="1400" dirty="0"/>
          </a:p>
          <a:p>
            <a:r>
              <a:rPr lang="ru-RU" sz="1400" dirty="0"/>
              <a:t>Главный вывод: не существует универсальной лучшей схемы. Эффективность определяется не только порядком, но и диссипативными и дисперсионными свойствами в контексте конкретной физической задачи.</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400" dirty="0"/>
              <a:t>Спасибо за внимание! Готов ответить на вопросы комиссии.</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3.jp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jpg"/><Relationship Id="rId5" Type="http://schemas.openxmlformats.org/officeDocument/2006/relationships/image" Target="../media/image1.jpg"/><Relationship Id="rId10" Type="http://schemas.openxmlformats.org/officeDocument/2006/relationships/image" Target="../media/image4.jpg"/><Relationship Id="rId4" Type="http://schemas.openxmlformats.org/officeDocument/2006/relationships/image" Target="../media/image3.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13.jpg"/><Relationship Id="rId3" Type="http://schemas.openxmlformats.org/officeDocument/2006/relationships/image" Target="../media/image8.gif"/><Relationship Id="rId7"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jpg"/><Relationship Id="rId5" Type="http://schemas.openxmlformats.org/officeDocument/2006/relationships/image" Target="../media/image10.jpg"/><Relationship Id="rId10" Type="http://schemas.openxmlformats.org/officeDocument/2006/relationships/image" Target="../media/image15.jpg"/><Relationship Id="rId4" Type="http://schemas.openxmlformats.org/officeDocument/2006/relationships/image" Target="../media/image9.gif"/><Relationship Id="rId9" Type="http://schemas.openxmlformats.org/officeDocument/2006/relationships/image" Target="../media/image14.jp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B4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2A0B5"/>
          </a:solidFill>
          <a:ln w="12700">
            <a:solidFill>
              <a:srgbClr val="12A0B5"/>
            </a:solidFill>
            <a:prstDash val="solid"/>
          </a:ln>
        </p:spPr>
        <p:txBody>
          <a:bodyPr/>
          <a:lstStyle/>
          <a:p>
            <a:endParaRPr lang="ru-RU"/>
          </a:p>
        </p:txBody>
      </p:sp>
      <p:sp>
        <p:nvSpPr>
          <p:cNvPr id="3" name="Shape 1"/>
          <p:cNvSpPr/>
          <p:nvPr/>
        </p:nvSpPr>
        <p:spPr>
          <a:xfrm>
            <a:off x="0" y="5070348"/>
            <a:ext cx="9144000" cy="73152"/>
          </a:xfrm>
          <a:prstGeom prst="rect">
            <a:avLst/>
          </a:prstGeom>
          <a:solidFill>
            <a:srgbClr val="12A0B5"/>
          </a:solidFill>
          <a:ln w="12700">
            <a:solidFill>
              <a:srgbClr val="12A0B5"/>
            </a:solidFill>
            <a:prstDash val="solid"/>
          </a:ln>
        </p:spPr>
        <p:txBody>
          <a:bodyPr/>
          <a:lstStyle/>
          <a:p>
            <a:endParaRPr lang="ru-RU"/>
          </a:p>
        </p:txBody>
      </p:sp>
      <p:sp>
        <p:nvSpPr>
          <p:cNvPr id="4" name="Text 2"/>
          <p:cNvSpPr/>
          <p:nvPr/>
        </p:nvSpPr>
        <p:spPr>
          <a:xfrm>
            <a:off x="457200" y="502920"/>
            <a:ext cx="8229600" cy="457200"/>
          </a:xfrm>
          <a:prstGeom prst="rect">
            <a:avLst/>
          </a:prstGeom>
          <a:noFill/>
          <a:ln/>
        </p:spPr>
        <p:txBody>
          <a:bodyPr wrap="square" rtlCol="0" anchor="ctr"/>
          <a:lstStyle/>
          <a:p>
            <a:pPr marL="0" indent="0" algn="ctr">
              <a:buNone/>
            </a:pPr>
            <a:r>
              <a:rPr lang="en-US" sz="1300" b="1" kern="0" spc="400" dirty="0">
                <a:solidFill>
                  <a:srgbClr val="12A0B5"/>
                </a:solidFill>
              </a:rPr>
              <a:t>ПРЕДЗАЩИТА  ВКР</a:t>
            </a:r>
            <a:endParaRPr lang="en-US" sz="1300" dirty="0"/>
          </a:p>
        </p:txBody>
      </p:sp>
      <p:sp>
        <p:nvSpPr>
          <p:cNvPr id="5" name="Text 3"/>
          <p:cNvSpPr/>
          <p:nvPr/>
        </p:nvSpPr>
        <p:spPr>
          <a:xfrm>
            <a:off x="640080" y="1097280"/>
            <a:ext cx="7863840" cy="2194560"/>
          </a:xfrm>
          <a:prstGeom prst="rect">
            <a:avLst/>
          </a:prstGeom>
          <a:noFill/>
          <a:ln/>
        </p:spPr>
        <p:txBody>
          <a:bodyPr wrap="square" rtlCol="0" anchor="ctr"/>
          <a:lstStyle/>
          <a:p>
            <a:pPr marL="0" indent="0" algn="ctr">
              <a:buNone/>
            </a:pPr>
            <a:r>
              <a:rPr lang="en-US" sz="2800" b="1" dirty="0">
                <a:solidFill>
                  <a:srgbClr val="FFFFFF"/>
                </a:solidFill>
              </a:rPr>
              <a:t>Сравнение явных и неявных</a:t>
            </a:r>
            <a:endParaRPr lang="en-US" sz="2800" dirty="0"/>
          </a:p>
          <a:p>
            <a:pPr marL="0" indent="0" algn="ctr">
              <a:buNone/>
            </a:pPr>
            <a:r>
              <a:rPr lang="en-US" sz="2800" b="1" dirty="0">
                <a:solidFill>
                  <a:srgbClr val="FFFFFF"/>
                </a:solidFill>
              </a:rPr>
              <a:t>разностных схем</a:t>
            </a:r>
            <a:endParaRPr lang="en-US" sz="2800" dirty="0"/>
          </a:p>
          <a:p>
            <a:pPr marL="0" indent="0" algn="ctr">
              <a:buNone/>
            </a:pPr>
            <a:r>
              <a:rPr lang="en-US" sz="2800" b="1" dirty="0">
                <a:solidFill>
                  <a:srgbClr val="FFFFFF"/>
                </a:solidFill>
              </a:rPr>
              <a:t>для уравнения переноса</a:t>
            </a:r>
            <a:endParaRPr lang="en-US" sz="2800" dirty="0"/>
          </a:p>
        </p:txBody>
      </p:sp>
      <p:sp>
        <p:nvSpPr>
          <p:cNvPr id="6" name="Shape 4"/>
          <p:cNvSpPr/>
          <p:nvPr/>
        </p:nvSpPr>
        <p:spPr>
          <a:xfrm>
            <a:off x="3200400" y="3429000"/>
            <a:ext cx="2743200" cy="36576"/>
          </a:xfrm>
          <a:prstGeom prst="rect">
            <a:avLst/>
          </a:prstGeom>
          <a:solidFill>
            <a:srgbClr val="0D7B8A"/>
          </a:solidFill>
          <a:ln w="12700">
            <a:solidFill>
              <a:srgbClr val="0D7B8A"/>
            </a:solidFill>
            <a:prstDash val="solid"/>
          </a:ln>
        </p:spPr>
        <p:txBody>
          <a:bodyPr/>
          <a:lstStyle/>
          <a:p>
            <a:endParaRPr lang="ru-RU"/>
          </a:p>
        </p:txBody>
      </p:sp>
      <p:sp>
        <p:nvSpPr>
          <p:cNvPr id="7" name="Text 5"/>
          <p:cNvSpPr/>
          <p:nvPr/>
        </p:nvSpPr>
        <p:spPr>
          <a:xfrm>
            <a:off x="457200" y="3611880"/>
            <a:ext cx="8229600" cy="822960"/>
          </a:xfrm>
          <a:prstGeom prst="rect">
            <a:avLst/>
          </a:prstGeom>
          <a:noFill/>
          <a:ln/>
        </p:spPr>
        <p:txBody>
          <a:bodyPr wrap="square" rtlCol="0" anchor="ctr"/>
          <a:lstStyle/>
          <a:p>
            <a:pPr marL="0" indent="0" algn="ctr">
              <a:buNone/>
            </a:pPr>
            <a:r>
              <a:rPr lang="en-US" sz="1400" b="1" dirty="0">
                <a:solidFill>
                  <a:srgbClr val="FFFFFF"/>
                </a:solidFill>
              </a:rPr>
              <a:t>Хайбулоев Дамир Ахлидинович</a:t>
            </a:r>
            <a:endParaRPr lang="en-US" sz="1400" dirty="0"/>
          </a:p>
          <a:p>
            <a:pPr marL="0" indent="0" algn="ctr">
              <a:buNone/>
            </a:pPr>
            <a:r>
              <a:rPr lang="en-US" sz="1400" dirty="0">
                <a:solidFill>
                  <a:srgbClr val="A8C4D4"/>
                </a:solidFill>
              </a:rPr>
              <a:t>Научный руководитель: </a:t>
            </a:r>
            <a:r>
              <a:rPr lang="en-US" sz="1400" dirty="0" err="1">
                <a:solidFill>
                  <a:srgbClr val="A8C4D4"/>
                </a:solidFill>
              </a:rPr>
              <a:t>Кобельков</a:t>
            </a:r>
            <a:r>
              <a:rPr lang="en-US" sz="1400" dirty="0">
                <a:solidFill>
                  <a:srgbClr val="A8C4D4"/>
                </a:solidFill>
              </a:rPr>
              <a:t> Г</a:t>
            </a:r>
            <a:r>
              <a:rPr lang="ru-RU" sz="1400" dirty="0" err="1">
                <a:solidFill>
                  <a:srgbClr val="A8C4D4"/>
                </a:solidFill>
              </a:rPr>
              <a:t>еоргий</a:t>
            </a:r>
            <a:r>
              <a:rPr lang="ru-RU" sz="1400" dirty="0">
                <a:solidFill>
                  <a:srgbClr val="A8C4D4"/>
                </a:solidFill>
              </a:rPr>
              <a:t> </a:t>
            </a:r>
            <a:r>
              <a:rPr lang="en-US" sz="1400" dirty="0">
                <a:solidFill>
                  <a:srgbClr val="A8C4D4"/>
                </a:solidFill>
              </a:rPr>
              <a:t>М</a:t>
            </a:r>
            <a:r>
              <a:rPr lang="ru-RU" sz="1400">
                <a:solidFill>
                  <a:srgbClr val="A8C4D4"/>
                </a:solidFill>
              </a:rPr>
              <a:t>ихайлови</a:t>
            </a:r>
            <a:r>
              <a:rPr lang="ru-RU" sz="1400" dirty="0">
                <a:solidFill>
                  <a:srgbClr val="A8C4D4"/>
                </a:solidFill>
              </a:rPr>
              <a:t>ч</a:t>
            </a:r>
            <a:endParaRPr lang="en-US" sz="1400" dirty="0"/>
          </a:p>
        </p:txBody>
      </p:sp>
      <p:sp>
        <p:nvSpPr>
          <p:cNvPr id="8" name="Text 6"/>
          <p:cNvSpPr/>
          <p:nvPr/>
        </p:nvSpPr>
        <p:spPr>
          <a:xfrm>
            <a:off x="457200" y="4572000"/>
            <a:ext cx="8229600" cy="365760"/>
          </a:xfrm>
          <a:prstGeom prst="rect">
            <a:avLst/>
          </a:prstGeom>
          <a:noFill/>
          <a:ln/>
        </p:spPr>
        <p:txBody>
          <a:bodyPr wrap="square" rtlCol="0" anchor="ctr"/>
          <a:lstStyle/>
          <a:p>
            <a:pPr marL="0" indent="0" algn="ctr">
              <a:buNone/>
            </a:pPr>
            <a:r>
              <a:rPr lang="en-US" sz="1100" dirty="0">
                <a:solidFill>
                  <a:srgbClr val="64748B"/>
                </a:solidFill>
              </a:rPr>
              <a:t>202</a:t>
            </a:r>
            <a:r>
              <a:rPr lang="ru-RU" sz="1100" dirty="0">
                <a:solidFill>
                  <a:srgbClr val="64748B"/>
                </a:solidFill>
              </a:rPr>
              <a:t>6</a:t>
            </a:r>
            <a:r>
              <a:rPr lang="en-US" sz="1100" dirty="0">
                <a:solidFill>
                  <a:srgbClr val="64748B"/>
                </a:solidFill>
              </a:rPr>
              <a:t> г.</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A2B4A"/>
          </a:solidFill>
          <a:ln w="12700">
            <a:solidFill>
              <a:srgbClr val="1A2B4A"/>
            </a:solidFill>
            <a:prstDash val="solid"/>
          </a:ln>
        </p:spPr>
        <p:txBody>
          <a:bodyPr/>
          <a:lstStyle/>
          <a:p>
            <a:endParaRPr lang="ru-RU"/>
          </a:p>
        </p:txBody>
      </p:sp>
      <p:sp>
        <p:nvSpPr>
          <p:cNvPr id="3" name="Text 1"/>
          <p:cNvSpPr/>
          <p:nvPr/>
        </p:nvSpPr>
        <p:spPr>
          <a:xfrm>
            <a:off x="457200" y="0"/>
            <a:ext cx="8229600" cy="914400"/>
          </a:xfrm>
          <a:prstGeom prst="rect">
            <a:avLst/>
          </a:prstGeom>
          <a:noFill/>
          <a:ln/>
        </p:spPr>
        <p:txBody>
          <a:bodyPr wrap="square" lIns="0" tIns="0" rIns="0" bIns="0" rtlCol="0" anchor="ctr"/>
          <a:lstStyle/>
          <a:p>
            <a:pPr marL="0" indent="0" algn="l">
              <a:buNone/>
            </a:pPr>
            <a:r>
              <a:rPr lang="en-US" sz="2000" b="1" dirty="0">
                <a:solidFill>
                  <a:srgbClr val="FFFFFF"/>
                </a:solidFill>
              </a:rPr>
              <a:t>ЦЕЛЬ И ЗАДАЧИ</a:t>
            </a:r>
            <a:endParaRPr lang="en-US" sz="2000" dirty="0"/>
          </a:p>
        </p:txBody>
      </p:sp>
      <p:sp>
        <p:nvSpPr>
          <p:cNvPr id="4" name="Shape 2"/>
          <p:cNvSpPr/>
          <p:nvPr/>
        </p:nvSpPr>
        <p:spPr>
          <a:xfrm>
            <a:off x="0" y="914400"/>
            <a:ext cx="9144000" cy="45720"/>
          </a:xfrm>
          <a:prstGeom prst="rect">
            <a:avLst/>
          </a:prstGeom>
          <a:solidFill>
            <a:srgbClr val="12A0B5"/>
          </a:solidFill>
          <a:ln w="12700">
            <a:solidFill>
              <a:srgbClr val="12A0B5"/>
            </a:solidFill>
            <a:prstDash val="solid"/>
          </a:ln>
        </p:spPr>
        <p:txBody>
          <a:bodyPr/>
          <a:lstStyle/>
          <a:p>
            <a:endParaRPr lang="ru-RU"/>
          </a:p>
        </p:txBody>
      </p:sp>
      <p:sp>
        <p:nvSpPr>
          <p:cNvPr id="5" name="Shape 3"/>
          <p:cNvSpPr/>
          <p:nvPr/>
        </p:nvSpPr>
        <p:spPr>
          <a:xfrm>
            <a:off x="365760" y="1188720"/>
            <a:ext cx="8412480" cy="914400"/>
          </a:xfrm>
          <a:prstGeom prst="rect">
            <a:avLst/>
          </a:prstGeom>
          <a:solidFill>
            <a:srgbClr val="FFFFFF"/>
          </a:solidFill>
          <a:ln w="12700">
            <a:solidFill>
              <a:srgbClr val="12A0B5"/>
            </a:solidFill>
            <a:prstDash val="solid"/>
          </a:ln>
          <a:effectLst>
            <a:outerShdw blurRad="101600" dist="38100" dir="8100000" algn="bl" rotWithShape="0">
              <a:srgbClr val="000000">
                <a:alpha val="12000"/>
              </a:srgbClr>
            </a:outerShdw>
          </a:effectLst>
        </p:spPr>
        <p:txBody>
          <a:bodyPr/>
          <a:lstStyle/>
          <a:p>
            <a:endParaRPr lang="ru-RU"/>
          </a:p>
        </p:txBody>
      </p:sp>
      <p:sp>
        <p:nvSpPr>
          <p:cNvPr id="6" name="Shape 4"/>
          <p:cNvSpPr/>
          <p:nvPr/>
        </p:nvSpPr>
        <p:spPr>
          <a:xfrm>
            <a:off x="365760" y="1188720"/>
            <a:ext cx="109728" cy="914400"/>
          </a:xfrm>
          <a:prstGeom prst="rect">
            <a:avLst/>
          </a:prstGeom>
          <a:solidFill>
            <a:srgbClr val="12A0B5"/>
          </a:solidFill>
          <a:ln w="12700">
            <a:solidFill>
              <a:srgbClr val="12A0B5"/>
            </a:solidFill>
            <a:prstDash val="solid"/>
          </a:ln>
        </p:spPr>
        <p:txBody>
          <a:bodyPr/>
          <a:lstStyle/>
          <a:p>
            <a:endParaRPr lang="ru-RU"/>
          </a:p>
        </p:txBody>
      </p:sp>
      <p:sp>
        <p:nvSpPr>
          <p:cNvPr id="7" name="Text 5"/>
          <p:cNvSpPr/>
          <p:nvPr/>
        </p:nvSpPr>
        <p:spPr>
          <a:xfrm>
            <a:off x="594360" y="1188720"/>
            <a:ext cx="8046720" cy="914400"/>
          </a:xfrm>
          <a:prstGeom prst="rect">
            <a:avLst/>
          </a:prstGeom>
          <a:noFill/>
          <a:ln/>
        </p:spPr>
        <p:txBody>
          <a:bodyPr wrap="square" rtlCol="0" anchor="ctr"/>
          <a:lstStyle/>
          <a:p>
            <a:pPr marL="0" indent="0">
              <a:buNone/>
            </a:pPr>
            <a:r>
              <a:rPr lang="en-US" sz="1300" dirty="0">
                <a:solidFill>
                  <a:srgbClr val="1A2B4A"/>
                </a:solidFill>
              </a:rPr>
              <a:t>Цель: сравнительное исследование явных и неявных разностных схем для уравнения переноса </a:t>
            </a:r>
            <a:r>
              <a:rPr lang="en-US" sz="1300" dirty="0" err="1">
                <a:solidFill>
                  <a:srgbClr val="1A2B4A"/>
                </a:solidFill>
              </a:rPr>
              <a:t>по</a:t>
            </a:r>
            <a:r>
              <a:rPr lang="en-US" sz="1300" dirty="0">
                <a:solidFill>
                  <a:srgbClr val="1A2B4A"/>
                </a:solidFill>
              </a:rPr>
              <a:t> </a:t>
            </a:r>
            <a:r>
              <a:rPr lang="en-US" sz="1300" dirty="0" err="1">
                <a:solidFill>
                  <a:srgbClr val="1A2B4A"/>
                </a:solidFill>
              </a:rPr>
              <a:t>точности</a:t>
            </a:r>
            <a:r>
              <a:rPr lang="ru-RU" sz="1300" dirty="0">
                <a:solidFill>
                  <a:srgbClr val="1A2B4A"/>
                </a:solidFill>
              </a:rPr>
              <a:t> и</a:t>
            </a:r>
            <a:r>
              <a:rPr lang="en-US" sz="1300" dirty="0">
                <a:solidFill>
                  <a:srgbClr val="1A2B4A"/>
                </a:solidFill>
              </a:rPr>
              <a:t> </a:t>
            </a:r>
            <a:r>
              <a:rPr lang="en-US" sz="1300" dirty="0" err="1">
                <a:solidFill>
                  <a:srgbClr val="1A2B4A"/>
                </a:solidFill>
              </a:rPr>
              <a:t>устойчивости</a:t>
            </a:r>
            <a:r>
              <a:rPr lang="en-US" sz="1300" dirty="0">
                <a:solidFill>
                  <a:srgbClr val="1A2B4A"/>
                </a:solidFill>
              </a:rPr>
              <a:t> </a:t>
            </a:r>
            <a:r>
              <a:rPr lang="en-US" sz="1300" dirty="0" err="1">
                <a:solidFill>
                  <a:srgbClr val="1A2B4A"/>
                </a:solidFill>
              </a:rPr>
              <a:t>при</a:t>
            </a:r>
            <a:r>
              <a:rPr lang="en-US" sz="1300" dirty="0">
                <a:solidFill>
                  <a:srgbClr val="1A2B4A"/>
                </a:solidFill>
              </a:rPr>
              <a:t> различных типах коэффициента переноса</a:t>
            </a:r>
            <a:endParaRPr lang="en-US" sz="1300" dirty="0"/>
          </a:p>
        </p:txBody>
      </p:sp>
      <p:sp>
        <p:nvSpPr>
          <p:cNvPr id="8" name="Shape 6"/>
          <p:cNvSpPr/>
          <p:nvPr/>
        </p:nvSpPr>
        <p:spPr>
          <a:xfrm>
            <a:off x="384048" y="2395728"/>
            <a:ext cx="347472" cy="347472"/>
          </a:xfrm>
          <a:prstGeom prst="ellipse">
            <a:avLst/>
          </a:prstGeom>
          <a:solidFill>
            <a:srgbClr val="12A0B5"/>
          </a:solidFill>
          <a:ln w="12700">
            <a:solidFill>
              <a:srgbClr val="12A0B5"/>
            </a:solidFill>
            <a:prstDash val="solid"/>
          </a:ln>
        </p:spPr>
        <p:txBody>
          <a:bodyPr/>
          <a:lstStyle/>
          <a:p>
            <a:endParaRPr lang="ru-RU"/>
          </a:p>
        </p:txBody>
      </p:sp>
      <p:sp>
        <p:nvSpPr>
          <p:cNvPr id="9" name="Text 7"/>
          <p:cNvSpPr/>
          <p:nvPr/>
        </p:nvSpPr>
        <p:spPr>
          <a:xfrm>
            <a:off x="384048" y="2395728"/>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1</a:t>
            </a:r>
            <a:endParaRPr lang="en-US" sz="1100" dirty="0"/>
          </a:p>
        </p:txBody>
      </p:sp>
      <p:sp>
        <p:nvSpPr>
          <p:cNvPr id="10" name="Text 8"/>
          <p:cNvSpPr/>
          <p:nvPr/>
        </p:nvSpPr>
        <p:spPr>
          <a:xfrm>
            <a:off x="868680" y="2286000"/>
            <a:ext cx="7955280" cy="548640"/>
          </a:xfrm>
          <a:prstGeom prst="rect">
            <a:avLst/>
          </a:prstGeom>
          <a:noFill/>
          <a:ln/>
        </p:spPr>
        <p:txBody>
          <a:bodyPr wrap="square" rtlCol="0" anchor="ctr"/>
          <a:lstStyle/>
          <a:p>
            <a:pPr marL="0" indent="0">
              <a:buNone/>
            </a:pPr>
            <a:r>
              <a:rPr lang="en-US" sz="1200" dirty="0">
                <a:solidFill>
                  <a:srgbClr val="1A2B4A"/>
                </a:solidFill>
              </a:rPr>
              <a:t>Получить аналитические решения для 4-х типов коэффициента переноса</a:t>
            </a:r>
            <a:endParaRPr lang="en-US" sz="1200" dirty="0"/>
          </a:p>
        </p:txBody>
      </p:sp>
      <p:sp>
        <p:nvSpPr>
          <p:cNvPr id="11" name="Shape 9"/>
          <p:cNvSpPr/>
          <p:nvPr/>
        </p:nvSpPr>
        <p:spPr>
          <a:xfrm>
            <a:off x="384048" y="3054096"/>
            <a:ext cx="347472" cy="347472"/>
          </a:xfrm>
          <a:prstGeom prst="ellipse">
            <a:avLst/>
          </a:prstGeom>
          <a:solidFill>
            <a:srgbClr val="12A0B5"/>
          </a:solidFill>
          <a:ln w="12700">
            <a:solidFill>
              <a:srgbClr val="12A0B5"/>
            </a:solidFill>
            <a:prstDash val="solid"/>
          </a:ln>
        </p:spPr>
        <p:txBody>
          <a:bodyPr/>
          <a:lstStyle/>
          <a:p>
            <a:endParaRPr lang="ru-RU"/>
          </a:p>
        </p:txBody>
      </p:sp>
      <p:sp>
        <p:nvSpPr>
          <p:cNvPr id="12" name="Text 10"/>
          <p:cNvSpPr/>
          <p:nvPr/>
        </p:nvSpPr>
        <p:spPr>
          <a:xfrm>
            <a:off x="384048" y="3054096"/>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2</a:t>
            </a:r>
            <a:endParaRPr lang="en-US" sz="1100" dirty="0"/>
          </a:p>
        </p:txBody>
      </p:sp>
      <p:sp>
        <p:nvSpPr>
          <p:cNvPr id="13" name="Text 11"/>
          <p:cNvSpPr/>
          <p:nvPr/>
        </p:nvSpPr>
        <p:spPr>
          <a:xfrm>
            <a:off x="868680" y="2944368"/>
            <a:ext cx="7955280" cy="548640"/>
          </a:xfrm>
          <a:prstGeom prst="rect">
            <a:avLst/>
          </a:prstGeom>
          <a:noFill/>
          <a:ln/>
        </p:spPr>
        <p:txBody>
          <a:bodyPr wrap="square" rtlCol="0" anchor="ctr"/>
          <a:lstStyle/>
          <a:p>
            <a:pPr marL="0" indent="0">
              <a:buNone/>
            </a:pPr>
            <a:r>
              <a:rPr lang="en-US" sz="1200" dirty="0">
                <a:solidFill>
                  <a:srgbClr val="1A2B4A"/>
                </a:solidFill>
              </a:rPr>
              <a:t>Реализовать </a:t>
            </a:r>
            <a:r>
              <a:rPr lang="en-US" sz="1200" dirty="0" err="1">
                <a:solidFill>
                  <a:srgbClr val="1A2B4A"/>
                </a:solidFill>
              </a:rPr>
              <a:t>явные</a:t>
            </a:r>
            <a:r>
              <a:rPr lang="en-US" sz="1200" dirty="0">
                <a:solidFill>
                  <a:srgbClr val="1A2B4A"/>
                </a:solidFill>
              </a:rPr>
              <a:t> </a:t>
            </a:r>
            <a:r>
              <a:rPr lang="en-US" sz="1200" dirty="0" err="1">
                <a:solidFill>
                  <a:srgbClr val="1A2B4A"/>
                </a:solidFill>
              </a:rPr>
              <a:t>схемы</a:t>
            </a:r>
            <a:r>
              <a:rPr lang="en-US" sz="1200" dirty="0">
                <a:solidFill>
                  <a:srgbClr val="1A2B4A"/>
                </a:solidFill>
              </a:rPr>
              <a:t> и </a:t>
            </a:r>
            <a:r>
              <a:rPr lang="en-US" sz="1200" dirty="0" err="1">
                <a:solidFill>
                  <a:srgbClr val="1A2B4A"/>
                </a:solidFill>
              </a:rPr>
              <a:t>неявные</a:t>
            </a:r>
            <a:r>
              <a:rPr lang="en-US" sz="1200" dirty="0">
                <a:solidFill>
                  <a:srgbClr val="1A2B4A"/>
                </a:solidFill>
              </a:rPr>
              <a:t> </a:t>
            </a:r>
            <a:r>
              <a:rPr lang="ru-RU" sz="1200" dirty="0">
                <a:solidFill>
                  <a:srgbClr val="1A2B4A"/>
                </a:solidFill>
              </a:rPr>
              <a:t>схемы.</a:t>
            </a:r>
            <a:endParaRPr lang="en-US" sz="1200" dirty="0"/>
          </a:p>
        </p:txBody>
      </p:sp>
      <p:sp>
        <p:nvSpPr>
          <p:cNvPr id="14" name="Shape 12"/>
          <p:cNvSpPr/>
          <p:nvPr/>
        </p:nvSpPr>
        <p:spPr>
          <a:xfrm>
            <a:off x="384048" y="3712464"/>
            <a:ext cx="347472" cy="347472"/>
          </a:xfrm>
          <a:prstGeom prst="ellipse">
            <a:avLst/>
          </a:prstGeom>
          <a:solidFill>
            <a:srgbClr val="12A0B5"/>
          </a:solidFill>
          <a:ln w="12700">
            <a:solidFill>
              <a:srgbClr val="12A0B5"/>
            </a:solidFill>
            <a:prstDash val="solid"/>
          </a:ln>
        </p:spPr>
        <p:txBody>
          <a:bodyPr/>
          <a:lstStyle/>
          <a:p>
            <a:endParaRPr lang="ru-RU"/>
          </a:p>
        </p:txBody>
      </p:sp>
      <p:sp>
        <p:nvSpPr>
          <p:cNvPr id="15" name="Text 13"/>
          <p:cNvSpPr/>
          <p:nvPr/>
        </p:nvSpPr>
        <p:spPr>
          <a:xfrm>
            <a:off x="384048" y="371246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3</a:t>
            </a:r>
            <a:endParaRPr lang="en-US" sz="1100" dirty="0"/>
          </a:p>
        </p:txBody>
      </p:sp>
      <p:sp>
        <p:nvSpPr>
          <p:cNvPr id="16" name="Text 14"/>
          <p:cNvSpPr/>
          <p:nvPr/>
        </p:nvSpPr>
        <p:spPr>
          <a:xfrm>
            <a:off x="868680" y="3602736"/>
            <a:ext cx="7955280" cy="548640"/>
          </a:xfrm>
          <a:prstGeom prst="rect">
            <a:avLst/>
          </a:prstGeom>
          <a:noFill/>
          <a:ln/>
        </p:spPr>
        <p:txBody>
          <a:bodyPr wrap="square" rtlCol="0" anchor="ctr"/>
          <a:lstStyle/>
          <a:p>
            <a:pPr marL="0" indent="0">
              <a:buNone/>
            </a:pPr>
            <a:r>
              <a:rPr lang="en-US" sz="1200" dirty="0">
                <a:solidFill>
                  <a:srgbClr val="1A2B4A"/>
                </a:solidFill>
              </a:rPr>
              <a:t>Провести численные эксперименты, вычислить нормы ошибок (L1, L2, L∞)</a:t>
            </a:r>
            <a:endParaRPr lang="en-US" sz="1200" dirty="0"/>
          </a:p>
        </p:txBody>
      </p:sp>
      <p:sp>
        <p:nvSpPr>
          <p:cNvPr id="17" name="Shape 15"/>
          <p:cNvSpPr/>
          <p:nvPr/>
        </p:nvSpPr>
        <p:spPr>
          <a:xfrm>
            <a:off x="384048" y="4370832"/>
            <a:ext cx="347472" cy="347472"/>
          </a:xfrm>
          <a:prstGeom prst="ellipse">
            <a:avLst/>
          </a:prstGeom>
          <a:solidFill>
            <a:srgbClr val="12A0B5"/>
          </a:solidFill>
          <a:ln w="12700">
            <a:solidFill>
              <a:srgbClr val="12A0B5"/>
            </a:solidFill>
            <a:prstDash val="solid"/>
          </a:ln>
        </p:spPr>
        <p:txBody>
          <a:bodyPr/>
          <a:lstStyle/>
          <a:p>
            <a:endParaRPr lang="ru-RU"/>
          </a:p>
        </p:txBody>
      </p:sp>
      <p:sp>
        <p:nvSpPr>
          <p:cNvPr id="18" name="Text 16"/>
          <p:cNvSpPr/>
          <p:nvPr/>
        </p:nvSpPr>
        <p:spPr>
          <a:xfrm>
            <a:off x="384048" y="437083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4</a:t>
            </a:r>
            <a:endParaRPr lang="en-US" sz="1100" dirty="0"/>
          </a:p>
        </p:txBody>
      </p:sp>
      <p:sp>
        <p:nvSpPr>
          <p:cNvPr id="19" name="Text 17"/>
          <p:cNvSpPr/>
          <p:nvPr/>
        </p:nvSpPr>
        <p:spPr>
          <a:xfrm>
            <a:off x="868680" y="4261104"/>
            <a:ext cx="7955280" cy="548640"/>
          </a:xfrm>
          <a:prstGeom prst="rect">
            <a:avLst/>
          </a:prstGeom>
          <a:noFill/>
          <a:ln/>
        </p:spPr>
        <p:txBody>
          <a:bodyPr wrap="square" rtlCol="0" anchor="ctr"/>
          <a:lstStyle/>
          <a:p>
            <a:pPr marL="0" indent="0">
              <a:buNone/>
            </a:pPr>
            <a:r>
              <a:rPr lang="en-US" sz="1200" dirty="0">
                <a:solidFill>
                  <a:srgbClr val="1A2B4A"/>
                </a:solidFill>
              </a:rPr>
              <a:t>Сформулировать рекомендации по выбору схем</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A2B4A"/>
          </a:solidFill>
          <a:ln w="12700">
            <a:solidFill>
              <a:srgbClr val="1A2B4A"/>
            </a:solidFill>
            <a:prstDash val="solid"/>
          </a:ln>
        </p:spPr>
        <p:txBody>
          <a:bodyPr/>
          <a:lstStyle/>
          <a:p>
            <a:endParaRPr lang="ru-RU"/>
          </a:p>
        </p:txBody>
      </p:sp>
      <p:sp>
        <p:nvSpPr>
          <p:cNvPr id="3" name="Text 1"/>
          <p:cNvSpPr/>
          <p:nvPr/>
        </p:nvSpPr>
        <p:spPr>
          <a:xfrm>
            <a:off x="457200" y="0"/>
            <a:ext cx="8229600" cy="914400"/>
          </a:xfrm>
          <a:prstGeom prst="rect">
            <a:avLst/>
          </a:prstGeom>
          <a:noFill/>
          <a:ln/>
        </p:spPr>
        <p:txBody>
          <a:bodyPr wrap="square" lIns="0" tIns="0" rIns="0" bIns="0" rtlCol="0" anchor="ctr"/>
          <a:lstStyle/>
          <a:p>
            <a:pPr marL="0" indent="0" algn="l">
              <a:buNone/>
            </a:pPr>
            <a:r>
              <a:rPr lang="en-US" sz="2000" b="1" dirty="0">
                <a:solidFill>
                  <a:srgbClr val="FFFFFF"/>
                </a:solidFill>
              </a:rPr>
              <a:t>ПОСТАНОВКА ЗАДАЧИ</a:t>
            </a:r>
            <a:endParaRPr lang="en-US" sz="2000" dirty="0"/>
          </a:p>
        </p:txBody>
      </p:sp>
      <p:sp>
        <p:nvSpPr>
          <p:cNvPr id="4" name="Shape 2"/>
          <p:cNvSpPr/>
          <p:nvPr/>
        </p:nvSpPr>
        <p:spPr>
          <a:xfrm>
            <a:off x="0" y="914400"/>
            <a:ext cx="9144000" cy="45720"/>
          </a:xfrm>
          <a:prstGeom prst="rect">
            <a:avLst/>
          </a:prstGeom>
          <a:solidFill>
            <a:srgbClr val="12A0B5"/>
          </a:solidFill>
          <a:ln w="12700">
            <a:solidFill>
              <a:srgbClr val="12A0B5"/>
            </a:solidFill>
            <a:prstDash val="solid"/>
          </a:ln>
        </p:spPr>
        <p:txBody>
          <a:bodyPr/>
          <a:lstStyle/>
          <a:p>
            <a:endParaRPr lang="ru-RU"/>
          </a:p>
        </p:txBody>
      </p:sp>
      <p:sp>
        <p:nvSpPr>
          <p:cNvPr id="5" name="Text 3"/>
          <p:cNvSpPr/>
          <p:nvPr/>
        </p:nvSpPr>
        <p:spPr>
          <a:xfrm>
            <a:off x="457200" y="1097280"/>
            <a:ext cx="3657600" cy="457200"/>
          </a:xfrm>
          <a:prstGeom prst="rect">
            <a:avLst/>
          </a:prstGeom>
          <a:noFill/>
          <a:ln/>
        </p:spPr>
        <p:txBody>
          <a:bodyPr wrap="square" rtlCol="0" anchor="ctr"/>
          <a:lstStyle/>
          <a:p>
            <a:pPr marL="0" indent="0">
              <a:buNone/>
            </a:pPr>
            <a:r>
              <a:rPr lang="en-US" sz="1400" b="1" dirty="0">
                <a:solidFill>
                  <a:srgbClr val="0D7B8A"/>
                </a:solidFill>
              </a:rPr>
              <a:t>Уравнение переноса:</a:t>
            </a:r>
            <a:endParaRPr lang="en-US" sz="1400" dirty="0"/>
          </a:p>
        </p:txBody>
      </p:sp>
      <p:sp>
        <p:nvSpPr>
          <p:cNvPr id="6" name="Shape 4"/>
          <p:cNvSpPr/>
          <p:nvPr/>
        </p:nvSpPr>
        <p:spPr>
          <a:xfrm>
            <a:off x="457200" y="1554480"/>
            <a:ext cx="3657600" cy="777240"/>
          </a:xfrm>
          <a:prstGeom prst="rect">
            <a:avLst/>
          </a:prstGeom>
          <a:solidFill>
            <a:srgbClr val="1A2B4A"/>
          </a:solidFill>
          <a:ln w="12700">
            <a:solidFill>
              <a:srgbClr val="1A2B4A"/>
            </a:solidFill>
            <a:prstDash val="solid"/>
          </a:ln>
          <a:effectLst>
            <a:outerShdw blurRad="101600" dist="38100" dir="8100000" algn="bl" rotWithShape="0">
              <a:srgbClr val="000000">
                <a:alpha val="12000"/>
              </a:srgbClr>
            </a:outerShdw>
          </a:effectLst>
        </p:spPr>
        <p:txBody>
          <a:bodyPr/>
          <a:lstStyle/>
          <a:p>
            <a:endParaRPr lang="ru-RU"/>
          </a:p>
        </p:txBody>
      </p:sp>
      <p:sp>
        <p:nvSpPr>
          <p:cNvPr id="7" name="Text 5"/>
          <p:cNvSpPr/>
          <p:nvPr/>
        </p:nvSpPr>
        <p:spPr>
          <a:xfrm>
            <a:off x="457200" y="1554480"/>
            <a:ext cx="3657600" cy="777240"/>
          </a:xfrm>
          <a:prstGeom prst="rect">
            <a:avLst/>
          </a:prstGeom>
          <a:noFill/>
          <a:ln/>
        </p:spPr>
        <p:txBody>
          <a:bodyPr wrap="square" rtlCol="0" anchor="ctr"/>
          <a:lstStyle/>
          <a:p>
            <a:pPr marL="0" indent="0" algn="ctr">
              <a:buNone/>
            </a:pPr>
            <a:endParaRPr lang="en-US" sz="1800" dirty="0"/>
          </a:p>
        </p:txBody>
      </p:sp>
      <p:sp>
        <p:nvSpPr>
          <p:cNvPr id="8" name="Text 6"/>
          <p:cNvSpPr/>
          <p:nvPr/>
        </p:nvSpPr>
        <p:spPr>
          <a:xfrm>
            <a:off x="457200" y="2514600"/>
            <a:ext cx="8229600" cy="411480"/>
          </a:xfrm>
          <a:prstGeom prst="rect">
            <a:avLst/>
          </a:prstGeom>
          <a:noFill/>
          <a:ln/>
        </p:spPr>
        <p:txBody>
          <a:bodyPr wrap="square" rtlCol="0" anchor="ctr"/>
          <a:lstStyle/>
          <a:p>
            <a:pPr marL="0" indent="0">
              <a:buNone/>
            </a:pPr>
            <a:r>
              <a:rPr lang="en-US" sz="1300" b="1" dirty="0">
                <a:solidFill>
                  <a:srgbClr val="0D7B8A"/>
                </a:solidFill>
              </a:rPr>
              <a:t>4 типа коэффициента переноса a(x, t):</a:t>
            </a:r>
            <a:endParaRPr lang="en-US" sz="1300" dirty="0"/>
          </a:p>
        </p:txBody>
      </p:sp>
      <p:sp>
        <p:nvSpPr>
          <p:cNvPr id="9" name="Shape 7"/>
          <p:cNvSpPr/>
          <p:nvPr/>
        </p:nvSpPr>
        <p:spPr>
          <a:xfrm>
            <a:off x="365760" y="2971800"/>
            <a:ext cx="1920240" cy="10972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ru-RU"/>
          </a:p>
        </p:txBody>
      </p:sp>
      <p:sp>
        <p:nvSpPr>
          <p:cNvPr id="10" name="Shape 8"/>
          <p:cNvSpPr/>
          <p:nvPr/>
        </p:nvSpPr>
        <p:spPr>
          <a:xfrm>
            <a:off x="365760" y="2971800"/>
            <a:ext cx="1920240" cy="347472"/>
          </a:xfrm>
          <a:prstGeom prst="rect">
            <a:avLst/>
          </a:prstGeom>
          <a:solidFill>
            <a:srgbClr val="0D7B8A"/>
          </a:solidFill>
          <a:ln w="12700">
            <a:solidFill>
              <a:srgbClr val="0D7B8A"/>
            </a:solidFill>
            <a:prstDash val="solid"/>
          </a:ln>
        </p:spPr>
        <p:txBody>
          <a:bodyPr/>
          <a:lstStyle/>
          <a:p>
            <a:endParaRPr lang="ru-RU"/>
          </a:p>
        </p:txBody>
      </p:sp>
      <p:sp>
        <p:nvSpPr>
          <p:cNvPr id="11" name="Text 9"/>
          <p:cNvSpPr/>
          <p:nvPr/>
        </p:nvSpPr>
        <p:spPr>
          <a:xfrm>
            <a:off x="365760" y="2971800"/>
            <a:ext cx="1920240" cy="347472"/>
          </a:xfrm>
          <a:prstGeom prst="rect">
            <a:avLst/>
          </a:prstGeom>
          <a:noFill/>
          <a:ln/>
        </p:spPr>
        <p:txBody>
          <a:bodyPr wrap="square" lIns="0" tIns="0" rIns="0" bIns="0" rtlCol="0" anchor="ctr"/>
          <a:lstStyle/>
          <a:p>
            <a:pPr marL="0" indent="0" algn="ctr">
              <a:buNone/>
            </a:pPr>
            <a:r>
              <a:rPr lang="en-US" sz="1300" b="1" dirty="0">
                <a:solidFill>
                  <a:srgbClr val="FFFFFF"/>
                </a:solidFill>
              </a:rPr>
              <a:t>a = const</a:t>
            </a:r>
            <a:endParaRPr lang="en-US" sz="1300" dirty="0"/>
          </a:p>
        </p:txBody>
      </p:sp>
      <p:sp>
        <p:nvSpPr>
          <p:cNvPr id="12" name="Text 10"/>
          <p:cNvSpPr/>
          <p:nvPr/>
        </p:nvSpPr>
        <p:spPr>
          <a:xfrm>
            <a:off x="365760" y="3319272"/>
            <a:ext cx="1920240" cy="749808"/>
          </a:xfrm>
          <a:prstGeom prst="rect">
            <a:avLst/>
          </a:prstGeom>
          <a:noFill/>
          <a:ln/>
        </p:spPr>
        <p:txBody>
          <a:bodyPr wrap="square" rtlCol="0" anchor="ctr"/>
          <a:lstStyle/>
          <a:p>
            <a:pPr marL="0" indent="0" algn="ctr">
              <a:buNone/>
            </a:pPr>
            <a:r>
              <a:rPr lang="en-US" sz="1100" dirty="0">
                <a:solidFill>
                  <a:srgbClr val="1A2B4A"/>
                </a:solidFill>
              </a:rPr>
              <a:t>Равномерный перенос</a:t>
            </a:r>
            <a:endParaRPr lang="en-US" sz="1100" dirty="0"/>
          </a:p>
        </p:txBody>
      </p:sp>
      <p:sp>
        <p:nvSpPr>
          <p:cNvPr id="13" name="Shape 11"/>
          <p:cNvSpPr/>
          <p:nvPr/>
        </p:nvSpPr>
        <p:spPr>
          <a:xfrm>
            <a:off x="2487168" y="2971800"/>
            <a:ext cx="1920240" cy="10972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ru-RU"/>
          </a:p>
        </p:txBody>
      </p:sp>
      <p:sp>
        <p:nvSpPr>
          <p:cNvPr id="14" name="Shape 12"/>
          <p:cNvSpPr/>
          <p:nvPr/>
        </p:nvSpPr>
        <p:spPr>
          <a:xfrm>
            <a:off x="2487168" y="2971800"/>
            <a:ext cx="1920240" cy="347472"/>
          </a:xfrm>
          <a:prstGeom prst="rect">
            <a:avLst/>
          </a:prstGeom>
          <a:solidFill>
            <a:srgbClr val="0D7B8A"/>
          </a:solidFill>
          <a:ln w="12700">
            <a:solidFill>
              <a:srgbClr val="0D7B8A"/>
            </a:solidFill>
            <a:prstDash val="solid"/>
          </a:ln>
        </p:spPr>
        <p:txBody>
          <a:bodyPr/>
          <a:lstStyle/>
          <a:p>
            <a:endParaRPr lang="ru-RU"/>
          </a:p>
        </p:txBody>
      </p:sp>
      <p:sp>
        <p:nvSpPr>
          <p:cNvPr id="15" name="Text 13"/>
          <p:cNvSpPr/>
          <p:nvPr/>
        </p:nvSpPr>
        <p:spPr>
          <a:xfrm>
            <a:off x="2487168" y="2971800"/>
            <a:ext cx="1920240" cy="347472"/>
          </a:xfrm>
          <a:prstGeom prst="rect">
            <a:avLst/>
          </a:prstGeom>
          <a:noFill/>
          <a:ln/>
        </p:spPr>
        <p:txBody>
          <a:bodyPr wrap="square" lIns="0" tIns="0" rIns="0" bIns="0" rtlCol="0" anchor="ctr"/>
          <a:lstStyle/>
          <a:p>
            <a:pPr marL="0" indent="0" algn="ctr">
              <a:buNone/>
            </a:pPr>
            <a:r>
              <a:rPr lang="en-US" sz="1300" b="1" dirty="0">
                <a:solidFill>
                  <a:srgbClr val="FFFFFF"/>
                </a:solidFill>
              </a:rPr>
              <a:t>a = a(x)</a:t>
            </a:r>
            <a:endParaRPr lang="en-US" sz="1300" dirty="0"/>
          </a:p>
        </p:txBody>
      </p:sp>
      <p:sp>
        <p:nvSpPr>
          <p:cNvPr id="16" name="Text 14"/>
          <p:cNvSpPr/>
          <p:nvPr/>
        </p:nvSpPr>
        <p:spPr>
          <a:xfrm>
            <a:off x="2487168" y="3319272"/>
            <a:ext cx="1920240" cy="749808"/>
          </a:xfrm>
          <a:prstGeom prst="rect">
            <a:avLst/>
          </a:prstGeom>
          <a:noFill/>
          <a:ln/>
        </p:spPr>
        <p:txBody>
          <a:bodyPr wrap="square" rtlCol="0" anchor="ctr"/>
          <a:lstStyle/>
          <a:p>
            <a:pPr marL="0" indent="0" algn="ctr">
              <a:buNone/>
            </a:pPr>
            <a:r>
              <a:rPr lang="en-US" sz="1100" dirty="0">
                <a:solidFill>
                  <a:srgbClr val="1A2B4A"/>
                </a:solidFill>
              </a:rPr>
              <a:t>Зависит от координаты</a:t>
            </a:r>
            <a:endParaRPr lang="en-US" sz="1100" dirty="0"/>
          </a:p>
        </p:txBody>
      </p:sp>
      <p:sp>
        <p:nvSpPr>
          <p:cNvPr id="17" name="Shape 15"/>
          <p:cNvSpPr/>
          <p:nvPr/>
        </p:nvSpPr>
        <p:spPr>
          <a:xfrm>
            <a:off x="4608576" y="2971800"/>
            <a:ext cx="1920240" cy="10972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ru-RU"/>
          </a:p>
        </p:txBody>
      </p:sp>
      <p:sp>
        <p:nvSpPr>
          <p:cNvPr id="18" name="Shape 16"/>
          <p:cNvSpPr/>
          <p:nvPr/>
        </p:nvSpPr>
        <p:spPr>
          <a:xfrm>
            <a:off x="4608576" y="2971800"/>
            <a:ext cx="1920240" cy="347472"/>
          </a:xfrm>
          <a:prstGeom prst="rect">
            <a:avLst/>
          </a:prstGeom>
          <a:solidFill>
            <a:srgbClr val="0D7B8A"/>
          </a:solidFill>
          <a:ln w="12700">
            <a:solidFill>
              <a:srgbClr val="0D7B8A"/>
            </a:solidFill>
            <a:prstDash val="solid"/>
          </a:ln>
        </p:spPr>
        <p:txBody>
          <a:bodyPr/>
          <a:lstStyle/>
          <a:p>
            <a:endParaRPr lang="ru-RU"/>
          </a:p>
        </p:txBody>
      </p:sp>
      <p:sp>
        <p:nvSpPr>
          <p:cNvPr id="19" name="Text 17"/>
          <p:cNvSpPr/>
          <p:nvPr/>
        </p:nvSpPr>
        <p:spPr>
          <a:xfrm>
            <a:off x="4608576" y="2971800"/>
            <a:ext cx="1920240" cy="347472"/>
          </a:xfrm>
          <a:prstGeom prst="rect">
            <a:avLst/>
          </a:prstGeom>
          <a:noFill/>
          <a:ln/>
        </p:spPr>
        <p:txBody>
          <a:bodyPr wrap="square" lIns="0" tIns="0" rIns="0" bIns="0" rtlCol="0" anchor="ctr"/>
          <a:lstStyle/>
          <a:p>
            <a:pPr marL="0" indent="0" algn="ctr">
              <a:buNone/>
            </a:pPr>
            <a:r>
              <a:rPr lang="en-US" sz="1300" b="1" dirty="0">
                <a:solidFill>
                  <a:srgbClr val="FFFFFF"/>
                </a:solidFill>
              </a:rPr>
              <a:t>a = a(t)</a:t>
            </a:r>
            <a:endParaRPr lang="en-US" sz="1300" dirty="0"/>
          </a:p>
        </p:txBody>
      </p:sp>
      <p:sp>
        <p:nvSpPr>
          <p:cNvPr id="20" name="Text 18"/>
          <p:cNvSpPr/>
          <p:nvPr/>
        </p:nvSpPr>
        <p:spPr>
          <a:xfrm>
            <a:off x="4608576" y="3319272"/>
            <a:ext cx="1920240" cy="749808"/>
          </a:xfrm>
          <a:prstGeom prst="rect">
            <a:avLst/>
          </a:prstGeom>
          <a:noFill/>
          <a:ln/>
        </p:spPr>
        <p:txBody>
          <a:bodyPr wrap="square" rtlCol="0" anchor="ctr"/>
          <a:lstStyle/>
          <a:p>
            <a:pPr marL="0" indent="0" algn="ctr">
              <a:buNone/>
            </a:pPr>
            <a:r>
              <a:rPr lang="en-US" sz="1100" dirty="0">
                <a:solidFill>
                  <a:srgbClr val="1A2B4A"/>
                </a:solidFill>
              </a:rPr>
              <a:t>Зависит от времени</a:t>
            </a:r>
            <a:endParaRPr lang="en-US" sz="1100" dirty="0"/>
          </a:p>
        </p:txBody>
      </p:sp>
      <p:sp>
        <p:nvSpPr>
          <p:cNvPr id="21" name="Shape 19"/>
          <p:cNvSpPr/>
          <p:nvPr/>
        </p:nvSpPr>
        <p:spPr>
          <a:xfrm>
            <a:off x="6729984" y="2971800"/>
            <a:ext cx="1920240" cy="10972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ru-RU"/>
          </a:p>
        </p:txBody>
      </p:sp>
      <p:sp>
        <p:nvSpPr>
          <p:cNvPr id="22" name="Shape 20"/>
          <p:cNvSpPr/>
          <p:nvPr/>
        </p:nvSpPr>
        <p:spPr>
          <a:xfrm>
            <a:off x="6729984" y="2971800"/>
            <a:ext cx="1920240" cy="347472"/>
          </a:xfrm>
          <a:prstGeom prst="rect">
            <a:avLst/>
          </a:prstGeom>
          <a:solidFill>
            <a:srgbClr val="0D7B8A"/>
          </a:solidFill>
          <a:ln w="12700">
            <a:solidFill>
              <a:srgbClr val="0D7B8A"/>
            </a:solidFill>
            <a:prstDash val="solid"/>
          </a:ln>
        </p:spPr>
        <p:txBody>
          <a:bodyPr/>
          <a:lstStyle/>
          <a:p>
            <a:endParaRPr lang="ru-RU"/>
          </a:p>
        </p:txBody>
      </p:sp>
      <p:sp>
        <p:nvSpPr>
          <p:cNvPr id="23" name="Text 21"/>
          <p:cNvSpPr/>
          <p:nvPr/>
        </p:nvSpPr>
        <p:spPr>
          <a:xfrm>
            <a:off x="6729984" y="2971800"/>
            <a:ext cx="1920240" cy="347472"/>
          </a:xfrm>
          <a:prstGeom prst="rect">
            <a:avLst/>
          </a:prstGeom>
          <a:noFill/>
          <a:ln/>
        </p:spPr>
        <p:txBody>
          <a:bodyPr wrap="square" lIns="0" tIns="0" rIns="0" bIns="0" rtlCol="0" anchor="ctr"/>
          <a:lstStyle/>
          <a:p>
            <a:pPr marL="0" indent="0" algn="ctr">
              <a:buNone/>
            </a:pPr>
            <a:r>
              <a:rPr lang="en-US" sz="1300" b="1" dirty="0">
                <a:solidFill>
                  <a:srgbClr val="FFFFFF"/>
                </a:solidFill>
              </a:rPr>
              <a:t>a = a(x,t)</a:t>
            </a:r>
            <a:endParaRPr lang="en-US" sz="1300" dirty="0"/>
          </a:p>
        </p:txBody>
      </p:sp>
      <p:sp>
        <p:nvSpPr>
          <p:cNvPr id="24" name="Text 22"/>
          <p:cNvSpPr/>
          <p:nvPr/>
        </p:nvSpPr>
        <p:spPr>
          <a:xfrm>
            <a:off x="6729984" y="3319272"/>
            <a:ext cx="1920240" cy="749808"/>
          </a:xfrm>
          <a:prstGeom prst="rect">
            <a:avLst/>
          </a:prstGeom>
          <a:noFill/>
          <a:ln/>
        </p:spPr>
        <p:txBody>
          <a:bodyPr wrap="square" rtlCol="0" anchor="ctr"/>
          <a:lstStyle/>
          <a:p>
            <a:pPr marL="0" indent="0" algn="ctr">
              <a:buNone/>
            </a:pPr>
            <a:r>
              <a:rPr lang="en-US" sz="1100" dirty="0">
                <a:solidFill>
                  <a:srgbClr val="1A2B4A"/>
                </a:solidFill>
              </a:rPr>
              <a:t>Нестационарный</a:t>
            </a:r>
            <a:endParaRPr lang="en-US" sz="1100" dirty="0"/>
          </a:p>
        </p:txBody>
      </p:sp>
      <p:sp>
        <p:nvSpPr>
          <p:cNvPr id="25" name="Text 23"/>
          <p:cNvSpPr/>
          <p:nvPr/>
        </p:nvSpPr>
        <p:spPr>
          <a:xfrm>
            <a:off x="292608" y="4229100"/>
            <a:ext cx="8229600" cy="640080"/>
          </a:xfrm>
          <a:prstGeom prst="rect">
            <a:avLst/>
          </a:prstGeom>
          <a:noFill/>
          <a:ln/>
        </p:spPr>
        <p:txBody>
          <a:bodyPr wrap="square" rtlCol="0" anchor="ctr"/>
          <a:lstStyle/>
          <a:p>
            <a:pPr marL="0" indent="0" algn="ctr">
              <a:buNone/>
            </a:pPr>
            <a:r>
              <a:rPr lang="en-US" sz="1200" i="1" dirty="0">
                <a:solidFill>
                  <a:srgbClr val="64748B"/>
                </a:solidFill>
              </a:rPr>
              <a:t>Начальное условие — ступенчатая функция (разрыв) для оценки диссипации и дисперсии схем</a:t>
            </a:r>
            <a:endParaRPr lang="en-US" sz="1200" dirty="0"/>
          </a:p>
        </p:txBody>
      </p:sp>
      <mc:AlternateContent xmlns:mc="http://schemas.openxmlformats.org/markup-compatibility/2006" xmlns:a14="http://schemas.microsoft.com/office/drawing/2010/main">
        <mc:Choice Requires="a14">
          <p:sp>
            <p:nvSpPr>
              <p:cNvPr id="26" name="직사각형 28">
                <a:extLst>
                  <a:ext uri="{FF2B5EF4-FFF2-40B4-BE49-F238E27FC236}">
                    <a16:creationId xmlns:a16="http://schemas.microsoft.com/office/drawing/2014/main" id="{F357F6F7-87A7-529A-1D75-6EC715911168}"/>
                  </a:ext>
                </a:extLst>
              </p:cNvPr>
              <p:cNvSpPr/>
              <p:nvPr/>
            </p:nvSpPr>
            <p:spPr>
              <a:xfrm>
                <a:off x="457200" y="1619876"/>
                <a:ext cx="3657600" cy="619016"/>
              </a:xfrm>
              <a:prstGeom prst="rect">
                <a:avLst/>
              </a:prstGeom>
              <a:effectLst/>
            </p:spPr>
            <p:txBody>
              <a:bodyPr wrap="square" anchor="ctr" anchorCtr="0">
                <a:spAutoFit/>
              </a:bodyPr>
              <a:lstStyle/>
              <a:p>
                <a:pPr/>
                <a14:m>
                  <m:oMathPara xmlns:m="http://schemas.openxmlformats.org/officeDocument/2006/math">
                    <m:oMathParaPr>
                      <m:jc m:val="centerGroup"/>
                    </m:oMathParaPr>
                    <m:oMath xmlns:m="http://schemas.openxmlformats.org/officeDocument/2006/math">
                      <m:f>
                        <m:fPr>
                          <m:ctrlPr>
                            <a:rPr lang="en-US" i="1" smtClean="0">
                              <a:solidFill>
                                <a:schemeClr val="bg1"/>
                              </a:solidFill>
                              <a:effectLst/>
                              <a:latin typeface="Cambria Math" panose="02040503050406030204" pitchFamily="18" charset="0"/>
                            </a:rPr>
                          </m:ctrlPr>
                        </m:fPr>
                        <m:num>
                          <m:r>
                            <a:rPr lang="en-US" b="0" i="1">
                              <a:solidFill>
                                <a:schemeClr val="bg1"/>
                              </a:solidFill>
                              <a:effectLst/>
                              <a:latin typeface="Cambria Math" panose="02040503050406030204" pitchFamily="18" charset="0"/>
                            </a:rPr>
                            <m:t>𝜕</m:t>
                          </m:r>
                          <m:r>
                            <a:rPr lang="en-US" b="0" i="1">
                              <a:solidFill>
                                <a:schemeClr val="bg1"/>
                              </a:solidFill>
                              <a:effectLst/>
                              <a:latin typeface="Cambria Math" panose="02040503050406030204" pitchFamily="18" charset="0"/>
                            </a:rPr>
                            <m:t>𝑢</m:t>
                          </m:r>
                        </m:num>
                        <m:den>
                          <m:r>
                            <a:rPr lang="en-US" b="0" i="1">
                              <a:solidFill>
                                <a:schemeClr val="bg1"/>
                              </a:solidFill>
                              <a:effectLst/>
                              <a:latin typeface="Cambria Math" panose="02040503050406030204" pitchFamily="18" charset="0"/>
                            </a:rPr>
                            <m:t>𝜕</m:t>
                          </m:r>
                          <m:r>
                            <a:rPr lang="en-US" b="0" i="1">
                              <a:solidFill>
                                <a:schemeClr val="bg1"/>
                              </a:solidFill>
                              <a:effectLst/>
                              <a:latin typeface="Cambria Math" panose="02040503050406030204" pitchFamily="18" charset="0"/>
                            </a:rPr>
                            <m:t>𝑡</m:t>
                          </m:r>
                        </m:den>
                      </m:f>
                      <m:r>
                        <a:rPr lang="en-US" b="0" i="1">
                          <a:solidFill>
                            <a:schemeClr val="bg1"/>
                          </a:solidFill>
                          <a:effectLst/>
                          <a:latin typeface="Cambria Math" panose="02040503050406030204" pitchFamily="18" charset="0"/>
                        </a:rPr>
                        <m:t>+</m:t>
                      </m:r>
                      <m:r>
                        <a:rPr lang="en-US" b="0" i="1">
                          <a:solidFill>
                            <a:schemeClr val="bg1"/>
                          </a:solidFill>
                          <a:effectLst/>
                          <a:latin typeface="Cambria Math" panose="02040503050406030204" pitchFamily="18" charset="0"/>
                        </a:rPr>
                        <m:t>𝑎</m:t>
                      </m:r>
                      <m:d>
                        <m:dPr>
                          <m:ctrlPr>
                            <a:rPr lang="en-US" i="1">
                              <a:solidFill>
                                <a:schemeClr val="bg1"/>
                              </a:solidFill>
                              <a:effectLst/>
                              <a:latin typeface="Cambria Math" panose="02040503050406030204" pitchFamily="18" charset="0"/>
                            </a:rPr>
                          </m:ctrlPr>
                        </m:dPr>
                        <m:e>
                          <m:r>
                            <a:rPr lang="en-US" b="0" i="1">
                              <a:solidFill>
                                <a:schemeClr val="bg1"/>
                              </a:solidFill>
                              <a:effectLst/>
                              <a:latin typeface="Cambria Math" panose="02040503050406030204" pitchFamily="18" charset="0"/>
                            </a:rPr>
                            <m:t>𝑥</m:t>
                          </m:r>
                          <m:r>
                            <a:rPr lang="en-US" b="0" i="1">
                              <a:solidFill>
                                <a:schemeClr val="bg1"/>
                              </a:solidFill>
                              <a:effectLst/>
                              <a:latin typeface="Cambria Math" panose="02040503050406030204" pitchFamily="18" charset="0"/>
                            </a:rPr>
                            <m:t>,</m:t>
                          </m:r>
                          <m:r>
                            <a:rPr lang="en-US" b="0" i="1">
                              <a:solidFill>
                                <a:schemeClr val="bg1"/>
                              </a:solidFill>
                              <a:effectLst/>
                              <a:latin typeface="Cambria Math" panose="02040503050406030204" pitchFamily="18" charset="0"/>
                            </a:rPr>
                            <m:t>𝑡</m:t>
                          </m:r>
                        </m:e>
                      </m:d>
                      <m:f>
                        <m:fPr>
                          <m:ctrlPr>
                            <a:rPr lang="en-US" i="1">
                              <a:solidFill>
                                <a:schemeClr val="bg1"/>
                              </a:solidFill>
                              <a:effectLst/>
                              <a:latin typeface="Cambria Math" panose="02040503050406030204" pitchFamily="18" charset="0"/>
                            </a:rPr>
                          </m:ctrlPr>
                        </m:fPr>
                        <m:num>
                          <m:r>
                            <a:rPr lang="en-US" b="0" i="1">
                              <a:solidFill>
                                <a:schemeClr val="bg1"/>
                              </a:solidFill>
                              <a:effectLst/>
                              <a:latin typeface="Cambria Math" panose="02040503050406030204" pitchFamily="18" charset="0"/>
                            </a:rPr>
                            <m:t>𝜕</m:t>
                          </m:r>
                          <m:r>
                            <a:rPr lang="en-US" b="0" i="1">
                              <a:solidFill>
                                <a:schemeClr val="bg1"/>
                              </a:solidFill>
                              <a:effectLst/>
                              <a:latin typeface="Cambria Math" panose="02040503050406030204" pitchFamily="18" charset="0"/>
                            </a:rPr>
                            <m:t>𝑢</m:t>
                          </m:r>
                        </m:num>
                        <m:den>
                          <m:r>
                            <a:rPr lang="en-US" b="0" i="1">
                              <a:solidFill>
                                <a:schemeClr val="bg1"/>
                              </a:solidFill>
                              <a:effectLst/>
                              <a:latin typeface="Cambria Math" panose="02040503050406030204" pitchFamily="18" charset="0"/>
                            </a:rPr>
                            <m:t>𝜕</m:t>
                          </m:r>
                          <m:r>
                            <a:rPr lang="en-US" b="0" i="1">
                              <a:solidFill>
                                <a:schemeClr val="bg1"/>
                              </a:solidFill>
                              <a:effectLst/>
                              <a:latin typeface="Cambria Math" panose="02040503050406030204" pitchFamily="18" charset="0"/>
                            </a:rPr>
                            <m:t>𝑥</m:t>
                          </m:r>
                        </m:den>
                      </m:f>
                      <m:r>
                        <a:rPr lang="en-US" b="0" i="1">
                          <a:solidFill>
                            <a:schemeClr val="bg1"/>
                          </a:solidFill>
                          <a:effectLst/>
                          <a:latin typeface="Cambria Math" panose="02040503050406030204" pitchFamily="18" charset="0"/>
                        </a:rPr>
                        <m:t>=0</m:t>
                      </m:r>
                    </m:oMath>
                  </m:oMathPara>
                </a14:m>
                <a:endParaRPr lang="ru-RU" dirty="0">
                  <a:solidFill>
                    <a:srgbClr val="F5C500"/>
                  </a:solidFill>
                  <a:latin typeface="Days One" panose="02000505000000020004" pitchFamily="2" charset="0"/>
                </a:endParaRPr>
              </a:p>
            </p:txBody>
          </p:sp>
        </mc:Choice>
        <mc:Fallback xmlns="">
          <p:sp>
            <p:nvSpPr>
              <p:cNvPr id="26" name="직사각형 28">
                <a:extLst>
                  <a:ext uri="{FF2B5EF4-FFF2-40B4-BE49-F238E27FC236}">
                    <a16:creationId xmlns:a16="http://schemas.microsoft.com/office/drawing/2014/main" id="{F357F6F7-87A7-529A-1D75-6EC715911168}"/>
                  </a:ext>
                </a:extLst>
              </p:cNvPr>
              <p:cNvSpPr>
                <a:spLocks noRot="1" noChangeAspect="1" noMove="1" noResize="1" noEditPoints="1" noAdjustHandles="1" noChangeArrowheads="1" noChangeShapeType="1" noTextEdit="1"/>
              </p:cNvSpPr>
              <p:nvPr/>
            </p:nvSpPr>
            <p:spPr>
              <a:xfrm>
                <a:off x="457200" y="1619876"/>
                <a:ext cx="3657600" cy="619016"/>
              </a:xfrm>
              <a:prstGeom prst="rect">
                <a:avLst/>
              </a:prstGeom>
              <a:blipFill>
                <a:blip r:embed="rId3"/>
                <a:stretch>
                  <a:fillRect/>
                </a:stretch>
              </a:blipFill>
              <a:effectLst/>
            </p:spPr>
            <p:txBody>
              <a:bodyPr/>
              <a:lstStyle/>
              <a:p>
                <a:r>
                  <a:rPr lang="ru-RU">
                    <a:noFill/>
                  </a:rPr>
                  <a:t> </a:t>
                </a:r>
              </a:p>
            </p:txBody>
          </p:sp>
        </mc:Fallback>
      </mc:AlternateContent>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FF112-C7AC-5605-23F9-BB6FFB6B931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9FF9EF2-F044-29FD-3A9F-B756AF4C18C0}"/>
              </a:ext>
            </a:extLst>
          </p:cNvPr>
          <p:cNvSpPr/>
          <p:nvPr/>
        </p:nvSpPr>
        <p:spPr>
          <a:xfrm>
            <a:off x="0" y="0"/>
            <a:ext cx="9144000" cy="914400"/>
          </a:xfrm>
          <a:prstGeom prst="rect">
            <a:avLst/>
          </a:prstGeom>
          <a:solidFill>
            <a:srgbClr val="1A2B4A"/>
          </a:solidFill>
          <a:ln w="12700">
            <a:solidFill>
              <a:srgbClr val="1A2B4A"/>
            </a:solidFill>
            <a:prstDash val="solid"/>
          </a:ln>
        </p:spPr>
        <p:txBody>
          <a:bodyPr/>
          <a:lstStyle/>
          <a:p>
            <a:endParaRPr lang="ru-RU"/>
          </a:p>
        </p:txBody>
      </p:sp>
      <p:sp>
        <p:nvSpPr>
          <p:cNvPr id="3" name="Text 1">
            <a:extLst>
              <a:ext uri="{FF2B5EF4-FFF2-40B4-BE49-F238E27FC236}">
                <a16:creationId xmlns:a16="http://schemas.microsoft.com/office/drawing/2014/main" id="{C0D0F230-B24B-500E-89C6-A3320DBD6EAA}"/>
              </a:ext>
            </a:extLst>
          </p:cNvPr>
          <p:cNvSpPr/>
          <p:nvPr/>
        </p:nvSpPr>
        <p:spPr>
          <a:xfrm>
            <a:off x="457200" y="0"/>
            <a:ext cx="8229600" cy="914400"/>
          </a:xfrm>
          <a:prstGeom prst="rect">
            <a:avLst/>
          </a:prstGeom>
          <a:noFill/>
          <a:ln/>
        </p:spPr>
        <p:txBody>
          <a:bodyPr wrap="square" lIns="0" tIns="0" rIns="0" bIns="0" rtlCol="0" anchor="ctr"/>
          <a:lstStyle/>
          <a:p>
            <a:pPr marL="0" indent="0" algn="l">
              <a:buNone/>
            </a:pPr>
            <a:r>
              <a:rPr lang="ru-RU" sz="2000" b="1" dirty="0">
                <a:solidFill>
                  <a:srgbClr val="FFFFFF"/>
                </a:solidFill>
              </a:rPr>
              <a:t>Аналитические решения</a:t>
            </a:r>
            <a:endParaRPr lang="en-US" sz="2000" dirty="0"/>
          </a:p>
        </p:txBody>
      </p:sp>
      <p:sp>
        <p:nvSpPr>
          <p:cNvPr id="4" name="Shape 2">
            <a:extLst>
              <a:ext uri="{FF2B5EF4-FFF2-40B4-BE49-F238E27FC236}">
                <a16:creationId xmlns:a16="http://schemas.microsoft.com/office/drawing/2014/main" id="{84826393-C77B-FD04-866D-8A439219632D}"/>
              </a:ext>
            </a:extLst>
          </p:cNvPr>
          <p:cNvSpPr/>
          <p:nvPr/>
        </p:nvSpPr>
        <p:spPr>
          <a:xfrm>
            <a:off x="0" y="914400"/>
            <a:ext cx="9144000" cy="45720"/>
          </a:xfrm>
          <a:prstGeom prst="rect">
            <a:avLst/>
          </a:prstGeom>
          <a:solidFill>
            <a:srgbClr val="12A0B5"/>
          </a:solidFill>
          <a:ln w="12700">
            <a:solidFill>
              <a:srgbClr val="12A0B5"/>
            </a:solidFill>
            <a:prstDash val="solid"/>
          </a:ln>
        </p:spPr>
        <p:txBody>
          <a:bodyPr/>
          <a:lstStyle/>
          <a:p>
            <a:endParaRPr lang="ru-RU"/>
          </a:p>
        </p:txBody>
      </p:sp>
      <p:sp>
        <p:nvSpPr>
          <p:cNvPr id="7" name="Text 5">
            <a:extLst>
              <a:ext uri="{FF2B5EF4-FFF2-40B4-BE49-F238E27FC236}">
                <a16:creationId xmlns:a16="http://schemas.microsoft.com/office/drawing/2014/main" id="{612120DE-3430-8AB0-7415-0BC3DDE01A9C}"/>
              </a:ext>
            </a:extLst>
          </p:cNvPr>
          <p:cNvSpPr/>
          <p:nvPr/>
        </p:nvSpPr>
        <p:spPr>
          <a:xfrm>
            <a:off x="457200" y="1554480"/>
            <a:ext cx="3657600" cy="777240"/>
          </a:xfrm>
          <a:prstGeom prst="rect">
            <a:avLst/>
          </a:prstGeom>
          <a:noFill/>
          <a:ln/>
        </p:spPr>
        <p:txBody>
          <a:bodyPr wrap="square" rtlCol="0" anchor="ctr"/>
          <a:lstStyle/>
          <a:p>
            <a:pPr marL="0" indent="0" algn="ctr">
              <a:buNone/>
            </a:pPr>
            <a:endParaRPr lang="en-US" sz="1800" dirty="0"/>
          </a:p>
        </p:txBody>
      </p:sp>
      <p:sp>
        <p:nvSpPr>
          <p:cNvPr id="8" name="Text 6">
            <a:extLst>
              <a:ext uri="{FF2B5EF4-FFF2-40B4-BE49-F238E27FC236}">
                <a16:creationId xmlns:a16="http://schemas.microsoft.com/office/drawing/2014/main" id="{0B84CCB5-8B21-27B9-A29F-6DD784A2C27D}"/>
              </a:ext>
            </a:extLst>
          </p:cNvPr>
          <p:cNvSpPr/>
          <p:nvPr/>
        </p:nvSpPr>
        <p:spPr>
          <a:xfrm>
            <a:off x="493776" y="1234387"/>
            <a:ext cx="8229600" cy="411480"/>
          </a:xfrm>
          <a:prstGeom prst="rect">
            <a:avLst/>
          </a:prstGeom>
          <a:noFill/>
          <a:ln/>
        </p:spPr>
        <p:txBody>
          <a:bodyPr wrap="square" rtlCol="0" anchor="ctr"/>
          <a:lstStyle/>
          <a:p>
            <a:pPr marL="0" indent="0">
              <a:buNone/>
            </a:pPr>
            <a:r>
              <a:rPr lang="en-US" sz="1300" b="1" dirty="0">
                <a:solidFill>
                  <a:srgbClr val="0D7B8A"/>
                </a:solidFill>
              </a:rPr>
              <a:t>4 типа коэффициента переноса a(x, t):</a:t>
            </a:r>
            <a:endParaRPr lang="en-US" sz="1300" dirty="0"/>
          </a:p>
        </p:txBody>
      </p:sp>
      <p:sp>
        <p:nvSpPr>
          <p:cNvPr id="9" name="Shape 7">
            <a:extLst>
              <a:ext uri="{FF2B5EF4-FFF2-40B4-BE49-F238E27FC236}">
                <a16:creationId xmlns:a16="http://schemas.microsoft.com/office/drawing/2014/main" id="{666D679C-5071-4E3E-5606-BA829E40E8D7}"/>
              </a:ext>
            </a:extLst>
          </p:cNvPr>
          <p:cNvSpPr/>
          <p:nvPr/>
        </p:nvSpPr>
        <p:spPr>
          <a:xfrm>
            <a:off x="384047" y="1684108"/>
            <a:ext cx="2670569" cy="1445623"/>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ru-RU"/>
          </a:p>
        </p:txBody>
      </p:sp>
      <p:sp>
        <p:nvSpPr>
          <p:cNvPr id="10" name="Shape 8">
            <a:extLst>
              <a:ext uri="{FF2B5EF4-FFF2-40B4-BE49-F238E27FC236}">
                <a16:creationId xmlns:a16="http://schemas.microsoft.com/office/drawing/2014/main" id="{5FD1E71A-3980-184D-96A7-9BF173CC3444}"/>
              </a:ext>
            </a:extLst>
          </p:cNvPr>
          <p:cNvSpPr/>
          <p:nvPr/>
        </p:nvSpPr>
        <p:spPr>
          <a:xfrm>
            <a:off x="402335" y="1691586"/>
            <a:ext cx="2652281" cy="632391"/>
          </a:xfrm>
          <a:prstGeom prst="rect">
            <a:avLst/>
          </a:prstGeom>
          <a:solidFill>
            <a:srgbClr val="0D7B8A"/>
          </a:solidFill>
          <a:ln w="12700">
            <a:solidFill>
              <a:srgbClr val="0D7B8A"/>
            </a:solidFill>
            <a:prstDash val="solid"/>
          </a:ln>
        </p:spPr>
        <p:txBody>
          <a:bodyPr/>
          <a:lstStyle/>
          <a:p>
            <a:endParaRPr lang="ru-RU"/>
          </a:p>
        </p:txBody>
      </p:sp>
      <p:sp>
        <p:nvSpPr>
          <p:cNvPr id="11" name="Text 9">
            <a:extLst>
              <a:ext uri="{FF2B5EF4-FFF2-40B4-BE49-F238E27FC236}">
                <a16:creationId xmlns:a16="http://schemas.microsoft.com/office/drawing/2014/main" id="{C238B0BE-4903-9E82-7739-987C5EE5EB8C}"/>
              </a:ext>
            </a:extLst>
          </p:cNvPr>
          <p:cNvSpPr/>
          <p:nvPr/>
        </p:nvSpPr>
        <p:spPr>
          <a:xfrm>
            <a:off x="365759" y="1692242"/>
            <a:ext cx="2670569" cy="520325"/>
          </a:xfrm>
          <a:prstGeom prst="rect">
            <a:avLst/>
          </a:prstGeom>
          <a:noFill/>
          <a:ln/>
        </p:spPr>
        <p:txBody>
          <a:bodyPr wrap="square" lIns="0" tIns="0" rIns="0" bIns="0" rtlCol="0" anchor="ctr"/>
          <a:lstStyle/>
          <a:p>
            <a:pPr marL="0" indent="0" algn="ctr">
              <a:buNone/>
            </a:pPr>
            <a:r>
              <a:rPr lang="en-US" sz="1600" b="1" dirty="0">
                <a:solidFill>
                  <a:srgbClr val="FFFFFF"/>
                </a:solidFill>
              </a:rPr>
              <a:t>a = const</a:t>
            </a:r>
            <a:endParaRPr lang="en-US" sz="1600" dirty="0"/>
          </a:p>
        </p:txBody>
      </p:sp>
      <p:sp>
        <p:nvSpPr>
          <p:cNvPr id="12" name="Text 10">
            <a:extLst>
              <a:ext uri="{FF2B5EF4-FFF2-40B4-BE49-F238E27FC236}">
                <a16:creationId xmlns:a16="http://schemas.microsoft.com/office/drawing/2014/main" id="{944517E6-FF83-8E55-EE82-BBF5691B86C6}"/>
              </a:ext>
            </a:extLst>
          </p:cNvPr>
          <p:cNvSpPr/>
          <p:nvPr/>
        </p:nvSpPr>
        <p:spPr>
          <a:xfrm>
            <a:off x="402336" y="2039059"/>
            <a:ext cx="1920240" cy="749808"/>
          </a:xfrm>
          <a:prstGeom prst="rect">
            <a:avLst/>
          </a:prstGeom>
          <a:noFill/>
          <a:ln/>
        </p:spPr>
        <p:txBody>
          <a:bodyPr wrap="square" rtlCol="0" anchor="ctr"/>
          <a:lstStyle/>
          <a:p>
            <a:pPr marL="0" indent="0" algn="ctr">
              <a:buNone/>
            </a:pPr>
            <a:endParaRPr lang="en-US" sz="1100" dirty="0"/>
          </a:p>
        </p:txBody>
      </p:sp>
      <p:sp>
        <p:nvSpPr>
          <p:cNvPr id="13" name="Shape 11">
            <a:extLst>
              <a:ext uri="{FF2B5EF4-FFF2-40B4-BE49-F238E27FC236}">
                <a16:creationId xmlns:a16="http://schemas.microsoft.com/office/drawing/2014/main" id="{13A1A04A-21F1-9FDF-970F-A96E2C06B439}"/>
              </a:ext>
            </a:extLst>
          </p:cNvPr>
          <p:cNvSpPr/>
          <p:nvPr/>
        </p:nvSpPr>
        <p:spPr>
          <a:xfrm>
            <a:off x="4852825" y="1748746"/>
            <a:ext cx="2670568" cy="14487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ru-RU"/>
          </a:p>
        </p:txBody>
      </p:sp>
      <p:sp>
        <p:nvSpPr>
          <p:cNvPr id="14" name="Shape 12">
            <a:extLst>
              <a:ext uri="{FF2B5EF4-FFF2-40B4-BE49-F238E27FC236}">
                <a16:creationId xmlns:a16="http://schemas.microsoft.com/office/drawing/2014/main" id="{315FF63F-448C-4D62-D8ED-868DBB0C6A38}"/>
              </a:ext>
            </a:extLst>
          </p:cNvPr>
          <p:cNvSpPr/>
          <p:nvPr/>
        </p:nvSpPr>
        <p:spPr>
          <a:xfrm>
            <a:off x="4852825" y="1687773"/>
            <a:ext cx="2670568" cy="643947"/>
          </a:xfrm>
          <a:prstGeom prst="rect">
            <a:avLst/>
          </a:prstGeom>
          <a:solidFill>
            <a:srgbClr val="0D7B8A"/>
          </a:solidFill>
          <a:ln w="12700">
            <a:solidFill>
              <a:srgbClr val="0D7B8A"/>
            </a:solidFill>
            <a:prstDash val="solid"/>
          </a:ln>
        </p:spPr>
        <p:txBody>
          <a:bodyPr/>
          <a:lstStyle/>
          <a:p>
            <a:endParaRPr lang="ru-RU" dirty="0"/>
          </a:p>
        </p:txBody>
      </p:sp>
      <p:sp>
        <p:nvSpPr>
          <p:cNvPr id="15" name="Text 13">
            <a:extLst>
              <a:ext uri="{FF2B5EF4-FFF2-40B4-BE49-F238E27FC236}">
                <a16:creationId xmlns:a16="http://schemas.microsoft.com/office/drawing/2014/main" id="{4D206938-316E-A265-BF8E-A4DAA628CFC9}"/>
              </a:ext>
            </a:extLst>
          </p:cNvPr>
          <p:cNvSpPr/>
          <p:nvPr/>
        </p:nvSpPr>
        <p:spPr>
          <a:xfrm>
            <a:off x="4852825" y="1709244"/>
            <a:ext cx="2670568" cy="528123"/>
          </a:xfrm>
          <a:prstGeom prst="rect">
            <a:avLst/>
          </a:prstGeom>
          <a:noFill/>
          <a:ln/>
        </p:spPr>
        <p:txBody>
          <a:bodyPr wrap="square" lIns="0" tIns="0" rIns="0" bIns="0" rtlCol="0" anchor="ctr"/>
          <a:lstStyle/>
          <a:p>
            <a:pPr marL="0" indent="0" algn="ctr">
              <a:buNone/>
            </a:pPr>
            <a:r>
              <a:rPr lang="en-US" sz="1600" b="1" dirty="0">
                <a:solidFill>
                  <a:srgbClr val="FFFFFF"/>
                </a:solidFill>
              </a:rPr>
              <a:t>a = a(x)</a:t>
            </a:r>
            <a:endParaRPr lang="en-US" sz="1600" dirty="0"/>
          </a:p>
        </p:txBody>
      </p:sp>
      <p:sp>
        <p:nvSpPr>
          <p:cNvPr id="17" name="Shape 15">
            <a:extLst>
              <a:ext uri="{FF2B5EF4-FFF2-40B4-BE49-F238E27FC236}">
                <a16:creationId xmlns:a16="http://schemas.microsoft.com/office/drawing/2014/main" id="{8E84FC58-BC64-6DE8-BA6F-0C9F4FD8D373}"/>
              </a:ext>
            </a:extLst>
          </p:cNvPr>
          <p:cNvSpPr/>
          <p:nvPr/>
        </p:nvSpPr>
        <p:spPr>
          <a:xfrm>
            <a:off x="384046" y="3384201"/>
            <a:ext cx="2670569" cy="1425177"/>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ru-RU"/>
          </a:p>
        </p:txBody>
      </p:sp>
      <p:sp>
        <p:nvSpPr>
          <p:cNvPr id="18" name="Shape 16">
            <a:extLst>
              <a:ext uri="{FF2B5EF4-FFF2-40B4-BE49-F238E27FC236}">
                <a16:creationId xmlns:a16="http://schemas.microsoft.com/office/drawing/2014/main" id="{2C05ADEF-924A-C7D0-AE71-6EC75B9C225D}"/>
              </a:ext>
            </a:extLst>
          </p:cNvPr>
          <p:cNvSpPr/>
          <p:nvPr/>
        </p:nvSpPr>
        <p:spPr>
          <a:xfrm>
            <a:off x="384046" y="3307782"/>
            <a:ext cx="2670569" cy="495629"/>
          </a:xfrm>
          <a:prstGeom prst="rect">
            <a:avLst/>
          </a:prstGeom>
          <a:solidFill>
            <a:srgbClr val="0D7B8A"/>
          </a:solidFill>
          <a:ln w="12700">
            <a:solidFill>
              <a:srgbClr val="0D7B8A"/>
            </a:solidFill>
            <a:prstDash val="solid"/>
          </a:ln>
        </p:spPr>
        <p:txBody>
          <a:bodyPr/>
          <a:lstStyle/>
          <a:p>
            <a:endParaRPr lang="ru-RU"/>
          </a:p>
        </p:txBody>
      </p:sp>
      <p:sp>
        <p:nvSpPr>
          <p:cNvPr id="19" name="Text 17">
            <a:extLst>
              <a:ext uri="{FF2B5EF4-FFF2-40B4-BE49-F238E27FC236}">
                <a16:creationId xmlns:a16="http://schemas.microsoft.com/office/drawing/2014/main" id="{715A4E78-7566-58DA-9343-EF44067B847D}"/>
              </a:ext>
            </a:extLst>
          </p:cNvPr>
          <p:cNvSpPr/>
          <p:nvPr/>
        </p:nvSpPr>
        <p:spPr>
          <a:xfrm>
            <a:off x="342639" y="3338482"/>
            <a:ext cx="2633992" cy="440680"/>
          </a:xfrm>
          <a:prstGeom prst="rect">
            <a:avLst/>
          </a:prstGeom>
          <a:noFill/>
          <a:ln/>
        </p:spPr>
        <p:txBody>
          <a:bodyPr wrap="square" lIns="0" tIns="0" rIns="0" bIns="0" rtlCol="0" anchor="ctr"/>
          <a:lstStyle/>
          <a:p>
            <a:pPr marL="0" indent="0" algn="ctr">
              <a:buNone/>
            </a:pPr>
            <a:r>
              <a:rPr lang="en-US" sz="1600" b="1" dirty="0">
                <a:solidFill>
                  <a:srgbClr val="FFFFFF"/>
                </a:solidFill>
              </a:rPr>
              <a:t>a = a(t)</a:t>
            </a:r>
            <a:endParaRPr lang="en-US" sz="1600" dirty="0"/>
          </a:p>
        </p:txBody>
      </p:sp>
      <p:sp>
        <p:nvSpPr>
          <p:cNvPr id="21" name="Shape 19">
            <a:extLst>
              <a:ext uri="{FF2B5EF4-FFF2-40B4-BE49-F238E27FC236}">
                <a16:creationId xmlns:a16="http://schemas.microsoft.com/office/drawing/2014/main" id="{EE6BABB1-E13A-9147-058A-77FC9AEA8F2A}"/>
              </a:ext>
            </a:extLst>
          </p:cNvPr>
          <p:cNvSpPr/>
          <p:nvPr/>
        </p:nvSpPr>
        <p:spPr>
          <a:xfrm>
            <a:off x="4857657" y="3300405"/>
            <a:ext cx="2673354" cy="1508973"/>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ru-RU"/>
          </a:p>
        </p:txBody>
      </p:sp>
      <p:sp>
        <p:nvSpPr>
          <p:cNvPr id="22" name="Shape 20">
            <a:extLst>
              <a:ext uri="{FF2B5EF4-FFF2-40B4-BE49-F238E27FC236}">
                <a16:creationId xmlns:a16="http://schemas.microsoft.com/office/drawing/2014/main" id="{262D87B9-1955-F134-4AEA-4A9B36A11AF1}"/>
              </a:ext>
            </a:extLst>
          </p:cNvPr>
          <p:cNvSpPr/>
          <p:nvPr/>
        </p:nvSpPr>
        <p:spPr>
          <a:xfrm>
            <a:off x="4857657" y="3300405"/>
            <a:ext cx="2673354" cy="510667"/>
          </a:xfrm>
          <a:prstGeom prst="rect">
            <a:avLst/>
          </a:prstGeom>
          <a:solidFill>
            <a:srgbClr val="0D7B8A"/>
          </a:solidFill>
          <a:ln w="12700">
            <a:solidFill>
              <a:srgbClr val="0D7B8A"/>
            </a:solidFill>
            <a:prstDash val="solid"/>
          </a:ln>
        </p:spPr>
        <p:txBody>
          <a:bodyPr/>
          <a:lstStyle/>
          <a:p>
            <a:endParaRPr lang="ru-RU"/>
          </a:p>
        </p:txBody>
      </p:sp>
      <p:sp>
        <p:nvSpPr>
          <p:cNvPr id="23" name="Text 21">
            <a:extLst>
              <a:ext uri="{FF2B5EF4-FFF2-40B4-BE49-F238E27FC236}">
                <a16:creationId xmlns:a16="http://schemas.microsoft.com/office/drawing/2014/main" id="{534A4597-3505-1BF1-D230-1AAED4372D23}"/>
              </a:ext>
            </a:extLst>
          </p:cNvPr>
          <p:cNvSpPr/>
          <p:nvPr/>
        </p:nvSpPr>
        <p:spPr>
          <a:xfrm>
            <a:off x="4857657" y="3307782"/>
            <a:ext cx="2673354" cy="510667"/>
          </a:xfrm>
          <a:prstGeom prst="rect">
            <a:avLst/>
          </a:prstGeom>
          <a:noFill/>
          <a:ln/>
        </p:spPr>
        <p:txBody>
          <a:bodyPr wrap="square" lIns="0" tIns="0" rIns="0" bIns="0" rtlCol="0" anchor="ctr"/>
          <a:lstStyle/>
          <a:p>
            <a:pPr marL="0" indent="0" algn="ctr">
              <a:buNone/>
            </a:pPr>
            <a:r>
              <a:rPr lang="en-US" sz="1600" b="1" dirty="0">
                <a:solidFill>
                  <a:srgbClr val="FFFFFF"/>
                </a:solidFill>
              </a:rPr>
              <a:t>a = a(x,t)</a:t>
            </a:r>
            <a:endParaRPr lang="en-US" sz="1600" dirty="0"/>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845FA66-D252-9980-B3D2-400B2FE3A154}"/>
                  </a:ext>
                </a:extLst>
              </p:cNvPr>
              <p:cNvSpPr txBox="1"/>
              <p:nvPr/>
            </p:nvSpPr>
            <p:spPr>
              <a:xfrm>
                <a:off x="655604" y="2540471"/>
                <a:ext cx="2090878" cy="338554"/>
              </a:xfrm>
              <a:prstGeom prst="rect">
                <a:avLst/>
              </a:prstGeom>
              <a:noFill/>
            </p:spPr>
            <p:txBody>
              <a:bodyPr wrap="square" rtlCol="0" anchor="ctr" anchorCtr="0">
                <a:spAutoFit/>
              </a:bodyPr>
              <a:lstStyle/>
              <a:p>
                <a:pPr/>
                <a14:m>
                  <m:oMathPara xmlns:m="http://schemas.openxmlformats.org/officeDocument/2006/math">
                    <m:oMathParaPr>
                      <m:jc m:val="centerGroup"/>
                    </m:oMathParaPr>
                    <m:oMath xmlns:m="http://schemas.openxmlformats.org/officeDocument/2006/math">
                      <m:r>
                        <a:rPr lang="en-US" sz="1600" i="1" smtClean="0">
                          <a:solidFill>
                            <a:schemeClr val="tx1"/>
                          </a:solidFill>
                          <a:latin typeface="Cambria Math" panose="02040503050406030204" pitchFamily="18" charset="0"/>
                        </a:rPr>
                        <m:t>𝑢</m:t>
                      </m:r>
                      <m:d>
                        <m:dPr>
                          <m:ctrlPr>
                            <a:rPr lang="en-US" sz="1600" i="1">
                              <a:solidFill>
                                <a:schemeClr val="tx1"/>
                              </a:solidFill>
                              <a:latin typeface="Cambria Math" panose="02040503050406030204" pitchFamily="18" charset="0"/>
                            </a:rPr>
                          </m:ctrlPr>
                        </m:dPr>
                        <m:e>
                          <m:r>
                            <a:rPr lang="en-US" sz="1600" i="1">
                              <a:solidFill>
                                <a:schemeClr val="tx1"/>
                              </a:solidFill>
                              <a:latin typeface="Cambria Math" panose="02040503050406030204" pitchFamily="18" charset="0"/>
                            </a:rPr>
                            <m:t>𝑥</m:t>
                          </m:r>
                          <m:r>
                            <a:rPr lang="en-US" sz="1600" i="1">
                              <a:solidFill>
                                <a:schemeClr val="tx1"/>
                              </a:solidFill>
                              <a:latin typeface="Cambria Math" panose="02040503050406030204" pitchFamily="18" charset="0"/>
                            </a:rPr>
                            <m:t>,</m:t>
                          </m:r>
                          <m:r>
                            <a:rPr lang="en-US" sz="1600" i="1">
                              <a:solidFill>
                                <a:schemeClr val="tx1"/>
                              </a:solidFill>
                              <a:latin typeface="Cambria Math" panose="02040503050406030204" pitchFamily="18" charset="0"/>
                            </a:rPr>
                            <m:t>𝑡</m:t>
                          </m:r>
                        </m:e>
                      </m:d>
                      <m:r>
                        <a:rPr lang="ru-RU" sz="1600" b="0" i="0" smtClean="0">
                          <a:solidFill>
                            <a:schemeClr val="tx1"/>
                          </a:solidFill>
                          <a:latin typeface="Cambria Math" panose="02040503050406030204" pitchFamily="18" charset="0"/>
                        </a:rPr>
                        <m:t>=</m:t>
                      </m:r>
                      <m:r>
                        <a:rPr lang="ru-RU" sz="1600" b="0" i="1" smtClean="0">
                          <a:solidFill>
                            <a:schemeClr val="tx1"/>
                          </a:solidFill>
                          <a:latin typeface="Cambria Math" panose="02040503050406030204" pitchFamily="18" charset="0"/>
                        </a:rPr>
                        <m:t>𝜙</m:t>
                      </m:r>
                      <m:d>
                        <m:dPr>
                          <m:ctrlPr>
                            <a:rPr lang="ru-RU" sz="1600" b="0" i="1" smtClean="0">
                              <a:solidFill>
                                <a:schemeClr val="tx1"/>
                              </a:solidFill>
                              <a:latin typeface="Cambria Math" panose="02040503050406030204" pitchFamily="18" charset="0"/>
                            </a:rPr>
                          </m:ctrlPr>
                        </m:dPr>
                        <m:e>
                          <m:r>
                            <a:rPr lang="en-US" sz="1600" b="0" i="1" smtClean="0">
                              <a:solidFill>
                                <a:schemeClr val="tx1"/>
                              </a:solidFill>
                              <a:latin typeface="Cambria Math" panose="02040503050406030204" pitchFamily="18" charset="0"/>
                            </a:rPr>
                            <m:t>𝑥</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𝑎𝑡</m:t>
                          </m:r>
                        </m:e>
                      </m:d>
                    </m:oMath>
                  </m:oMathPara>
                </a14:m>
                <a:endParaRPr lang="ru-RU" sz="1600" dirty="0">
                  <a:solidFill>
                    <a:schemeClr val="tx1"/>
                  </a:solidFill>
                  <a:latin typeface="Montserrat Black" panose="00000A00000000000000" pitchFamily="2" charset="-52"/>
                  <a:ea typeface="Cambria Math" panose="02040503050406030204" pitchFamily="18" charset="0"/>
                </a:endParaRPr>
              </a:p>
            </p:txBody>
          </p:sp>
        </mc:Choice>
        <mc:Fallback xmlns="">
          <p:sp>
            <p:nvSpPr>
              <p:cNvPr id="27" name="TextBox 26">
                <a:extLst>
                  <a:ext uri="{FF2B5EF4-FFF2-40B4-BE49-F238E27FC236}">
                    <a16:creationId xmlns:a16="http://schemas.microsoft.com/office/drawing/2014/main" id="{3845FA66-D252-9980-B3D2-400B2FE3A154}"/>
                  </a:ext>
                </a:extLst>
              </p:cNvPr>
              <p:cNvSpPr txBox="1">
                <a:spLocks noRot="1" noChangeAspect="1" noMove="1" noResize="1" noEditPoints="1" noAdjustHandles="1" noChangeArrowheads="1" noChangeShapeType="1" noTextEdit="1"/>
              </p:cNvSpPr>
              <p:nvPr/>
            </p:nvSpPr>
            <p:spPr>
              <a:xfrm>
                <a:off x="655604" y="2540471"/>
                <a:ext cx="2090878" cy="338554"/>
              </a:xfrm>
              <a:prstGeom prst="rect">
                <a:avLst/>
              </a:prstGeom>
              <a:blipFill>
                <a:blip r:embed="rId3"/>
                <a:stretch>
                  <a:fillRect b="-12727"/>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CDBDCD9-E006-8EB3-44A5-C5188371DCF7}"/>
                  </a:ext>
                </a:extLst>
              </p:cNvPr>
              <p:cNvSpPr txBox="1"/>
              <p:nvPr/>
            </p:nvSpPr>
            <p:spPr>
              <a:xfrm>
                <a:off x="4852825" y="2386967"/>
                <a:ext cx="2678186" cy="645561"/>
              </a:xfrm>
              <a:prstGeom prst="rect">
                <a:avLst/>
              </a:prstGeom>
              <a:noFill/>
            </p:spPr>
            <p:txBody>
              <a:bodyPr wrap="square" rtlCol="0" anchor="ctr" anchorCtr="0">
                <a:spAutoFit/>
              </a:bodyPr>
              <a:lstStyle/>
              <a:p>
                <a:pPr/>
                <a14:m>
                  <m:oMathPara xmlns:m="http://schemas.openxmlformats.org/officeDocument/2006/math">
                    <m:oMathParaPr>
                      <m:jc m:val="centerGroup"/>
                    </m:oMathParaPr>
                    <m:oMath xmlns:m="http://schemas.openxmlformats.org/officeDocument/2006/math">
                      <m:r>
                        <a:rPr lang="en-US" sz="1600" i="1" smtClean="0">
                          <a:solidFill>
                            <a:schemeClr val="tx1"/>
                          </a:solidFill>
                          <a:latin typeface="Cambria Math" panose="02040503050406030204" pitchFamily="18" charset="0"/>
                        </a:rPr>
                        <m:t>𝑢</m:t>
                      </m:r>
                      <m:d>
                        <m:dPr>
                          <m:ctrlPr>
                            <a:rPr lang="en-US" sz="1600" i="1">
                              <a:solidFill>
                                <a:schemeClr val="tx1"/>
                              </a:solidFill>
                              <a:latin typeface="Cambria Math" panose="02040503050406030204" pitchFamily="18" charset="0"/>
                            </a:rPr>
                          </m:ctrlPr>
                        </m:dPr>
                        <m:e>
                          <m:r>
                            <a:rPr lang="en-US" sz="1600" i="1">
                              <a:solidFill>
                                <a:schemeClr val="tx1"/>
                              </a:solidFill>
                              <a:latin typeface="Cambria Math" panose="02040503050406030204" pitchFamily="18" charset="0"/>
                            </a:rPr>
                            <m:t>𝑥</m:t>
                          </m:r>
                          <m:r>
                            <a:rPr lang="en-US" sz="1600" i="1">
                              <a:solidFill>
                                <a:schemeClr val="tx1"/>
                              </a:solidFill>
                              <a:latin typeface="Cambria Math" panose="02040503050406030204" pitchFamily="18" charset="0"/>
                            </a:rPr>
                            <m:t>,</m:t>
                          </m:r>
                          <m:r>
                            <a:rPr lang="en-US" sz="1600" i="1">
                              <a:solidFill>
                                <a:schemeClr val="tx1"/>
                              </a:solidFill>
                              <a:latin typeface="Cambria Math" panose="02040503050406030204" pitchFamily="18" charset="0"/>
                            </a:rPr>
                            <m:t>𝑡</m:t>
                          </m:r>
                        </m:e>
                      </m:d>
                      <m:r>
                        <a:rPr lang="en-US" sz="1600" i="1">
                          <a:solidFill>
                            <a:schemeClr val="tx1"/>
                          </a:solidFill>
                          <a:latin typeface="Cambria Math" panose="02040503050406030204" pitchFamily="18" charset="0"/>
                        </a:rPr>
                        <m:t>=</m:t>
                      </m:r>
                      <m:r>
                        <a:rPr lang="en-US" sz="1600" i="1">
                          <a:solidFill>
                            <a:schemeClr val="tx1"/>
                          </a:solidFill>
                          <a:latin typeface="Cambria Math" panose="02040503050406030204" pitchFamily="18" charset="0"/>
                        </a:rPr>
                        <m:t>𝜙</m:t>
                      </m:r>
                      <m:d>
                        <m:dPr>
                          <m:ctrlPr>
                            <a:rPr lang="en-US" sz="1600" i="1">
                              <a:solidFill>
                                <a:schemeClr val="tx1"/>
                              </a:solidFill>
                              <a:latin typeface="Cambria Math" panose="02040503050406030204" pitchFamily="18" charset="0"/>
                            </a:rPr>
                          </m:ctrlPr>
                        </m:dPr>
                        <m:e>
                          <m:nary>
                            <m:naryPr>
                              <m:ctrlPr>
                                <a:rPr lang="en-US" sz="1600" i="1">
                                  <a:solidFill>
                                    <a:schemeClr val="tx1"/>
                                  </a:solidFill>
                                  <a:latin typeface="Cambria Math" panose="02040503050406030204" pitchFamily="18" charset="0"/>
                                </a:rPr>
                              </m:ctrlPr>
                            </m:naryPr>
                            <m:sub>
                              <m:r>
                                <a:rPr lang="en-US" sz="1600" i="1">
                                  <a:solidFill>
                                    <a:schemeClr val="tx1"/>
                                  </a:solidFill>
                                  <a:latin typeface="Cambria Math" panose="02040503050406030204" pitchFamily="18" charset="0"/>
                                </a:rPr>
                                <m:t>1</m:t>
                              </m:r>
                            </m:sub>
                            <m:sup>
                              <m:r>
                                <a:rPr lang="en-US" sz="1600" i="1">
                                  <a:solidFill>
                                    <a:schemeClr val="tx1"/>
                                  </a:solidFill>
                                  <a:latin typeface="Cambria Math" panose="02040503050406030204" pitchFamily="18" charset="0"/>
                                </a:rPr>
                                <m:t>𝑥</m:t>
                              </m:r>
                            </m:sup>
                            <m:e>
                              <m:f>
                                <m:fPr>
                                  <m:ctrlPr>
                                    <a:rPr lang="en-US" sz="1600" i="1">
                                      <a:solidFill>
                                        <a:schemeClr val="tx1"/>
                                      </a:solidFill>
                                      <a:latin typeface="Cambria Math" panose="02040503050406030204" pitchFamily="18" charset="0"/>
                                    </a:rPr>
                                  </m:ctrlPr>
                                </m:fPr>
                                <m:num>
                                  <m:r>
                                    <a:rPr lang="en-US" sz="1600" i="1">
                                      <a:solidFill>
                                        <a:schemeClr val="tx1"/>
                                      </a:solidFill>
                                      <a:latin typeface="Cambria Math" panose="02040503050406030204" pitchFamily="18" charset="0"/>
                                    </a:rPr>
                                    <m:t>𝑑</m:t>
                                  </m:r>
                                  <m:r>
                                    <a:rPr lang="en-US" sz="1600" i="1">
                                      <a:solidFill>
                                        <a:schemeClr val="tx1"/>
                                      </a:solidFill>
                                      <a:latin typeface="Cambria Math" panose="02040503050406030204" pitchFamily="18" charset="0"/>
                                    </a:rPr>
                                    <m:t>𝜃</m:t>
                                  </m:r>
                                </m:num>
                                <m:den>
                                  <m:r>
                                    <a:rPr lang="en-US" sz="1600" i="1">
                                      <a:solidFill>
                                        <a:schemeClr val="tx1"/>
                                      </a:solidFill>
                                      <a:latin typeface="Cambria Math" panose="02040503050406030204" pitchFamily="18" charset="0"/>
                                    </a:rPr>
                                    <m:t>𝑎</m:t>
                                  </m:r>
                                  <m:d>
                                    <m:dPr>
                                      <m:ctrlPr>
                                        <a:rPr lang="en-US" sz="1600" i="1">
                                          <a:solidFill>
                                            <a:schemeClr val="tx1"/>
                                          </a:solidFill>
                                          <a:latin typeface="Cambria Math" panose="02040503050406030204" pitchFamily="18" charset="0"/>
                                        </a:rPr>
                                      </m:ctrlPr>
                                    </m:dPr>
                                    <m:e>
                                      <m:r>
                                        <a:rPr lang="en-US" sz="1600" i="1">
                                          <a:solidFill>
                                            <a:schemeClr val="tx1"/>
                                          </a:solidFill>
                                          <a:latin typeface="Cambria Math" panose="02040503050406030204" pitchFamily="18" charset="0"/>
                                        </a:rPr>
                                        <m:t>𝜃</m:t>
                                      </m:r>
                                    </m:e>
                                  </m:d>
                                </m:den>
                              </m:f>
                            </m:e>
                          </m:nary>
                          <m:r>
                            <a:rPr lang="en-US" sz="1600" i="1">
                              <a:solidFill>
                                <a:schemeClr val="tx1"/>
                              </a:solidFill>
                              <a:latin typeface="Cambria Math" panose="02040503050406030204" pitchFamily="18" charset="0"/>
                            </a:rPr>
                            <m:t>−</m:t>
                          </m:r>
                          <m:r>
                            <a:rPr lang="en-US" sz="1600" i="1">
                              <a:solidFill>
                                <a:schemeClr val="tx1"/>
                              </a:solidFill>
                              <a:latin typeface="Cambria Math" panose="02040503050406030204" pitchFamily="18" charset="0"/>
                            </a:rPr>
                            <m:t>𝑡</m:t>
                          </m:r>
                        </m:e>
                      </m:d>
                    </m:oMath>
                  </m:oMathPara>
                </a14:m>
                <a:endParaRPr lang="ru-RU" sz="1600" i="1" dirty="0">
                  <a:solidFill>
                    <a:schemeClr val="tx1"/>
                  </a:solidFill>
                  <a:latin typeface="Cambria Math" panose="02040503050406030204" pitchFamily="18" charset="0"/>
                </a:endParaRPr>
              </a:p>
            </p:txBody>
          </p:sp>
        </mc:Choice>
        <mc:Fallback xmlns="">
          <p:sp>
            <p:nvSpPr>
              <p:cNvPr id="28" name="TextBox 27">
                <a:extLst>
                  <a:ext uri="{FF2B5EF4-FFF2-40B4-BE49-F238E27FC236}">
                    <a16:creationId xmlns:a16="http://schemas.microsoft.com/office/drawing/2014/main" id="{BCDBDCD9-E006-8EB3-44A5-C5188371DCF7}"/>
                  </a:ext>
                </a:extLst>
              </p:cNvPr>
              <p:cNvSpPr txBox="1">
                <a:spLocks noRot="1" noChangeAspect="1" noMove="1" noResize="1" noEditPoints="1" noAdjustHandles="1" noChangeArrowheads="1" noChangeShapeType="1" noTextEdit="1"/>
              </p:cNvSpPr>
              <p:nvPr/>
            </p:nvSpPr>
            <p:spPr>
              <a:xfrm>
                <a:off x="4852825" y="2386967"/>
                <a:ext cx="2678186" cy="645561"/>
              </a:xfrm>
              <a:prstGeom prst="rect">
                <a:avLst/>
              </a:prstGeom>
              <a:blipFill>
                <a:blip r:embed="rId4"/>
                <a:stretch>
                  <a:fillRect/>
                </a:stretch>
              </a:blipFill>
            </p:spPr>
            <p:txBody>
              <a:bodyPr/>
              <a:lstStyle/>
              <a:p>
                <a:r>
                  <a:rPr lang="ru-RU">
                    <a:noFill/>
                  </a:rPr>
                  <a:t> </a:t>
                </a:r>
              </a:p>
            </p:txBody>
          </p:sp>
        </mc:Fallback>
      </mc:AlternateContent>
      <p:pic>
        <p:nvPicPr>
          <p:cNvPr id="29" name="Рисунок 28">
            <a:extLst>
              <a:ext uri="{FF2B5EF4-FFF2-40B4-BE49-F238E27FC236}">
                <a16:creationId xmlns:a16="http://schemas.microsoft.com/office/drawing/2014/main" id="{55C15E9D-8858-7FA7-60F1-F6AF3396119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164345" y="1687773"/>
            <a:ext cx="1232249" cy="1445623"/>
          </a:xfrm>
          <a:prstGeom prst="rect">
            <a:avLst/>
          </a:prstGeom>
        </p:spPr>
      </p:pic>
      <p:pic>
        <p:nvPicPr>
          <p:cNvPr id="30" name="Рисунок 29">
            <a:extLst>
              <a:ext uri="{FF2B5EF4-FFF2-40B4-BE49-F238E27FC236}">
                <a16:creationId xmlns:a16="http://schemas.microsoft.com/office/drawing/2014/main" id="{BC933D8E-B94C-EC5B-8FE2-390B0E90DA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32267" y="1687773"/>
            <a:ext cx="1232249" cy="1441810"/>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2A8021A8-52E5-AC2A-B244-AD92044D4F5A}"/>
                  </a:ext>
                </a:extLst>
              </p:cNvPr>
              <p:cNvSpPr txBox="1"/>
              <p:nvPr/>
            </p:nvSpPr>
            <p:spPr>
              <a:xfrm>
                <a:off x="342639" y="3983500"/>
                <a:ext cx="2711977" cy="650243"/>
              </a:xfrm>
              <a:prstGeom prst="rect">
                <a:avLst/>
              </a:prstGeom>
              <a:noFill/>
            </p:spPr>
            <p:txBody>
              <a:bodyPr wrap="square" rtlCol="0" anchor="ctr" anchorCtr="0">
                <a:spAutoFit/>
              </a:bodyPr>
              <a:lstStyle/>
              <a:p>
                <a:pPr/>
                <a14:m>
                  <m:oMathPara xmlns:m="http://schemas.openxmlformats.org/officeDocument/2006/math">
                    <m:oMathParaPr>
                      <m:jc m:val="centerGroup"/>
                    </m:oMathParaPr>
                    <m:oMath xmlns:m="http://schemas.openxmlformats.org/officeDocument/2006/math">
                      <m:r>
                        <a:rPr lang="en-US" sz="1600" smtClean="0">
                          <a:solidFill>
                            <a:schemeClr val="tx1"/>
                          </a:solidFill>
                          <a:latin typeface="Cambria Math" panose="02040503050406030204" pitchFamily="18" charset="0"/>
                        </a:rPr>
                        <m:t>𝑢</m:t>
                      </m:r>
                      <m:d>
                        <m:dPr>
                          <m:ctrlPr>
                            <a:rPr lang="en-US" sz="1600" i="1">
                              <a:solidFill>
                                <a:schemeClr val="tx1"/>
                              </a:solidFill>
                              <a:latin typeface="Cambria Math" panose="02040503050406030204" pitchFamily="18" charset="0"/>
                            </a:rPr>
                          </m:ctrlPr>
                        </m:dPr>
                        <m:e>
                          <m:r>
                            <a:rPr lang="en-US" sz="1600">
                              <a:solidFill>
                                <a:schemeClr val="tx1"/>
                              </a:solidFill>
                              <a:latin typeface="Cambria Math" panose="02040503050406030204" pitchFamily="18" charset="0"/>
                            </a:rPr>
                            <m:t>𝑥</m:t>
                          </m:r>
                          <m:r>
                            <a:rPr lang="en-US" sz="1600">
                              <a:solidFill>
                                <a:schemeClr val="tx1"/>
                              </a:solidFill>
                              <a:latin typeface="Cambria Math" panose="02040503050406030204" pitchFamily="18" charset="0"/>
                            </a:rPr>
                            <m:t>,</m:t>
                          </m:r>
                          <m:r>
                            <a:rPr lang="en-US" sz="1600">
                              <a:solidFill>
                                <a:schemeClr val="tx1"/>
                              </a:solidFill>
                              <a:latin typeface="Cambria Math" panose="02040503050406030204" pitchFamily="18" charset="0"/>
                            </a:rPr>
                            <m:t>𝑡</m:t>
                          </m:r>
                        </m:e>
                      </m:d>
                      <m:r>
                        <a:rPr lang="en-US" sz="1600">
                          <a:solidFill>
                            <a:schemeClr val="tx1"/>
                          </a:solidFill>
                          <a:latin typeface="Cambria Math" panose="02040503050406030204" pitchFamily="18" charset="0"/>
                        </a:rPr>
                        <m:t>=</m:t>
                      </m:r>
                      <m:r>
                        <a:rPr lang="en-US" sz="1600">
                          <a:solidFill>
                            <a:schemeClr val="tx1"/>
                          </a:solidFill>
                          <a:latin typeface="Cambria Math" panose="02040503050406030204" pitchFamily="18" charset="0"/>
                        </a:rPr>
                        <m:t>𝜙</m:t>
                      </m:r>
                      <m:d>
                        <m:dPr>
                          <m:ctrlPr>
                            <a:rPr lang="en-US" sz="1600" i="1">
                              <a:solidFill>
                                <a:schemeClr val="tx1"/>
                              </a:solidFill>
                              <a:latin typeface="Cambria Math" panose="02040503050406030204" pitchFamily="18" charset="0"/>
                            </a:rPr>
                          </m:ctrlPr>
                        </m:dPr>
                        <m:e>
                          <m:r>
                            <a:rPr lang="en-US" sz="1600">
                              <a:solidFill>
                                <a:schemeClr val="tx1"/>
                              </a:solidFill>
                              <a:latin typeface="Cambria Math" panose="02040503050406030204" pitchFamily="18" charset="0"/>
                            </a:rPr>
                            <m:t>𝑥</m:t>
                          </m:r>
                          <m:r>
                            <a:rPr lang="en-US" sz="1600">
                              <a:solidFill>
                                <a:schemeClr val="tx1"/>
                              </a:solidFill>
                              <a:latin typeface="Cambria Math" panose="02040503050406030204" pitchFamily="18" charset="0"/>
                            </a:rPr>
                            <m:t>−</m:t>
                          </m:r>
                          <m:nary>
                            <m:naryPr>
                              <m:ctrlPr>
                                <a:rPr lang="en-US" sz="1600" i="1">
                                  <a:solidFill>
                                    <a:schemeClr val="tx1"/>
                                  </a:solidFill>
                                  <a:latin typeface="Cambria Math" panose="02040503050406030204" pitchFamily="18" charset="0"/>
                                </a:rPr>
                              </m:ctrlPr>
                            </m:naryPr>
                            <m:sub>
                              <m:r>
                                <a:rPr lang="en-US" sz="1600">
                                  <a:solidFill>
                                    <a:schemeClr val="tx1"/>
                                  </a:solidFill>
                                  <a:latin typeface="Cambria Math" panose="02040503050406030204" pitchFamily="18" charset="0"/>
                                </a:rPr>
                                <m:t>0</m:t>
                              </m:r>
                            </m:sub>
                            <m:sup>
                              <m:r>
                                <a:rPr lang="en-US" sz="1600">
                                  <a:solidFill>
                                    <a:schemeClr val="tx1"/>
                                  </a:solidFill>
                                  <a:latin typeface="Cambria Math" panose="02040503050406030204" pitchFamily="18" charset="0"/>
                                </a:rPr>
                                <m:t>𝑡</m:t>
                              </m:r>
                            </m:sup>
                            <m:e>
                              <m:r>
                                <a:rPr lang="en-US" sz="1600">
                                  <a:solidFill>
                                    <a:schemeClr val="tx1"/>
                                  </a:solidFill>
                                  <a:latin typeface="Cambria Math" panose="02040503050406030204" pitchFamily="18" charset="0"/>
                                </a:rPr>
                                <m:t>𝑎</m:t>
                              </m:r>
                              <m:d>
                                <m:dPr>
                                  <m:ctrlPr>
                                    <a:rPr lang="en-US" sz="1600" i="1">
                                      <a:solidFill>
                                        <a:schemeClr val="tx1"/>
                                      </a:solidFill>
                                      <a:latin typeface="Cambria Math" panose="02040503050406030204" pitchFamily="18" charset="0"/>
                                    </a:rPr>
                                  </m:ctrlPr>
                                </m:dPr>
                                <m:e>
                                  <m:r>
                                    <a:rPr lang="en-US" sz="1600">
                                      <a:solidFill>
                                        <a:schemeClr val="tx1"/>
                                      </a:solidFill>
                                      <a:latin typeface="Cambria Math" panose="02040503050406030204" pitchFamily="18" charset="0"/>
                                    </a:rPr>
                                    <m:t>𝜃</m:t>
                                  </m:r>
                                </m:e>
                              </m:d>
                              <m:r>
                                <a:rPr lang="en-US" sz="1600">
                                  <a:solidFill>
                                    <a:schemeClr val="tx1"/>
                                  </a:solidFill>
                                  <a:latin typeface="Cambria Math" panose="02040503050406030204" pitchFamily="18" charset="0"/>
                                </a:rPr>
                                <m:t>𝑑</m:t>
                              </m:r>
                              <m:r>
                                <a:rPr lang="en-US" sz="1600">
                                  <a:solidFill>
                                    <a:schemeClr val="tx1"/>
                                  </a:solidFill>
                                  <a:latin typeface="Cambria Math" panose="02040503050406030204" pitchFamily="18" charset="0"/>
                                </a:rPr>
                                <m:t>𝜃</m:t>
                              </m:r>
                            </m:e>
                          </m:nary>
                        </m:e>
                      </m:d>
                    </m:oMath>
                  </m:oMathPara>
                </a14:m>
                <a:endParaRPr lang="ru-RU" sz="1600" dirty="0">
                  <a:solidFill>
                    <a:schemeClr val="tx1"/>
                  </a:solidFill>
                  <a:latin typeface="Cambria Math" panose="02040503050406030204" pitchFamily="18" charset="0"/>
                </a:endParaRPr>
              </a:p>
            </p:txBody>
          </p:sp>
        </mc:Choice>
        <mc:Fallback xmlns="">
          <p:sp>
            <p:nvSpPr>
              <p:cNvPr id="31" name="TextBox 30">
                <a:extLst>
                  <a:ext uri="{FF2B5EF4-FFF2-40B4-BE49-F238E27FC236}">
                    <a16:creationId xmlns:a16="http://schemas.microsoft.com/office/drawing/2014/main" id="{2A8021A8-52E5-AC2A-B244-AD92044D4F5A}"/>
                  </a:ext>
                </a:extLst>
              </p:cNvPr>
              <p:cNvSpPr txBox="1">
                <a:spLocks noRot="1" noChangeAspect="1" noMove="1" noResize="1" noEditPoints="1" noAdjustHandles="1" noChangeArrowheads="1" noChangeShapeType="1" noTextEdit="1"/>
              </p:cNvSpPr>
              <p:nvPr/>
            </p:nvSpPr>
            <p:spPr>
              <a:xfrm>
                <a:off x="342639" y="3983500"/>
                <a:ext cx="2711977" cy="650243"/>
              </a:xfrm>
              <a:prstGeom prst="rect">
                <a:avLst/>
              </a:prstGeom>
              <a:blipFill>
                <a:blip r:embed="rId7"/>
                <a:stretch>
                  <a:fillRect/>
                </a:stretch>
              </a:blipFill>
            </p:spPr>
            <p:txBody>
              <a:bodyPr/>
              <a:lstStyle/>
              <a:p>
                <a:r>
                  <a:rPr lang="ru-RU">
                    <a:noFill/>
                  </a:rPr>
                  <a:t> </a:t>
                </a:r>
              </a:p>
            </p:txBody>
          </p:sp>
        </mc:Fallback>
      </mc:AlternateContent>
      <p:pic>
        <p:nvPicPr>
          <p:cNvPr id="32" name="Рисунок 31">
            <a:extLst>
              <a:ext uri="{FF2B5EF4-FFF2-40B4-BE49-F238E27FC236}">
                <a16:creationId xmlns:a16="http://schemas.microsoft.com/office/drawing/2014/main" id="{70D4F12A-D17F-AD9A-BE05-8F52EFC8360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162376" y="3307781"/>
            <a:ext cx="1234218" cy="1501595"/>
          </a:xfrm>
          <a:prstGeom prst="rect">
            <a:avLst/>
          </a:prstGeom>
        </p:spPr>
      </p:pic>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201904C-1C4F-53EC-4FAD-ECA9B93A1DB7}"/>
                  </a:ext>
                </a:extLst>
              </p:cNvPr>
              <p:cNvSpPr txBox="1"/>
              <p:nvPr/>
            </p:nvSpPr>
            <p:spPr>
              <a:xfrm>
                <a:off x="5048803" y="4086326"/>
                <a:ext cx="2301665" cy="370294"/>
              </a:xfrm>
              <a:prstGeom prst="rect">
                <a:avLst/>
              </a:prstGeom>
              <a:noFill/>
            </p:spPr>
            <p:txBody>
              <a:bodyPr wrap="square" rtlCol="0" anchor="ctr" anchorCtr="0">
                <a:spAutoFit/>
              </a:bodyPr>
              <a:lstStyle/>
              <a:p>
                <a:pPr/>
                <a14:m>
                  <m:oMathPara xmlns:m="http://schemas.openxmlformats.org/officeDocument/2006/math">
                    <m:oMathParaPr>
                      <m:jc m:val="centerGroup"/>
                    </m:oMathParaPr>
                    <m:oMath xmlns:m="http://schemas.openxmlformats.org/officeDocument/2006/math">
                      <m:r>
                        <a:rPr lang="de-DE" sz="1600" i="1" smtClean="0">
                          <a:solidFill>
                            <a:schemeClr val="tx1"/>
                          </a:solidFill>
                          <a:latin typeface="Cambria Math" panose="02040503050406030204" pitchFamily="18" charset="0"/>
                        </a:rPr>
                        <m:t>𝑢</m:t>
                      </m:r>
                      <m:d>
                        <m:dPr>
                          <m:ctrlPr>
                            <a:rPr lang="de-DE" sz="1600" i="1">
                              <a:solidFill>
                                <a:schemeClr val="tx1"/>
                              </a:solidFill>
                              <a:latin typeface="Cambria Math" panose="02040503050406030204" pitchFamily="18" charset="0"/>
                            </a:rPr>
                          </m:ctrlPr>
                        </m:dPr>
                        <m:e>
                          <m:r>
                            <a:rPr lang="de-DE" sz="1600" i="1">
                              <a:solidFill>
                                <a:schemeClr val="tx1"/>
                              </a:solidFill>
                              <a:latin typeface="Cambria Math" panose="02040503050406030204" pitchFamily="18" charset="0"/>
                            </a:rPr>
                            <m:t>𝑥</m:t>
                          </m:r>
                          <m:r>
                            <a:rPr lang="de-DE" sz="1600" i="1">
                              <a:solidFill>
                                <a:schemeClr val="tx1"/>
                              </a:solidFill>
                              <a:latin typeface="Cambria Math" panose="02040503050406030204" pitchFamily="18" charset="0"/>
                            </a:rPr>
                            <m:t>,</m:t>
                          </m:r>
                          <m:r>
                            <a:rPr lang="de-DE" sz="1600" i="1">
                              <a:solidFill>
                                <a:schemeClr val="tx1"/>
                              </a:solidFill>
                              <a:latin typeface="Cambria Math" panose="02040503050406030204" pitchFamily="18" charset="0"/>
                            </a:rPr>
                            <m:t>𝑡</m:t>
                          </m:r>
                        </m:e>
                      </m:d>
                      <m:r>
                        <a:rPr lang="de-DE" sz="1600" i="1">
                          <a:solidFill>
                            <a:schemeClr val="tx1"/>
                          </a:solidFill>
                          <a:latin typeface="Cambria Math" panose="02040503050406030204" pitchFamily="18" charset="0"/>
                        </a:rPr>
                        <m:t>=</m:t>
                      </m:r>
                      <m:r>
                        <a:rPr lang="de-DE" sz="1600" i="1">
                          <a:solidFill>
                            <a:schemeClr val="tx1"/>
                          </a:solidFill>
                          <a:latin typeface="Cambria Math" panose="02040503050406030204" pitchFamily="18" charset="0"/>
                        </a:rPr>
                        <m:t>𝜙</m:t>
                      </m:r>
                      <m:d>
                        <m:dPr>
                          <m:ctrlPr>
                            <a:rPr lang="de-DE" sz="1600" i="1">
                              <a:solidFill>
                                <a:schemeClr val="tx1"/>
                              </a:solidFill>
                              <a:latin typeface="Cambria Math" panose="02040503050406030204" pitchFamily="18" charset="0"/>
                            </a:rPr>
                          </m:ctrlPr>
                        </m:dPr>
                        <m:e>
                          <m:sSup>
                            <m:sSupPr>
                              <m:ctrlPr>
                                <a:rPr lang="de-DE" sz="1600" i="1">
                                  <a:solidFill>
                                    <a:schemeClr val="tx1"/>
                                  </a:solidFill>
                                  <a:latin typeface="Cambria Math" panose="02040503050406030204" pitchFamily="18" charset="0"/>
                                </a:rPr>
                              </m:ctrlPr>
                            </m:sSupPr>
                            <m:e>
                              <m:r>
                                <a:rPr lang="de-DE" sz="1600" i="1">
                                  <a:solidFill>
                                    <a:schemeClr val="tx1"/>
                                  </a:solidFill>
                                  <a:latin typeface="Cambria Math" panose="02040503050406030204" pitchFamily="18" charset="0"/>
                                </a:rPr>
                                <m:t>𝑒</m:t>
                              </m:r>
                            </m:e>
                            <m:sup>
                              <m:r>
                                <a:rPr lang="de-DE" sz="1600" i="1">
                                  <a:solidFill>
                                    <a:schemeClr val="tx1"/>
                                  </a:solidFill>
                                  <a:latin typeface="Cambria Math" panose="02040503050406030204" pitchFamily="18" charset="0"/>
                                </a:rPr>
                                <m:t>−</m:t>
                              </m:r>
                              <m:r>
                                <a:rPr lang="de-DE" sz="1600" i="1">
                                  <a:solidFill>
                                    <a:schemeClr val="tx1"/>
                                  </a:solidFill>
                                  <a:latin typeface="Cambria Math" panose="02040503050406030204" pitchFamily="18" charset="0"/>
                                </a:rPr>
                                <m:t>𝑡</m:t>
                              </m:r>
                            </m:sup>
                          </m:sSup>
                          <m:d>
                            <m:dPr>
                              <m:ctrlPr>
                                <a:rPr lang="de-DE" sz="1600" i="1">
                                  <a:solidFill>
                                    <a:schemeClr val="tx1"/>
                                  </a:solidFill>
                                  <a:latin typeface="Cambria Math" panose="02040503050406030204" pitchFamily="18" charset="0"/>
                                </a:rPr>
                              </m:ctrlPr>
                            </m:dPr>
                            <m:e>
                              <m:r>
                                <a:rPr lang="de-DE" sz="1600" i="1">
                                  <a:solidFill>
                                    <a:schemeClr val="tx1"/>
                                  </a:solidFill>
                                  <a:latin typeface="Cambria Math" panose="02040503050406030204" pitchFamily="18" charset="0"/>
                                </a:rPr>
                                <m:t>𝑥</m:t>
                              </m:r>
                              <m:r>
                                <a:rPr lang="de-DE" sz="1600" i="1">
                                  <a:solidFill>
                                    <a:schemeClr val="tx1"/>
                                  </a:solidFill>
                                  <a:latin typeface="Cambria Math" panose="02040503050406030204" pitchFamily="18" charset="0"/>
                                </a:rPr>
                                <m:t>−</m:t>
                              </m:r>
                              <m:r>
                                <a:rPr lang="de-DE" sz="1600" i="1">
                                  <a:solidFill>
                                    <a:schemeClr val="tx1"/>
                                  </a:solidFill>
                                  <a:latin typeface="Cambria Math" panose="02040503050406030204" pitchFamily="18" charset="0"/>
                                </a:rPr>
                                <m:t>𝑡</m:t>
                              </m:r>
                            </m:e>
                          </m:d>
                        </m:e>
                      </m:d>
                    </m:oMath>
                  </m:oMathPara>
                </a14:m>
                <a:endParaRPr lang="ru-RU" sz="1600" i="1" dirty="0">
                  <a:solidFill>
                    <a:schemeClr val="tx1"/>
                  </a:solidFill>
                  <a:latin typeface="Cambria Math" panose="02040503050406030204" pitchFamily="18" charset="0"/>
                </a:endParaRPr>
              </a:p>
            </p:txBody>
          </p:sp>
        </mc:Choice>
        <mc:Fallback xmlns="">
          <p:sp>
            <p:nvSpPr>
              <p:cNvPr id="33" name="TextBox 32">
                <a:extLst>
                  <a:ext uri="{FF2B5EF4-FFF2-40B4-BE49-F238E27FC236}">
                    <a16:creationId xmlns:a16="http://schemas.microsoft.com/office/drawing/2014/main" id="{E201904C-1C4F-53EC-4FAD-ECA9B93A1DB7}"/>
                  </a:ext>
                </a:extLst>
              </p:cNvPr>
              <p:cNvSpPr txBox="1">
                <a:spLocks noRot="1" noChangeAspect="1" noMove="1" noResize="1" noEditPoints="1" noAdjustHandles="1" noChangeArrowheads="1" noChangeShapeType="1" noTextEdit="1"/>
              </p:cNvSpPr>
              <p:nvPr/>
            </p:nvSpPr>
            <p:spPr>
              <a:xfrm>
                <a:off x="5048803" y="4086326"/>
                <a:ext cx="2301665" cy="370294"/>
              </a:xfrm>
              <a:prstGeom prst="rect">
                <a:avLst/>
              </a:prstGeom>
              <a:blipFill>
                <a:blip r:embed="rId9"/>
                <a:stretch>
                  <a:fillRect b="-8197"/>
                </a:stretch>
              </a:blipFill>
            </p:spPr>
            <p:txBody>
              <a:bodyPr/>
              <a:lstStyle/>
              <a:p>
                <a:r>
                  <a:rPr lang="ru-RU">
                    <a:noFill/>
                  </a:rPr>
                  <a:t> </a:t>
                </a:r>
              </a:p>
            </p:txBody>
          </p:sp>
        </mc:Fallback>
      </mc:AlternateContent>
      <p:pic>
        <p:nvPicPr>
          <p:cNvPr id="34" name="Рисунок 33">
            <a:extLst>
              <a:ext uri="{FF2B5EF4-FFF2-40B4-BE49-F238E27FC236}">
                <a16:creationId xmlns:a16="http://schemas.microsoft.com/office/drawing/2014/main" id="{B215DD60-1784-0924-F1D6-F11A871A7B4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632267" y="3300404"/>
            <a:ext cx="1232249" cy="1508973"/>
          </a:xfrm>
          <a:prstGeom prst="rect">
            <a:avLst/>
          </a:prstGeom>
        </p:spPr>
      </p:pic>
    </p:spTree>
    <p:extLst>
      <p:ext uri="{BB962C8B-B14F-4D97-AF65-F5344CB8AC3E}">
        <p14:creationId xmlns:p14="http://schemas.microsoft.com/office/powerpoint/2010/main" val="3622463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A2B4A"/>
          </a:solidFill>
          <a:ln w="12700">
            <a:solidFill>
              <a:srgbClr val="1A2B4A"/>
            </a:solidFill>
            <a:prstDash val="solid"/>
          </a:ln>
        </p:spPr>
        <p:txBody>
          <a:bodyPr/>
          <a:lstStyle/>
          <a:p>
            <a:endParaRPr lang="ru-RU"/>
          </a:p>
        </p:txBody>
      </p:sp>
      <p:sp>
        <p:nvSpPr>
          <p:cNvPr id="3" name="Text 1"/>
          <p:cNvSpPr/>
          <p:nvPr/>
        </p:nvSpPr>
        <p:spPr>
          <a:xfrm>
            <a:off x="457200" y="0"/>
            <a:ext cx="8229600" cy="914400"/>
          </a:xfrm>
          <a:prstGeom prst="rect">
            <a:avLst/>
          </a:prstGeom>
          <a:noFill/>
          <a:ln/>
        </p:spPr>
        <p:txBody>
          <a:bodyPr wrap="square" lIns="0" tIns="0" rIns="0" bIns="0" rtlCol="0" anchor="ctr"/>
          <a:lstStyle/>
          <a:p>
            <a:pPr marL="0" indent="0" algn="l">
              <a:buNone/>
            </a:pPr>
            <a:r>
              <a:rPr lang="en-US" sz="2000" b="1" dirty="0">
                <a:solidFill>
                  <a:srgbClr val="FFFFFF"/>
                </a:solidFill>
              </a:rPr>
              <a:t>РЕАЛИЗОВАННЫЕ СХЕМЫ</a:t>
            </a:r>
            <a:endParaRPr lang="en-US" sz="2000" dirty="0"/>
          </a:p>
        </p:txBody>
      </p:sp>
      <p:sp>
        <p:nvSpPr>
          <p:cNvPr id="4" name="Shape 2"/>
          <p:cNvSpPr/>
          <p:nvPr/>
        </p:nvSpPr>
        <p:spPr>
          <a:xfrm>
            <a:off x="0" y="914400"/>
            <a:ext cx="9144000" cy="45720"/>
          </a:xfrm>
          <a:prstGeom prst="rect">
            <a:avLst/>
          </a:prstGeom>
          <a:solidFill>
            <a:srgbClr val="12A0B5"/>
          </a:solidFill>
          <a:ln w="12700">
            <a:solidFill>
              <a:srgbClr val="12A0B5"/>
            </a:solidFill>
            <a:prstDash val="solid"/>
          </a:ln>
        </p:spPr>
        <p:txBody>
          <a:bodyPr/>
          <a:lstStyle/>
          <a:p>
            <a:endParaRPr lang="ru-RU"/>
          </a:p>
        </p:txBody>
      </p:sp>
      <p:sp>
        <p:nvSpPr>
          <p:cNvPr id="5" name="Shape 3"/>
          <p:cNvSpPr/>
          <p:nvPr/>
        </p:nvSpPr>
        <p:spPr>
          <a:xfrm>
            <a:off x="274320" y="1051560"/>
            <a:ext cx="4114800" cy="502920"/>
          </a:xfrm>
          <a:prstGeom prst="rect">
            <a:avLst/>
          </a:prstGeom>
          <a:solidFill>
            <a:srgbClr val="1565A8"/>
          </a:solidFill>
          <a:ln w="12700">
            <a:solidFill>
              <a:srgbClr val="1565A8"/>
            </a:solidFill>
            <a:prstDash val="solid"/>
          </a:ln>
        </p:spPr>
        <p:txBody>
          <a:bodyPr/>
          <a:lstStyle/>
          <a:p>
            <a:endParaRPr lang="ru-RU"/>
          </a:p>
        </p:txBody>
      </p:sp>
      <p:sp>
        <p:nvSpPr>
          <p:cNvPr id="6" name="Text 4"/>
          <p:cNvSpPr/>
          <p:nvPr/>
        </p:nvSpPr>
        <p:spPr>
          <a:xfrm>
            <a:off x="274320" y="1051560"/>
            <a:ext cx="4114800" cy="502920"/>
          </a:xfrm>
          <a:prstGeom prst="rect">
            <a:avLst/>
          </a:prstGeom>
          <a:noFill/>
          <a:ln/>
        </p:spPr>
        <p:txBody>
          <a:bodyPr wrap="square" lIns="0" tIns="0" rIns="0" bIns="0" rtlCol="0" anchor="ctr"/>
          <a:lstStyle/>
          <a:p>
            <a:pPr marL="0" indent="0" algn="ctr">
              <a:buNone/>
            </a:pPr>
            <a:r>
              <a:rPr lang="en-US" sz="1300" b="1" dirty="0">
                <a:solidFill>
                  <a:srgbClr val="FFFFFF"/>
                </a:solidFill>
              </a:rPr>
              <a:t>ЯВНЫЕ СХЕМЫ</a:t>
            </a:r>
            <a:endParaRPr lang="en-US" sz="1300" dirty="0"/>
          </a:p>
        </p:txBody>
      </p:sp>
      <p:sp>
        <p:nvSpPr>
          <p:cNvPr id="7" name="Shape 5"/>
          <p:cNvSpPr/>
          <p:nvPr/>
        </p:nvSpPr>
        <p:spPr>
          <a:xfrm>
            <a:off x="274320" y="1691640"/>
            <a:ext cx="2292691" cy="8686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ru-RU"/>
          </a:p>
        </p:txBody>
      </p:sp>
      <p:sp>
        <p:nvSpPr>
          <p:cNvPr id="8" name="Shape 6"/>
          <p:cNvSpPr/>
          <p:nvPr/>
        </p:nvSpPr>
        <p:spPr>
          <a:xfrm>
            <a:off x="274320" y="1691640"/>
            <a:ext cx="91440" cy="868680"/>
          </a:xfrm>
          <a:prstGeom prst="rect">
            <a:avLst/>
          </a:prstGeom>
          <a:solidFill>
            <a:srgbClr val="1565A8"/>
          </a:solidFill>
          <a:ln w="12700">
            <a:solidFill>
              <a:srgbClr val="1565A8"/>
            </a:solidFill>
            <a:prstDash val="solid"/>
          </a:ln>
        </p:spPr>
        <p:txBody>
          <a:bodyPr/>
          <a:lstStyle/>
          <a:p>
            <a:endParaRPr lang="ru-RU"/>
          </a:p>
        </p:txBody>
      </p:sp>
      <p:sp>
        <p:nvSpPr>
          <p:cNvPr id="9" name="Text 7"/>
          <p:cNvSpPr/>
          <p:nvPr/>
        </p:nvSpPr>
        <p:spPr>
          <a:xfrm>
            <a:off x="457200" y="1691640"/>
            <a:ext cx="3840480" cy="868680"/>
          </a:xfrm>
          <a:prstGeom prst="rect">
            <a:avLst/>
          </a:prstGeom>
          <a:noFill/>
          <a:ln/>
        </p:spPr>
        <p:txBody>
          <a:bodyPr wrap="square" rtlCol="0" anchor="ctr"/>
          <a:lstStyle/>
          <a:p>
            <a:pPr marL="0" indent="0">
              <a:buNone/>
            </a:pPr>
            <a:r>
              <a:rPr lang="en-US" sz="1100" dirty="0">
                <a:solidFill>
                  <a:srgbClr val="1A2B4A"/>
                </a:solidFill>
              </a:rPr>
              <a:t>Схема «против потока»</a:t>
            </a:r>
            <a:endParaRPr lang="en-US" sz="1100" dirty="0"/>
          </a:p>
          <a:p>
            <a:pPr marL="0" indent="0">
              <a:buNone/>
            </a:pPr>
            <a:r>
              <a:rPr lang="en-US" sz="1100" dirty="0">
                <a:solidFill>
                  <a:srgbClr val="1A2B4A"/>
                </a:solidFill>
              </a:rPr>
              <a:t>(1-й порядок, условно устойчива)</a:t>
            </a:r>
            <a:endParaRPr lang="en-US" sz="1100" dirty="0"/>
          </a:p>
        </p:txBody>
      </p:sp>
      <p:sp>
        <p:nvSpPr>
          <p:cNvPr id="10" name="Shape 8"/>
          <p:cNvSpPr/>
          <p:nvPr/>
        </p:nvSpPr>
        <p:spPr>
          <a:xfrm>
            <a:off x="267629" y="2978862"/>
            <a:ext cx="2292691" cy="8686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ru-RU"/>
          </a:p>
        </p:txBody>
      </p:sp>
      <p:sp>
        <p:nvSpPr>
          <p:cNvPr id="11" name="Shape 9"/>
          <p:cNvSpPr/>
          <p:nvPr/>
        </p:nvSpPr>
        <p:spPr>
          <a:xfrm>
            <a:off x="267629" y="2978862"/>
            <a:ext cx="91440" cy="868680"/>
          </a:xfrm>
          <a:prstGeom prst="rect">
            <a:avLst/>
          </a:prstGeom>
          <a:solidFill>
            <a:srgbClr val="1565A8"/>
          </a:solidFill>
          <a:ln w="12700">
            <a:solidFill>
              <a:srgbClr val="1565A8"/>
            </a:solidFill>
            <a:prstDash val="solid"/>
          </a:ln>
        </p:spPr>
        <p:txBody>
          <a:bodyPr/>
          <a:lstStyle/>
          <a:p>
            <a:endParaRPr lang="ru-RU"/>
          </a:p>
        </p:txBody>
      </p:sp>
      <p:sp>
        <p:nvSpPr>
          <p:cNvPr id="12" name="Text 10"/>
          <p:cNvSpPr/>
          <p:nvPr/>
        </p:nvSpPr>
        <p:spPr>
          <a:xfrm>
            <a:off x="450509" y="2978862"/>
            <a:ext cx="3840480" cy="868680"/>
          </a:xfrm>
          <a:prstGeom prst="rect">
            <a:avLst/>
          </a:prstGeom>
          <a:noFill/>
          <a:ln/>
        </p:spPr>
        <p:txBody>
          <a:bodyPr wrap="square" rtlCol="0" anchor="ctr"/>
          <a:lstStyle/>
          <a:p>
            <a:pPr marL="0" indent="0">
              <a:buNone/>
            </a:pPr>
            <a:r>
              <a:rPr lang="en-US" sz="1100" dirty="0">
                <a:solidFill>
                  <a:srgbClr val="1A2B4A"/>
                </a:solidFill>
              </a:rPr>
              <a:t>Схема Лакса–Фридрихса</a:t>
            </a:r>
            <a:endParaRPr lang="en-US" sz="1100" dirty="0"/>
          </a:p>
          <a:p>
            <a:pPr marL="0" indent="0">
              <a:buNone/>
            </a:pPr>
            <a:r>
              <a:rPr lang="en-US" sz="1100" dirty="0">
                <a:solidFill>
                  <a:srgbClr val="1A2B4A"/>
                </a:solidFill>
              </a:rPr>
              <a:t>(1-й порядок, условно устойчива)</a:t>
            </a:r>
            <a:endParaRPr lang="en-US" sz="1100" dirty="0"/>
          </a:p>
        </p:txBody>
      </p:sp>
      <p:sp>
        <p:nvSpPr>
          <p:cNvPr id="13" name="Text 11"/>
          <p:cNvSpPr/>
          <p:nvPr/>
        </p:nvSpPr>
        <p:spPr>
          <a:xfrm>
            <a:off x="274320" y="4116844"/>
            <a:ext cx="4114800" cy="502920"/>
          </a:xfrm>
          <a:prstGeom prst="rect">
            <a:avLst/>
          </a:prstGeom>
          <a:noFill/>
          <a:ln/>
        </p:spPr>
        <p:txBody>
          <a:bodyPr wrap="square" rtlCol="0" anchor="ctr"/>
          <a:lstStyle/>
          <a:p>
            <a:pPr marL="0" indent="0">
              <a:buNone/>
            </a:pPr>
            <a:r>
              <a:rPr lang="en-US" sz="1050" dirty="0">
                <a:solidFill>
                  <a:srgbClr val="64748B"/>
                </a:solidFill>
              </a:rPr>
              <a:t>→  Условие устойчивости: |a·Δt/Δx| ≤ 1 (число Куранта)</a:t>
            </a:r>
            <a:endParaRPr lang="en-US" sz="1050" dirty="0"/>
          </a:p>
        </p:txBody>
      </p:sp>
      <p:sp>
        <p:nvSpPr>
          <p:cNvPr id="14" name="Text 12"/>
          <p:cNvSpPr/>
          <p:nvPr/>
        </p:nvSpPr>
        <p:spPr>
          <a:xfrm>
            <a:off x="267629" y="4543935"/>
            <a:ext cx="4114800" cy="502920"/>
          </a:xfrm>
          <a:prstGeom prst="rect">
            <a:avLst/>
          </a:prstGeom>
          <a:noFill/>
          <a:ln/>
        </p:spPr>
        <p:txBody>
          <a:bodyPr wrap="square" rtlCol="0" anchor="ctr"/>
          <a:lstStyle/>
          <a:p>
            <a:pPr marL="0" indent="0">
              <a:buNone/>
            </a:pPr>
            <a:r>
              <a:rPr lang="en-US" sz="1050" dirty="0">
                <a:solidFill>
                  <a:srgbClr val="64748B"/>
                </a:solidFill>
              </a:rPr>
              <a:t>→  Минимальные вычислительные затраты на шаг</a:t>
            </a:r>
            <a:endParaRPr lang="en-US" sz="1050" dirty="0"/>
          </a:p>
        </p:txBody>
      </p:sp>
      <p:sp>
        <p:nvSpPr>
          <p:cNvPr id="15" name="Shape 13"/>
          <p:cNvSpPr/>
          <p:nvPr/>
        </p:nvSpPr>
        <p:spPr>
          <a:xfrm>
            <a:off x="4754880" y="1051560"/>
            <a:ext cx="4114800" cy="502920"/>
          </a:xfrm>
          <a:prstGeom prst="rect">
            <a:avLst/>
          </a:prstGeom>
          <a:solidFill>
            <a:srgbClr val="0D7B8A"/>
          </a:solidFill>
          <a:ln w="12700">
            <a:solidFill>
              <a:srgbClr val="0D7B8A"/>
            </a:solidFill>
            <a:prstDash val="solid"/>
          </a:ln>
        </p:spPr>
        <p:txBody>
          <a:bodyPr/>
          <a:lstStyle/>
          <a:p>
            <a:endParaRPr lang="ru-RU"/>
          </a:p>
        </p:txBody>
      </p:sp>
      <p:sp>
        <p:nvSpPr>
          <p:cNvPr id="16" name="Text 14"/>
          <p:cNvSpPr/>
          <p:nvPr/>
        </p:nvSpPr>
        <p:spPr>
          <a:xfrm>
            <a:off x="4754880" y="1051560"/>
            <a:ext cx="4114800" cy="502920"/>
          </a:xfrm>
          <a:prstGeom prst="rect">
            <a:avLst/>
          </a:prstGeom>
          <a:noFill/>
          <a:ln/>
        </p:spPr>
        <p:txBody>
          <a:bodyPr wrap="square" lIns="0" tIns="0" rIns="0" bIns="0" rtlCol="0" anchor="ctr"/>
          <a:lstStyle/>
          <a:p>
            <a:pPr marL="0" indent="0" algn="ctr">
              <a:buNone/>
            </a:pPr>
            <a:r>
              <a:rPr lang="en-US" sz="1300" b="1" dirty="0">
                <a:solidFill>
                  <a:srgbClr val="FFFFFF"/>
                </a:solidFill>
              </a:rPr>
              <a:t>НЕЯВНЫЕ СХЕМЫ</a:t>
            </a:r>
            <a:endParaRPr lang="en-US" sz="1300" dirty="0"/>
          </a:p>
        </p:txBody>
      </p:sp>
      <p:sp>
        <p:nvSpPr>
          <p:cNvPr id="17" name="Shape 15"/>
          <p:cNvSpPr/>
          <p:nvPr/>
        </p:nvSpPr>
        <p:spPr>
          <a:xfrm>
            <a:off x="4754880" y="1691640"/>
            <a:ext cx="2292691" cy="8686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ru-RU"/>
          </a:p>
        </p:txBody>
      </p:sp>
      <p:sp>
        <p:nvSpPr>
          <p:cNvPr id="18" name="Shape 16"/>
          <p:cNvSpPr/>
          <p:nvPr/>
        </p:nvSpPr>
        <p:spPr>
          <a:xfrm>
            <a:off x="4754880" y="1691640"/>
            <a:ext cx="91440" cy="868680"/>
          </a:xfrm>
          <a:prstGeom prst="rect">
            <a:avLst/>
          </a:prstGeom>
          <a:solidFill>
            <a:srgbClr val="0D7B8A"/>
          </a:solidFill>
          <a:ln w="12700">
            <a:solidFill>
              <a:srgbClr val="0D7B8A"/>
            </a:solidFill>
            <a:prstDash val="solid"/>
          </a:ln>
        </p:spPr>
        <p:txBody>
          <a:bodyPr/>
          <a:lstStyle/>
          <a:p>
            <a:endParaRPr lang="ru-RU"/>
          </a:p>
        </p:txBody>
      </p:sp>
      <p:sp>
        <p:nvSpPr>
          <p:cNvPr id="19" name="Text 17"/>
          <p:cNvSpPr/>
          <p:nvPr/>
        </p:nvSpPr>
        <p:spPr>
          <a:xfrm>
            <a:off x="4800600" y="1685135"/>
            <a:ext cx="3840480" cy="868680"/>
          </a:xfrm>
          <a:prstGeom prst="rect">
            <a:avLst/>
          </a:prstGeom>
          <a:noFill/>
          <a:ln/>
        </p:spPr>
        <p:txBody>
          <a:bodyPr wrap="square" rtlCol="0" anchor="ctr"/>
          <a:lstStyle/>
          <a:p>
            <a:pPr marL="0" indent="0">
              <a:buNone/>
            </a:pPr>
            <a:r>
              <a:rPr lang="en-US" sz="1100" dirty="0">
                <a:solidFill>
                  <a:srgbClr val="1A2B4A"/>
                </a:solidFill>
              </a:rPr>
              <a:t>Кранка–Николсона (на </a:t>
            </a:r>
            <a:r>
              <a:rPr lang="en-US" sz="1100" dirty="0" err="1">
                <a:solidFill>
                  <a:srgbClr val="1A2B4A"/>
                </a:solidFill>
              </a:rPr>
              <a:t>базе</a:t>
            </a:r>
            <a:r>
              <a:rPr lang="en-US" sz="1100" dirty="0">
                <a:solidFill>
                  <a:srgbClr val="1A2B4A"/>
                </a:solidFill>
              </a:rPr>
              <a:t> </a:t>
            </a:r>
          </a:p>
          <a:p>
            <a:pPr marL="0" indent="0">
              <a:buNone/>
            </a:pPr>
            <a:r>
              <a:rPr lang="en-US" sz="1100" dirty="0">
                <a:solidFill>
                  <a:srgbClr val="1A2B4A"/>
                </a:solidFill>
              </a:rPr>
              <a:t>«против потока»)</a:t>
            </a:r>
            <a:endParaRPr lang="en-US" sz="1100" dirty="0"/>
          </a:p>
          <a:p>
            <a:pPr marL="0" indent="0">
              <a:buNone/>
            </a:pPr>
            <a:r>
              <a:rPr lang="en-US" sz="1100" dirty="0">
                <a:solidFill>
                  <a:srgbClr val="1A2B4A"/>
                </a:solidFill>
              </a:rPr>
              <a:t>(2-й порядок, </a:t>
            </a:r>
          </a:p>
          <a:p>
            <a:pPr marL="0" indent="0">
              <a:buNone/>
            </a:pPr>
            <a:r>
              <a:rPr lang="en-US" sz="1100" dirty="0" err="1">
                <a:solidFill>
                  <a:srgbClr val="1A2B4A"/>
                </a:solidFill>
              </a:rPr>
              <a:t>безусловно</a:t>
            </a:r>
            <a:r>
              <a:rPr lang="en-US" sz="1100" dirty="0">
                <a:solidFill>
                  <a:srgbClr val="1A2B4A"/>
                </a:solidFill>
              </a:rPr>
              <a:t> устойчива)</a:t>
            </a:r>
            <a:endParaRPr lang="en-US" sz="1100" dirty="0"/>
          </a:p>
        </p:txBody>
      </p:sp>
      <p:sp>
        <p:nvSpPr>
          <p:cNvPr id="20" name="Shape 18"/>
          <p:cNvSpPr/>
          <p:nvPr/>
        </p:nvSpPr>
        <p:spPr>
          <a:xfrm>
            <a:off x="4807291" y="2994009"/>
            <a:ext cx="2246971" cy="8686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ru-RU"/>
          </a:p>
        </p:txBody>
      </p:sp>
      <p:sp>
        <p:nvSpPr>
          <p:cNvPr id="21" name="Shape 19"/>
          <p:cNvSpPr/>
          <p:nvPr/>
        </p:nvSpPr>
        <p:spPr>
          <a:xfrm>
            <a:off x="4761571" y="2987504"/>
            <a:ext cx="91440" cy="868680"/>
          </a:xfrm>
          <a:prstGeom prst="rect">
            <a:avLst/>
          </a:prstGeom>
          <a:solidFill>
            <a:srgbClr val="0D7B8A"/>
          </a:solidFill>
          <a:ln w="12700">
            <a:solidFill>
              <a:srgbClr val="0D7B8A"/>
            </a:solidFill>
            <a:prstDash val="solid"/>
          </a:ln>
        </p:spPr>
        <p:txBody>
          <a:bodyPr/>
          <a:lstStyle/>
          <a:p>
            <a:endParaRPr lang="ru-RU"/>
          </a:p>
        </p:txBody>
      </p:sp>
      <p:sp>
        <p:nvSpPr>
          <p:cNvPr id="22" name="Text 20"/>
          <p:cNvSpPr/>
          <p:nvPr/>
        </p:nvSpPr>
        <p:spPr>
          <a:xfrm>
            <a:off x="4853011" y="2972357"/>
            <a:ext cx="3840480" cy="868680"/>
          </a:xfrm>
          <a:prstGeom prst="rect">
            <a:avLst/>
          </a:prstGeom>
          <a:noFill/>
          <a:ln/>
        </p:spPr>
        <p:txBody>
          <a:bodyPr wrap="square" rtlCol="0" anchor="ctr"/>
          <a:lstStyle/>
          <a:p>
            <a:pPr marL="0" indent="0">
              <a:buNone/>
            </a:pPr>
            <a:r>
              <a:rPr lang="en-US" sz="1100" dirty="0">
                <a:solidFill>
                  <a:srgbClr val="1A2B4A"/>
                </a:solidFill>
              </a:rPr>
              <a:t>Схема Лакса–Вендроффа</a:t>
            </a:r>
            <a:endParaRPr lang="en-US" sz="1100" dirty="0"/>
          </a:p>
          <a:p>
            <a:pPr marL="0" indent="0">
              <a:buNone/>
            </a:pPr>
            <a:r>
              <a:rPr lang="en-US" sz="1100" dirty="0">
                <a:solidFill>
                  <a:srgbClr val="1A2B4A"/>
                </a:solidFill>
              </a:rPr>
              <a:t>(2-й порядок, </a:t>
            </a:r>
          </a:p>
          <a:p>
            <a:pPr marL="0" indent="0">
              <a:buNone/>
            </a:pPr>
            <a:r>
              <a:rPr lang="en-US" sz="1100" dirty="0" err="1">
                <a:solidFill>
                  <a:srgbClr val="1A2B4A"/>
                </a:solidFill>
              </a:rPr>
              <a:t>безусловно</a:t>
            </a:r>
            <a:r>
              <a:rPr lang="en-US" sz="1100" dirty="0">
                <a:solidFill>
                  <a:srgbClr val="1A2B4A"/>
                </a:solidFill>
              </a:rPr>
              <a:t> устойчива)</a:t>
            </a:r>
            <a:endParaRPr lang="en-US" sz="1100" dirty="0"/>
          </a:p>
        </p:txBody>
      </p:sp>
      <p:sp>
        <p:nvSpPr>
          <p:cNvPr id="23" name="Text 21"/>
          <p:cNvSpPr/>
          <p:nvPr/>
        </p:nvSpPr>
        <p:spPr>
          <a:xfrm>
            <a:off x="4754880" y="4206240"/>
            <a:ext cx="4114800" cy="502920"/>
          </a:xfrm>
          <a:prstGeom prst="rect">
            <a:avLst/>
          </a:prstGeom>
          <a:noFill/>
          <a:ln/>
        </p:spPr>
        <p:txBody>
          <a:bodyPr wrap="square" rtlCol="0" anchor="ctr"/>
          <a:lstStyle/>
          <a:p>
            <a:pPr marL="0" indent="0">
              <a:buNone/>
            </a:pPr>
            <a:r>
              <a:rPr lang="en-US" sz="1050" dirty="0">
                <a:solidFill>
                  <a:srgbClr val="64748B"/>
                </a:solidFill>
              </a:rPr>
              <a:t>→  Безусловная устойчивость по числу Куранта</a:t>
            </a:r>
            <a:endParaRPr lang="en-US" sz="1050" dirty="0"/>
          </a:p>
        </p:txBody>
      </p:sp>
      <p:sp>
        <p:nvSpPr>
          <p:cNvPr id="24" name="Text 22"/>
          <p:cNvSpPr/>
          <p:nvPr/>
        </p:nvSpPr>
        <p:spPr>
          <a:xfrm>
            <a:off x="4754880" y="4624782"/>
            <a:ext cx="4114800" cy="502920"/>
          </a:xfrm>
          <a:prstGeom prst="rect">
            <a:avLst/>
          </a:prstGeom>
          <a:noFill/>
          <a:ln/>
        </p:spPr>
        <p:txBody>
          <a:bodyPr wrap="square" rtlCol="0" anchor="ctr"/>
          <a:lstStyle/>
          <a:p>
            <a:pPr marL="0" indent="0">
              <a:buNone/>
            </a:pPr>
            <a:r>
              <a:rPr lang="en-US" sz="1050" dirty="0">
                <a:solidFill>
                  <a:srgbClr val="64748B"/>
                </a:solidFill>
              </a:rPr>
              <a:t>→  Требуют решения системы уравнений на каждом шаге</a:t>
            </a:r>
            <a:endParaRPr lang="en-US" sz="1050" dirty="0"/>
          </a:p>
        </p:txBody>
      </p:sp>
      <p:pic>
        <p:nvPicPr>
          <p:cNvPr id="25" name="Рисунок 24">
            <a:extLst>
              <a:ext uri="{FF2B5EF4-FFF2-40B4-BE49-F238E27FC236}">
                <a16:creationId xmlns:a16="http://schemas.microsoft.com/office/drawing/2014/main" id="{7751D933-C998-F8CB-AF36-A9E97AFC05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58451" y="1686250"/>
            <a:ext cx="1730669" cy="2172072"/>
          </a:xfrm>
          <a:prstGeom prst="rect">
            <a:avLst/>
          </a:prstGeom>
        </p:spPr>
      </p:pic>
      <p:pic>
        <p:nvPicPr>
          <p:cNvPr id="26" name="Рисунок 25">
            <a:extLst>
              <a:ext uri="{FF2B5EF4-FFF2-40B4-BE49-F238E27FC236}">
                <a16:creationId xmlns:a16="http://schemas.microsoft.com/office/drawing/2014/main" id="{E2F8108F-F153-FC77-1867-3EFF62CF04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39011" y="1686250"/>
            <a:ext cx="1730669" cy="221240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5F2B8-64BE-7964-E467-CB542B0BDE8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689913F-B4C1-CBC9-9885-C5224335DC66}"/>
              </a:ext>
            </a:extLst>
          </p:cNvPr>
          <p:cNvSpPr/>
          <p:nvPr/>
        </p:nvSpPr>
        <p:spPr>
          <a:xfrm>
            <a:off x="0" y="0"/>
            <a:ext cx="9144000" cy="914400"/>
          </a:xfrm>
          <a:prstGeom prst="rect">
            <a:avLst/>
          </a:prstGeom>
          <a:solidFill>
            <a:srgbClr val="1A2B4A"/>
          </a:solidFill>
          <a:ln w="12700">
            <a:solidFill>
              <a:srgbClr val="1A2B4A"/>
            </a:solidFill>
            <a:prstDash val="solid"/>
          </a:ln>
        </p:spPr>
        <p:txBody>
          <a:bodyPr/>
          <a:lstStyle/>
          <a:p>
            <a:endParaRPr lang="ru-RU"/>
          </a:p>
        </p:txBody>
      </p:sp>
      <p:sp>
        <p:nvSpPr>
          <p:cNvPr id="3" name="Text 1">
            <a:extLst>
              <a:ext uri="{FF2B5EF4-FFF2-40B4-BE49-F238E27FC236}">
                <a16:creationId xmlns:a16="http://schemas.microsoft.com/office/drawing/2014/main" id="{5EFAE831-ADDA-4684-85C3-CB33C5F0BE6E}"/>
              </a:ext>
            </a:extLst>
          </p:cNvPr>
          <p:cNvSpPr/>
          <p:nvPr/>
        </p:nvSpPr>
        <p:spPr>
          <a:xfrm>
            <a:off x="457200" y="0"/>
            <a:ext cx="8229600" cy="914400"/>
          </a:xfrm>
          <a:prstGeom prst="rect">
            <a:avLst/>
          </a:prstGeom>
          <a:noFill/>
          <a:ln/>
        </p:spPr>
        <p:txBody>
          <a:bodyPr wrap="square" lIns="0" tIns="0" rIns="0" bIns="0" rtlCol="0" anchor="ctr"/>
          <a:lstStyle/>
          <a:p>
            <a:r>
              <a:rPr lang="en-US" sz="2000" b="1" dirty="0">
                <a:solidFill>
                  <a:srgbClr val="FFFFFF"/>
                </a:solidFill>
              </a:rPr>
              <a:t>РЕЗУЛЬТАТЫ</a:t>
            </a:r>
            <a:endParaRPr lang="en-US" sz="2000" dirty="0"/>
          </a:p>
        </p:txBody>
      </p:sp>
      <p:sp>
        <p:nvSpPr>
          <p:cNvPr id="4" name="Shape 2">
            <a:extLst>
              <a:ext uri="{FF2B5EF4-FFF2-40B4-BE49-F238E27FC236}">
                <a16:creationId xmlns:a16="http://schemas.microsoft.com/office/drawing/2014/main" id="{ECC5591D-6369-B139-F2B8-AEE1AF222F7A}"/>
              </a:ext>
            </a:extLst>
          </p:cNvPr>
          <p:cNvSpPr/>
          <p:nvPr/>
        </p:nvSpPr>
        <p:spPr>
          <a:xfrm>
            <a:off x="0" y="914400"/>
            <a:ext cx="9144000" cy="45720"/>
          </a:xfrm>
          <a:prstGeom prst="rect">
            <a:avLst/>
          </a:prstGeom>
          <a:solidFill>
            <a:srgbClr val="12A0B5"/>
          </a:solidFill>
          <a:ln w="12700">
            <a:solidFill>
              <a:srgbClr val="12A0B5"/>
            </a:solidFill>
            <a:prstDash val="solid"/>
          </a:ln>
        </p:spPr>
        <p:txBody>
          <a:bodyPr/>
          <a:lstStyle/>
          <a:p>
            <a:endParaRPr lang="ru-RU"/>
          </a:p>
        </p:txBody>
      </p:sp>
      <p:sp>
        <p:nvSpPr>
          <p:cNvPr id="5" name="Shape 3">
            <a:extLst>
              <a:ext uri="{FF2B5EF4-FFF2-40B4-BE49-F238E27FC236}">
                <a16:creationId xmlns:a16="http://schemas.microsoft.com/office/drawing/2014/main" id="{55CAB09C-DDF7-42B4-ED58-52C84E5035BF}"/>
              </a:ext>
            </a:extLst>
          </p:cNvPr>
          <p:cNvSpPr/>
          <p:nvPr/>
        </p:nvSpPr>
        <p:spPr>
          <a:xfrm>
            <a:off x="274320" y="1051560"/>
            <a:ext cx="4114800" cy="502920"/>
          </a:xfrm>
          <a:prstGeom prst="rect">
            <a:avLst/>
          </a:prstGeom>
          <a:solidFill>
            <a:srgbClr val="1565A8"/>
          </a:solidFill>
          <a:ln w="12700">
            <a:solidFill>
              <a:srgbClr val="1565A8"/>
            </a:solidFill>
            <a:prstDash val="solid"/>
          </a:ln>
        </p:spPr>
        <p:txBody>
          <a:bodyPr/>
          <a:lstStyle/>
          <a:p>
            <a:endParaRPr lang="ru-RU"/>
          </a:p>
        </p:txBody>
      </p:sp>
      <p:sp>
        <p:nvSpPr>
          <p:cNvPr id="6" name="Text 4">
            <a:extLst>
              <a:ext uri="{FF2B5EF4-FFF2-40B4-BE49-F238E27FC236}">
                <a16:creationId xmlns:a16="http://schemas.microsoft.com/office/drawing/2014/main" id="{1CF809A5-27AE-D756-3BE3-54CD6F8CE523}"/>
              </a:ext>
            </a:extLst>
          </p:cNvPr>
          <p:cNvSpPr/>
          <p:nvPr/>
        </p:nvSpPr>
        <p:spPr>
          <a:xfrm>
            <a:off x="274320" y="1051560"/>
            <a:ext cx="4114800" cy="502920"/>
          </a:xfrm>
          <a:prstGeom prst="rect">
            <a:avLst/>
          </a:prstGeom>
          <a:noFill/>
          <a:ln/>
        </p:spPr>
        <p:txBody>
          <a:bodyPr wrap="square" lIns="0" tIns="0" rIns="0" bIns="0" rtlCol="0" anchor="ctr"/>
          <a:lstStyle/>
          <a:p>
            <a:pPr marL="0" indent="0" algn="ctr">
              <a:buNone/>
            </a:pPr>
            <a:r>
              <a:rPr lang="en-US" sz="1300" b="1" dirty="0">
                <a:solidFill>
                  <a:srgbClr val="FFFFFF"/>
                </a:solidFill>
              </a:rPr>
              <a:t>ЯВНЫЕ СХЕМЫ</a:t>
            </a:r>
            <a:endParaRPr lang="en-US" sz="1300" dirty="0"/>
          </a:p>
        </p:txBody>
      </p:sp>
      <p:sp>
        <p:nvSpPr>
          <p:cNvPr id="15" name="Shape 13">
            <a:extLst>
              <a:ext uri="{FF2B5EF4-FFF2-40B4-BE49-F238E27FC236}">
                <a16:creationId xmlns:a16="http://schemas.microsoft.com/office/drawing/2014/main" id="{9DB80327-6270-3021-A833-F84461AD3636}"/>
              </a:ext>
            </a:extLst>
          </p:cNvPr>
          <p:cNvSpPr/>
          <p:nvPr/>
        </p:nvSpPr>
        <p:spPr>
          <a:xfrm>
            <a:off x="4754880" y="1051560"/>
            <a:ext cx="4114800" cy="502920"/>
          </a:xfrm>
          <a:prstGeom prst="rect">
            <a:avLst/>
          </a:prstGeom>
          <a:solidFill>
            <a:srgbClr val="0D7B8A"/>
          </a:solidFill>
          <a:ln w="12700">
            <a:solidFill>
              <a:srgbClr val="0D7B8A"/>
            </a:solidFill>
            <a:prstDash val="solid"/>
          </a:ln>
        </p:spPr>
        <p:txBody>
          <a:bodyPr/>
          <a:lstStyle/>
          <a:p>
            <a:endParaRPr lang="ru-RU"/>
          </a:p>
        </p:txBody>
      </p:sp>
      <p:sp>
        <p:nvSpPr>
          <p:cNvPr id="16" name="Text 14">
            <a:extLst>
              <a:ext uri="{FF2B5EF4-FFF2-40B4-BE49-F238E27FC236}">
                <a16:creationId xmlns:a16="http://schemas.microsoft.com/office/drawing/2014/main" id="{C045C6C1-3FA7-E657-C6B5-CB37A7AE4BCA}"/>
              </a:ext>
            </a:extLst>
          </p:cNvPr>
          <p:cNvSpPr/>
          <p:nvPr/>
        </p:nvSpPr>
        <p:spPr>
          <a:xfrm>
            <a:off x="4754880" y="1051560"/>
            <a:ext cx="4114800" cy="502920"/>
          </a:xfrm>
          <a:prstGeom prst="rect">
            <a:avLst/>
          </a:prstGeom>
          <a:noFill/>
          <a:ln/>
        </p:spPr>
        <p:txBody>
          <a:bodyPr wrap="square" lIns="0" tIns="0" rIns="0" bIns="0" rtlCol="0" anchor="ctr"/>
          <a:lstStyle/>
          <a:p>
            <a:pPr marL="0" indent="0" algn="ctr">
              <a:buNone/>
            </a:pPr>
            <a:r>
              <a:rPr lang="en-US" sz="1300" b="1" dirty="0">
                <a:solidFill>
                  <a:srgbClr val="FFFFFF"/>
                </a:solidFill>
              </a:rPr>
              <a:t>НЕЯВНЫЕ СХЕМЫ</a:t>
            </a:r>
            <a:endParaRPr lang="en-US" sz="1300" dirty="0"/>
          </a:p>
        </p:txBody>
      </p:sp>
      <p:pic>
        <p:nvPicPr>
          <p:cNvPr id="27" name="Рисунок 26">
            <a:extLst>
              <a:ext uri="{FF2B5EF4-FFF2-40B4-BE49-F238E27FC236}">
                <a16:creationId xmlns:a16="http://schemas.microsoft.com/office/drawing/2014/main" id="{7066AC5C-E277-7E4E-0D29-0784EF7BC7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2104" y="1645920"/>
            <a:ext cx="2859232" cy="1668302"/>
          </a:xfrm>
          <a:prstGeom prst="rect">
            <a:avLst/>
          </a:prstGeom>
        </p:spPr>
      </p:pic>
      <p:pic>
        <p:nvPicPr>
          <p:cNvPr id="28" name="Рисунок 27">
            <a:extLst>
              <a:ext uri="{FF2B5EF4-FFF2-40B4-BE49-F238E27FC236}">
                <a16:creationId xmlns:a16="http://schemas.microsoft.com/office/drawing/2014/main" id="{A6DC8FC2-5F4A-1273-7595-8E4B2369AA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21343" y="1737600"/>
            <a:ext cx="2859232" cy="1681968"/>
          </a:xfrm>
          <a:prstGeom prst="rect">
            <a:avLst/>
          </a:prstGeom>
        </p:spPr>
      </p:pic>
      <p:pic>
        <p:nvPicPr>
          <p:cNvPr id="32" name="Рисунок 31">
            <a:extLst>
              <a:ext uri="{FF2B5EF4-FFF2-40B4-BE49-F238E27FC236}">
                <a16:creationId xmlns:a16="http://schemas.microsoft.com/office/drawing/2014/main" id="{6FA0FD3D-BF34-5F03-3790-7910043571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30" y="3771900"/>
            <a:ext cx="1364663" cy="914400"/>
          </a:xfrm>
          <a:prstGeom prst="rect">
            <a:avLst/>
          </a:prstGeom>
        </p:spPr>
      </p:pic>
      <p:pic>
        <p:nvPicPr>
          <p:cNvPr id="33" name="Рисунок 32">
            <a:extLst>
              <a:ext uri="{FF2B5EF4-FFF2-40B4-BE49-F238E27FC236}">
                <a16:creationId xmlns:a16="http://schemas.microsoft.com/office/drawing/2014/main" id="{1FDC25E1-AEF2-7835-6A55-5FD39D6D219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07083" y="3771900"/>
            <a:ext cx="1364663" cy="914400"/>
          </a:xfrm>
          <a:prstGeom prst="rect">
            <a:avLst/>
          </a:prstGeom>
        </p:spPr>
      </p:pic>
      <p:pic>
        <p:nvPicPr>
          <p:cNvPr id="34" name="Рисунок 33">
            <a:extLst>
              <a:ext uri="{FF2B5EF4-FFF2-40B4-BE49-F238E27FC236}">
                <a16:creationId xmlns:a16="http://schemas.microsoft.com/office/drawing/2014/main" id="{E2F87C2D-7628-80A1-5F3C-EDA7741B53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79004" y="3771900"/>
            <a:ext cx="1364663" cy="914400"/>
          </a:xfrm>
          <a:prstGeom prst="rect">
            <a:avLst/>
          </a:prstGeom>
        </p:spPr>
      </p:pic>
      <p:pic>
        <p:nvPicPr>
          <p:cNvPr id="35" name="Рисунок 34">
            <a:extLst>
              <a:ext uri="{FF2B5EF4-FFF2-40B4-BE49-F238E27FC236}">
                <a16:creationId xmlns:a16="http://schemas.microsoft.com/office/drawing/2014/main" id="{794576AD-5C0A-4323-4D2C-5AD7724674A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69404" y="3771900"/>
            <a:ext cx="1359040" cy="914400"/>
          </a:xfrm>
          <a:prstGeom prst="rect">
            <a:avLst/>
          </a:prstGeom>
        </p:spPr>
      </p:pic>
      <p:pic>
        <p:nvPicPr>
          <p:cNvPr id="36" name="Рисунок 35">
            <a:extLst>
              <a:ext uri="{FF2B5EF4-FFF2-40B4-BE49-F238E27FC236}">
                <a16:creationId xmlns:a16="http://schemas.microsoft.com/office/drawing/2014/main" id="{6C43F4C8-91F8-EB25-DA70-AEE8C4E4448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151226" y="3771900"/>
            <a:ext cx="1385691" cy="914400"/>
          </a:xfrm>
          <a:prstGeom prst="rect">
            <a:avLst/>
          </a:prstGeom>
        </p:spPr>
      </p:pic>
      <p:pic>
        <p:nvPicPr>
          <p:cNvPr id="37" name="Рисунок 36">
            <a:extLst>
              <a:ext uri="{FF2B5EF4-FFF2-40B4-BE49-F238E27FC236}">
                <a16:creationId xmlns:a16="http://schemas.microsoft.com/office/drawing/2014/main" id="{A64E1D5D-90A3-0138-D151-86B3C25EE40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659699" y="3771900"/>
            <a:ext cx="1390659" cy="914400"/>
          </a:xfrm>
          <a:prstGeom prst="rect">
            <a:avLst/>
          </a:prstGeom>
        </p:spPr>
      </p:pic>
    </p:spTree>
    <p:extLst>
      <p:ext uri="{BB962C8B-B14F-4D97-AF65-F5344CB8AC3E}">
        <p14:creationId xmlns:p14="http://schemas.microsoft.com/office/powerpoint/2010/main" val="10774595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a:effectLst/>
      </p:bgPr>
    </p:bg>
    <p:spTree>
      <p:nvGrpSpPr>
        <p:cNvPr id="1" name=""/>
        <p:cNvGrpSpPr/>
        <p:nvPr/>
      </p:nvGrpSpPr>
      <p:grpSpPr>
        <a:xfrm>
          <a:off x="0" y="0"/>
          <a:ext cx="0" cy="0"/>
          <a:chOff x="0" y="0"/>
          <a:chExt cx="0" cy="0"/>
        </a:xfrm>
      </p:grpSpPr>
      <p:sp>
        <p:nvSpPr>
          <p:cNvPr id="2" name="HeaderBg"/>
          <p:cNvSpPr/>
          <p:nvPr/>
        </p:nvSpPr>
        <p:spPr>
          <a:xfrm>
            <a:off x="0" y="0"/>
            <a:ext cx="9144000" cy="800000"/>
          </a:xfrm>
          <a:prstGeom prst="rect">
            <a:avLst/>
          </a:prstGeom>
          <a:solidFill>
            <a:srgbClr val="1A2B4A"/>
          </a:solidFill>
          <a:ln>
            <a:noFill/>
          </a:ln>
        </p:spPr>
        <p:txBody>
          <a:bodyPr/>
          <a:lstStyle/>
          <a:p>
            <a:endParaRPr lang="ru-RU"/>
          </a:p>
        </p:txBody>
      </p:sp>
      <p:sp>
        <p:nvSpPr>
          <p:cNvPr id="3" name="AccentBar"/>
          <p:cNvSpPr/>
          <p:nvPr/>
        </p:nvSpPr>
        <p:spPr>
          <a:xfrm>
            <a:off x="0" y="800000"/>
            <a:ext cx="9144000" cy="38000"/>
          </a:xfrm>
          <a:prstGeom prst="rect">
            <a:avLst/>
          </a:prstGeom>
          <a:solidFill>
            <a:srgbClr val="12A0B5"/>
          </a:solidFill>
          <a:ln>
            <a:noFill/>
          </a:ln>
        </p:spPr>
        <p:txBody>
          <a:bodyPr/>
          <a:lstStyle/>
          <a:p>
            <a:endParaRPr lang="ru-RU"/>
          </a:p>
        </p:txBody>
      </p:sp>
      <p:sp>
        <p:nvSpPr>
          <p:cNvPr id="4" name="Title"/>
          <p:cNvSpPr/>
          <p:nvPr/>
        </p:nvSpPr>
        <p:spPr>
          <a:xfrm>
            <a:off x="380000" y="0"/>
            <a:ext cx="8400000" cy="800000"/>
          </a:xfrm>
          <a:prstGeom prst="rect">
            <a:avLst/>
          </a:prstGeom>
          <a:noFill/>
          <a:ln>
            <a:noFill/>
          </a:ln>
        </p:spPr>
        <p:txBody>
          <a:bodyPr wrap="square" lIns="0" tIns="0" rIns="0" bIns="0" rtlCol="0" anchor="ctr"/>
          <a:lstStyle/>
          <a:p>
            <a:pPr marL="0" indent="0" algn="l">
              <a:buNone/>
            </a:pPr>
            <a:r>
              <a:rPr lang="ru-RU" sz="2000" b="1" dirty="0">
                <a:solidFill>
                  <a:srgbClr val="FFFFFF"/>
                </a:solidFill>
              </a:rPr>
              <a:t>СРАВНИТЕЛЬНЫЙ АНАЛИЗ</a:t>
            </a:r>
          </a:p>
        </p:txBody>
      </p:sp>
      <p:sp>
        <p:nvSpPr>
          <p:cNvPr id="10" name="ColH1"/>
          <p:cNvSpPr/>
          <p:nvPr/>
        </p:nvSpPr>
        <p:spPr>
          <a:xfrm>
            <a:off x="190000" y="870000"/>
            <a:ext cx="2200000" cy="380000"/>
          </a:xfrm>
          <a:prstGeom prst="rect">
            <a:avLst/>
          </a:prstGeom>
          <a:solidFill>
            <a:srgbClr val="1A2B4A"/>
          </a:solidFill>
          <a:ln>
            <a:noFill/>
          </a:ln>
        </p:spPr>
        <p:txBody>
          <a:bodyPr wrap="square" lIns="60000" tIns="0" rIns="0" bIns="0" rtlCol="0" anchor="ctr"/>
          <a:lstStyle/>
          <a:p>
            <a:pPr algn="l">
              <a:buNone/>
            </a:pPr>
            <a:r>
              <a:rPr lang="ru-RU" sz="1000" b="1" dirty="0">
                <a:solidFill>
                  <a:srgbClr val="FFFFFF"/>
                </a:solidFill>
              </a:rPr>
              <a:t>Критерий</a:t>
            </a:r>
          </a:p>
        </p:txBody>
      </p:sp>
      <p:sp>
        <p:nvSpPr>
          <p:cNvPr id="11" name="ColH2"/>
          <p:cNvSpPr/>
          <p:nvPr/>
        </p:nvSpPr>
        <p:spPr>
          <a:xfrm>
            <a:off x="2430000" y="870000"/>
            <a:ext cx="3100000" cy="380000"/>
          </a:xfrm>
          <a:prstGeom prst="rect">
            <a:avLst/>
          </a:prstGeom>
          <a:solidFill>
            <a:srgbClr val="1565A8"/>
          </a:solidFill>
          <a:ln>
            <a:noFill/>
          </a:ln>
        </p:spPr>
        <p:txBody>
          <a:bodyPr wrap="square" lIns="0" tIns="0" rIns="0" bIns="0" rtlCol="0" anchor="ctr"/>
          <a:lstStyle/>
          <a:p>
            <a:pPr algn="ctr">
              <a:buNone/>
            </a:pPr>
            <a:r>
              <a:rPr lang="ru-RU" sz="1000" b="1" dirty="0">
                <a:solidFill>
                  <a:srgbClr val="FFFFFF"/>
                </a:solidFill>
              </a:rPr>
              <a:t>Явные схемы</a:t>
            </a:r>
          </a:p>
        </p:txBody>
      </p:sp>
      <p:sp>
        <p:nvSpPr>
          <p:cNvPr id="12" name="ColH3"/>
          <p:cNvSpPr/>
          <p:nvPr/>
        </p:nvSpPr>
        <p:spPr>
          <a:xfrm>
            <a:off x="5580000" y="870000"/>
            <a:ext cx="3380000" cy="380000"/>
          </a:xfrm>
          <a:prstGeom prst="rect">
            <a:avLst/>
          </a:prstGeom>
          <a:solidFill>
            <a:srgbClr val="0D7B8A"/>
          </a:solidFill>
          <a:ln>
            <a:noFill/>
          </a:ln>
        </p:spPr>
        <p:txBody>
          <a:bodyPr wrap="square" lIns="0" tIns="0" rIns="0" bIns="0" rtlCol="0" anchor="ctr"/>
          <a:lstStyle/>
          <a:p>
            <a:pPr algn="ctr">
              <a:buNone/>
            </a:pPr>
            <a:r>
              <a:rPr lang="ru-RU" sz="1000" b="1" dirty="0">
                <a:solidFill>
                  <a:srgbClr val="FFFFFF"/>
                </a:solidFill>
              </a:rPr>
              <a:t>Неявные схемы</a:t>
            </a:r>
          </a:p>
        </p:txBody>
      </p:sp>
      <p:sp>
        <p:nvSpPr>
          <p:cNvPr id="20" name="R1C1bg"/>
          <p:cNvSpPr/>
          <p:nvPr/>
        </p:nvSpPr>
        <p:spPr>
          <a:xfrm>
            <a:off x="190000" y="1290000"/>
            <a:ext cx="2200000" cy="530000"/>
          </a:xfrm>
          <a:prstGeom prst="rect">
            <a:avLst/>
          </a:prstGeom>
          <a:solidFill>
            <a:srgbClr val="FFFFFF"/>
          </a:solidFill>
          <a:ln w="12700">
            <a:solidFill>
              <a:srgbClr val="CBD5E1"/>
            </a:solidFill>
          </a:ln>
        </p:spPr>
        <p:txBody>
          <a:bodyPr/>
          <a:lstStyle/>
          <a:p>
            <a:endParaRPr lang="ru-RU"/>
          </a:p>
        </p:txBody>
      </p:sp>
      <p:sp>
        <p:nvSpPr>
          <p:cNvPr id="21" name="R1C1txt"/>
          <p:cNvSpPr/>
          <p:nvPr/>
        </p:nvSpPr>
        <p:spPr>
          <a:xfrm>
            <a:off x="190000" y="1290000"/>
            <a:ext cx="2200000" cy="530000"/>
          </a:xfrm>
          <a:prstGeom prst="rect">
            <a:avLst/>
          </a:prstGeom>
          <a:noFill/>
          <a:ln>
            <a:noFill/>
          </a:ln>
        </p:spPr>
        <p:txBody>
          <a:bodyPr wrap="square" lIns="80000" tIns="60000" rIns="60000" bIns="0" rtlCol="0" anchor="ctr"/>
          <a:lstStyle/>
          <a:p>
            <a:pPr algn="l">
              <a:buNone/>
            </a:pPr>
            <a:r>
              <a:rPr lang="ru-RU" sz="950" b="1" dirty="0">
                <a:solidFill>
                  <a:srgbClr val="1A2B4A"/>
                </a:solidFill>
              </a:rPr>
              <a:t> Устойчивость</a:t>
            </a:r>
          </a:p>
        </p:txBody>
      </p:sp>
      <p:sp>
        <p:nvSpPr>
          <p:cNvPr id="22" name="R1C2bg"/>
          <p:cNvSpPr/>
          <p:nvPr/>
        </p:nvSpPr>
        <p:spPr>
          <a:xfrm>
            <a:off x="2430000" y="1290000"/>
            <a:ext cx="3100000" cy="530000"/>
          </a:xfrm>
          <a:prstGeom prst="rect">
            <a:avLst/>
          </a:prstGeom>
          <a:solidFill>
            <a:srgbClr val="EFF6FF"/>
          </a:solidFill>
          <a:ln w="12700">
            <a:solidFill>
              <a:srgbClr val="BFDBFE"/>
            </a:solidFill>
          </a:ln>
        </p:spPr>
        <p:txBody>
          <a:bodyPr/>
          <a:lstStyle/>
          <a:p>
            <a:endParaRPr lang="ru-RU"/>
          </a:p>
        </p:txBody>
      </p:sp>
      <p:sp>
        <p:nvSpPr>
          <p:cNvPr id="23" name="R1C2txt"/>
          <p:cNvSpPr/>
          <p:nvPr/>
        </p:nvSpPr>
        <p:spPr>
          <a:xfrm>
            <a:off x="2430000" y="1290000"/>
            <a:ext cx="3100000" cy="530000"/>
          </a:xfrm>
          <a:prstGeom prst="rect">
            <a:avLst/>
          </a:prstGeom>
          <a:noFill/>
          <a:ln>
            <a:noFill/>
          </a:ln>
        </p:spPr>
        <p:txBody>
          <a:bodyPr wrap="square" lIns="80000" tIns="50000" rIns="60000" bIns="0" rtlCol="0" anchor="ctr"/>
          <a:lstStyle/>
          <a:p>
            <a:pPr algn="l">
              <a:buNone/>
            </a:pPr>
            <a:r>
              <a:rPr lang="ru-RU" sz="880" dirty="0">
                <a:solidFill>
                  <a:srgbClr val="1A2B4A"/>
                </a:solidFill>
              </a:rPr>
              <a:t>За устойчивость отвечает число Куранта (|Cr| ≤ 1)</a:t>
            </a:r>
          </a:p>
        </p:txBody>
      </p:sp>
      <p:sp>
        <p:nvSpPr>
          <p:cNvPr id="24" name="R1C3bg"/>
          <p:cNvSpPr/>
          <p:nvPr/>
        </p:nvSpPr>
        <p:spPr>
          <a:xfrm>
            <a:off x="5580000" y="1290000"/>
            <a:ext cx="3380000" cy="530000"/>
          </a:xfrm>
          <a:prstGeom prst="rect">
            <a:avLst/>
          </a:prstGeom>
          <a:solidFill>
            <a:srgbClr val="ECFDF5"/>
          </a:solidFill>
          <a:ln w="12700">
            <a:solidFill>
              <a:srgbClr val="6EE7B7"/>
            </a:solidFill>
          </a:ln>
        </p:spPr>
        <p:txBody>
          <a:bodyPr/>
          <a:lstStyle/>
          <a:p>
            <a:endParaRPr lang="ru-RU"/>
          </a:p>
        </p:txBody>
      </p:sp>
      <p:sp>
        <p:nvSpPr>
          <p:cNvPr id="25" name="R1C3txt"/>
          <p:cNvSpPr/>
          <p:nvPr/>
        </p:nvSpPr>
        <p:spPr>
          <a:xfrm>
            <a:off x="5580000" y="1290000"/>
            <a:ext cx="3380000" cy="530000"/>
          </a:xfrm>
          <a:prstGeom prst="rect">
            <a:avLst/>
          </a:prstGeom>
          <a:noFill/>
          <a:ln>
            <a:noFill/>
          </a:ln>
        </p:spPr>
        <p:txBody>
          <a:bodyPr wrap="square" lIns="80000" tIns="50000" rIns="60000" bIns="0" rtlCol="0" anchor="ctr"/>
          <a:lstStyle/>
          <a:p>
            <a:pPr algn="l">
              <a:buNone/>
            </a:pPr>
            <a:r>
              <a:rPr lang="ru-RU" sz="880" b="1" dirty="0">
                <a:solidFill>
                  <a:srgbClr val="065F46"/>
                </a:solidFill>
              </a:rPr>
              <a:t>Безусловная устойчивость</a:t>
            </a:r>
          </a:p>
        </p:txBody>
      </p:sp>
      <p:sp>
        <p:nvSpPr>
          <p:cNvPr id="30" name="R2C1bg"/>
          <p:cNvSpPr/>
          <p:nvPr/>
        </p:nvSpPr>
        <p:spPr>
          <a:xfrm>
            <a:off x="190000" y="1860000"/>
            <a:ext cx="2200000" cy="560000"/>
          </a:xfrm>
          <a:prstGeom prst="rect">
            <a:avLst/>
          </a:prstGeom>
          <a:solidFill>
            <a:srgbClr val="F8FAFC"/>
          </a:solidFill>
          <a:ln w="12700">
            <a:solidFill>
              <a:srgbClr val="CBD5E1"/>
            </a:solidFill>
          </a:ln>
        </p:spPr>
        <p:txBody>
          <a:bodyPr/>
          <a:lstStyle/>
          <a:p>
            <a:endParaRPr lang="ru-RU"/>
          </a:p>
        </p:txBody>
      </p:sp>
      <p:sp>
        <p:nvSpPr>
          <p:cNvPr id="31" name="R2C1txt"/>
          <p:cNvSpPr/>
          <p:nvPr/>
        </p:nvSpPr>
        <p:spPr>
          <a:xfrm>
            <a:off x="190000" y="1860000"/>
            <a:ext cx="2200000" cy="560000"/>
          </a:xfrm>
          <a:prstGeom prst="rect">
            <a:avLst/>
          </a:prstGeom>
          <a:noFill/>
          <a:ln>
            <a:noFill/>
          </a:ln>
        </p:spPr>
        <p:txBody>
          <a:bodyPr wrap="square" lIns="80000" tIns="60000" rIns="60000" bIns="0" rtlCol="0" anchor="ctr"/>
          <a:lstStyle/>
          <a:p>
            <a:pPr algn="l">
              <a:buNone/>
            </a:pPr>
            <a:r>
              <a:rPr lang="ru-RU" sz="950" b="1" dirty="0">
                <a:solidFill>
                  <a:srgbClr val="1A2B4A"/>
                </a:solidFill>
              </a:rPr>
              <a:t>Характер ошибок</a:t>
            </a:r>
          </a:p>
        </p:txBody>
      </p:sp>
      <p:sp>
        <p:nvSpPr>
          <p:cNvPr id="32" name="R2C2bg"/>
          <p:cNvSpPr/>
          <p:nvPr/>
        </p:nvSpPr>
        <p:spPr>
          <a:xfrm>
            <a:off x="2430000" y="1860000"/>
            <a:ext cx="3100000" cy="560000"/>
          </a:xfrm>
          <a:prstGeom prst="rect">
            <a:avLst/>
          </a:prstGeom>
          <a:solidFill>
            <a:srgbClr val="EFF6FF"/>
          </a:solidFill>
          <a:ln w="12700">
            <a:solidFill>
              <a:srgbClr val="BFDBFE"/>
            </a:solidFill>
          </a:ln>
        </p:spPr>
        <p:txBody>
          <a:bodyPr/>
          <a:lstStyle/>
          <a:p>
            <a:endParaRPr lang="ru-RU"/>
          </a:p>
        </p:txBody>
      </p:sp>
      <p:sp>
        <p:nvSpPr>
          <p:cNvPr id="33" name="R2C2txt"/>
          <p:cNvSpPr/>
          <p:nvPr/>
        </p:nvSpPr>
        <p:spPr>
          <a:xfrm>
            <a:off x="2430000" y="1860000"/>
            <a:ext cx="3100000" cy="560000"/>
          </a:xfrm>
          <a:prstGeom prst="rect">
            <a:avLst/>
          </a:prstGeom>
          <a:noFill/>
          <a:ln>
            <a:noFill/>
          </a:ln>
        </p:spPr>
        <p:txBody>
          <a:bodyPr wrap="square" lIns="80000" tIns="50000" rIns="60000" bIns="0" rtlCol="0" anchor="ctr"/>
          <a:lstStyle/>
          <a:p>
            <a:pPr algn="l">
              <a:buNone/>
            </a:pPr>
            <a:r>
              <a:rPr lang="ru-RU" sz="880" dirty="0">
                <a:solidFill>
                  <a:srgbClr val="1A2B4A"/>
                </a:solidFill>
              </a:rPr>
              <a:t>Паразитные осцилляции при нарушении условия Куранта</a:t>
            </a:r>
          </a:p>
        </p:txBody>
      </p:sp>
      <p:sp>
        <p:nvSpPr>
          <p:cNvPr id="34" name="R2C3bg"/>
          <p:cNvSpPr/>
          <p:nvPr/>
        </p:nvSpPr>
        <p:spPr>
          <a:xfrm>
            <a:off x="5580000" y="1860000"/>
            <a:ext cx="3380000" cy="560000"/>
          </a:xfrm>
          <a:prstGeom prst="rect">
            <a:avLst/>
          </a:prstGeom>
          <a:solidFill>
            <a:srgbClr val="ECFDF5"/>
          </a:solidFill>
          <a:ln w="12700">
            <a:solidFill>
              <a:srgbClr val="6EE7B7"/>
            </a:solidFill>
          </a:ln>
        </p:spPr>
        <p:txBody>
          <a:bodyPr/>
          <a:lstStyle/>
          <a:p>
            <a:endParaRPr lang="ru-RU"/>
          </a:p>
        </p:txBody>
      </p:sp>
      <p:sp>
        <p:nvSpPr>
          <p:cNvPr id="35" name="R2C3txt"/>
          <p:cNvSpPr/>
          <p:nvPr/>
        </p:nvSpPr>
        <p:spPr>
          <a:xfrm>
            <a:off x="5580000" y="1860000"/>
            <a:ext cx="3380000" cy="560000"/>
          </a:xfrm>
          <a:prstGeom prst="rect">
            <a:avLst/>
          </a:prstGeom>
          <a:noFill/>
          <a:ln>
            <a:noFill/>
          </a:ln>
        </p:spPr>
        <p:txBody>
          <a:bodyPr wrap="square" lIns="80000" tIns="50000" rIns="60000" bIns="0" rtlCol="0" anchor="ctr"/>
          <a:lstStyle/>
          <a:p>
            <a:pPr algn="l">
              <a:buNone/>
            </a:pPr>
            <a:r>
              <a:rPr lang="ru-RU" sz="880" b="1" dirty="0">
                <a:solidFill>
                  <a:srgbClr val="065F46"/>
                </a:solidFill>
              </a:rPr>
              <a:t>Численная диффузия: размазывание резкого фронта</a:t>
            </a:r>
          </a:p>
        </p:txBody>
      </p:sp>
      <p:sp>
        <p:nvSpPr>
          <p:cNvPr id="40" name="R3C1bg"/>
          <p:cNvSpPr/>
          <p:nvPr/>
        </p:nvSpPr>
        <p:spPr>
          <a:xfrm>
            <a:off x="190000" y="2460000"/>
            <a:ext cx="2200000" cy="530000"/>
          </a:xfrm>
          <a:prstGeom prst="rect">
            <a:avLst/>
          </a:prstGeom>
          <a:solidFill>
            <a:srgbClr val="FFFFFF"/>
          </a:solidFill>
          <a:ln w="12700">
            <a:solidFill>
              <a:srgbClr val="CBD5E1"/>
            </a:solidFill>
          </a:ln>
        </p:spPr>
        <p:txBody>
          <a:bodyPr/>
          <a:lstStyle/>
          <a:p>
            <a:endParaRPr lang="ru-RU"/>
          </a:p>
        </p:txBody>
      </p:sp>
      <p:sp>
        <p:nvSpPr>
          <p:cNvPr id="41" name="R3C1txt"/>
          <p:cNvSpPr/>
          <p:nvPr/>
        </p:nvSpPr>
        <p:spPr>
          <a:xfrm>
            <a:off x="190000" y="2460000"/>
            <a:ext cx="2200000" cy="530000"/>
          </a:xfrm>
          <a:prstGeom prst="rect">
            <a:avLst/>
          </a:prstGeom>
          <a:noFill/>
          <a:ln>
            <a:noFill/>
          </a:ln>
        </p:spPr>
        <p:txBody>
          <a:bodyPr wrap="square" lIns="80000" tIns="60000" rIns="60000" bIns="0" rtlCol="0" anchor="ctr"/>
          <a:lstStyle/>
          <a:p>
            <a:pPr algn="l">
              <a:buNone/>
            </a:pPr>
            <a:r>
              <a:rPr lang="ru-RU" sz="950" b="1" dirty="0" err="1">
                <a:solidFill>
                  <a:srgbClr val="1A2B4A"/>
                </a:solidFill>
              </a:rPr>
              <a:t>Вычисл</a:t>
            </a:r>
            <a:r>
              <a:rPr lang="ru-RU" sz="950" b="1" dirty="0">
                <a:solidFill>
                  <a:srgbClr val="1A2B4A"/>
                </a:solidFill>
              </a:rPr>
              <a:t>. затраты</a:t>
            </a:r>
          </a:p>
        </p:txBody>
      </p:sp>
      <p:sp>
        <p:nvSpPr>
          <p:cNvPr id="42" name="R3C2bg"/>
          <p:cNvSpPr/>
          <p:nvPr/>
        </p:nvSpPr>
        <p:spPr>
          <a:xfrm>
            <a:off x="2430000" y="2460000"/>
            <a:ext cx="3100000" cy="530000"/>
          </a:xfrm>
          <a:prstGeom prst="rect">
            <a:avLst/>
          </a:prstGeom>
          <a:solidFill>
            <a:srgbClr val="EFF6FF"/>
          </a:solidFill>
          <a:ln w="12700">
            <a:solidFill>
              <a:srgbClr val="BFDBFE"/>
            </a:solidFill>
          </a:ln>
        </p:spPr>
        <p:txBody>
          <a:bodyPr/>
          <a:lstStyle/>
          <a:p>
            <a:endParaRPr lang="ru-RU"/>
          </a:p>
        </p:txBody>
      </p:sp>
      <p:sp>
        <p:nvSpPr>
          <p:cNvPr id="43" name="R3C2txt"/>
          <p:cNvSpPr/>
          <p:nvPr/>
        </p:nvSpPr>
        <p:spPr>
          <a:xfrm>
            <a:off x="2430000" y="2460000"/>
            <a:ext cx="3100000" cy="530000"/>
          </a:xfrm>
          <a:prstGeom prst="rect">
            <a:avLst/>
          </a:prstGeom>
          <a:noFill/>
          <a:ln>
            <a:noFill/>
          </a:ln>
        </p:spPr>
        <p:txBody>
          <a:bodyPr wrap="square" lIns="80000" tIns="50000" rIns="60000" bIns="0" rtlCol="0" anchor="ctr"/>
          <a:lstStyle/>
          <a:p>
            <a:pPr algn="l">
              <a:buNone/>
            </a:pPr>
            <a:r>
              <a:rPr lang="ru-RU" sz="880" dirty="0">
                <a:solidFill>
                  <a:srgbClr val="1A2B4A"/>
                </a:solidFill>
              </a:rPr>
              <a:t>Минимум операций, СЛАУ не требуется</a:t>
            </a:r>
          </a:p>
        </p:txBody>
      </p:sp>
      <p:sp>
        <p:nvSpPr>
          <p:cNvPr id="44" name="R3C3bg"/>
          <p:cNvSpPr/>
          <p:nvPr/>
        </p:nvSpPr>
        <p:spPr>
          <a:xfrm>
            <a:off x="5580000" y="2460000"/>
            <a:ext cx="3380000" cy="530000"/>
          </a:xfrm>
          <a:prstGeom prst="rect">
            <a:avLst/>
          </a:prstGeom>
          <a:solidFill>
            <a:srgbClr val="ECFDF5"/>
          </a:solidFill>
          <a:ln w="12700">
            <a:solidFill>
              <a:srgbClr val="6EE7B7"/>
            </a:solidFill>
          </a:ln>
        </p:spPr>
        <p:txBody>
          <a:bodyPr/>
          <a:lstStyle/>
          <a:p>
            <a:endParaRPr lang="ru-RU"/>
          </a:p>
        </p:txBody>
      </p:sp>
      <p:sp>
        <p:nvSpPr>
          <p:cNvPr id="45" name="R3C3txt"/>
          <p:cNvSpPr/>
          <p:nvPr/>
        </p:nvSpPr>
        <p:spPr>
          <a:xfrm>
            <a:off x="5580000" y="2460000"/>
            <a:ext cx="3380000" cy="530000"/>
          </a:xfrm>
          <a:prstGeom prst="rect">
            <a:avLst/>
          </a:prstGeom>
          <a:noFill/>
          <a:ln>
            <a:noFill/>
          </a:ln>
        </p:spPr>
        <p:txBody>
          <a:bodyPr wrap="square" lIns="80000" tIns="50000" rIns="60000" bIns="0" rtlCol="0" anchor="ctr"/>
          <a:lstStyle/>
          <a:p>
            <a:pPr algn="l">
              <a:buNone/>
            </a:pPr>
            <a:r>
              <a:rPr lang="ru-RU" sz="880" dirty="0">
                <a:solidFill>
                  <a:srgbClr val="065F46"/>
                </a:solidFill>
              </a:rPr>
              <a:t>Решение СЛАУ на каждом шаге по времени</a:t>
            </a:r>
          </a:p>
        </p:txBody>
      </p:sp>
      <p:sp>
        <p:nvSpPr>
          <p:cNvPr id="50" name="R4C1bg"/>
          <p:cNvSpPr/>
          <p:nvPr/>
        </p:nvSpPr>
        <p:spPr>
          <a:xfrm>
            <a:off x="190000" y="3030000"/>
            <a:ext cx="2200000" cy="620000"/>
          </a:xfrm>
          <a:prstGeom prst="rect">
            <a:avLst/>
          </a:prstGeom>
          <a:solidFill>
            <a:srgbClr val="F8FAFC"/>
          </a:solidFill>
          <a:ln w="12700">
            <a:solidFill>
              <a:srgbClr val="CBD5E1"/>
            </a:solidFill>
          </a:ln>
        </p:spPr>
        <p:txBody>
          <a:bodyPr/>
          <a:lstStyle/>
          <a:p>
            <a:endParaRPr lang="ru-RU"/>
          </a:p>
        </p:txBody>
      </p:sp>
      <p:sp>
        <p:nvSpPr>
          <p:cNvPr id="51" name="R4C1txt"/>
          <p:cNvSpPr/>
          <p:nvPr/>
        </p:nvSpPr>
        <p:spPr>
          <a:xfrm>
            <a:off x="190000" y="3030000"/>
            <a:ext cx="2200000" cy="620000"/>
          </a:xfrm>
          <a:prstGeom prst="rect">
            <a:avLst/>
          </a:prstGeom>
          <a:noFill/>
          <a:ln>
            <a:noFill/>
          </a:ln>
        </p:spPr>
        <p:txBody>
          <a:bodyPr wrap="square" lIns="80000" tIns="60000" rIns="60000" bIns="0" rtlCol="0" anchor="ctr"/>
          <a:lstStyle/>
          <a:p>
            <a:pPr algn="l">
              <a:buNone/>
            </a:pPr>
            <a:r>
              <a:rPr lang="ru-RU" sz="950" b="1" dirty="0">
                <a:solidFill>
                  <a:srgbClr val="1A2B4A"/>
                </a:solidFill>
              </a:rPr>
              <a:t>Применимость</a:t>
            </a:r>
          </a:p>
        </p:txBody>
      </p:sp>
      <p:sp>
        <p:nvSpPr>
          <p:cNvPr id="52" name="R4C2bg"/>
          <p:cNvSpPr/>
          <p:nvPr/>
        </p:nvSpPr>
        <p:spPr>
          <a:xfrm>
            <a:off x="2430000" y="3030000"/>
            <a:ext cx="3100000" cy="620000"/>
          </a:xfrm>
          <a:prstGeom prst="rect">
            <a:avLst/>
          </a:prstGeom>
          <a:solidFill>
            <a:srgbClr val="EFF6FF"/>
          </a:solidFill>
          <a:ln w="12700">
            <a:solidFill>
              <a:srgbClr val="BFDBFE"/>
            </a:solidFill>
          </a:ln>
        </p:spPr>
        <p:txBody>
          <a:bodyPr/>
          <a:lstStyle/>
          <a:p>
            <a:endParaRPr lang="ru-RU"/>
          </a:p>
        </p:txBody>
      </p:sp>
      <p:sp>
        <p:nvSpPr>
          <p:cNvPr id="53" name="R4C2txt"/>
          <p:cNvSpPr/>
          <p:nvPr/>
        </p:nvSpPr>
        <p:spPr>
          <a:xfrm>
            <a:off x="2430000" y="3030000"/>
            <a:ext cx="3100000" cy="620000"/>
          </a:xfrm>
          <a:prstGeom prst="rect">
            <a:avLst/>
          </a:prstGeom>
          <a:noFill/>
          <a:ln>
            <a:noFill/>
          </a:ln>
        </p:spPr>
        <p:txBody>
          <a:bodyPr wrap="square" lIns="80000" tIns="50000" rIns="60000" bIns="0" rtlCol="0" anchor="ctr"/>
          <a:lstStyle/>
          <a:p>
            <a:pPr algn="l">
              <a:buNone/>
            </a:pPr>
            <a:r>
              <a:rPr lang="ru-RU" sz="880" dirty="0">
                <a:solidFill>
                  <a:srgbClr val="1A2B4A"/>
                </a:solidFill>
              </a:rPr>
              <a:t>Задачи с резкими градиентами (TVD/MUSCL-схемы)</a:t>
            </a:r>
          </a:p>
        </p:txBody>
      </p:sp>
      <p:sp>
        <p:nvSpPr>
          <p:cNvPr id="54" name="R4C3bg"/>
          <p:cNvSpPr/>
          <p:nvPr/>
        </p:nvSpPr>
        <p:spPr>
          <a:xfrm>
            <a:off x="5580000" y="3030000"/>
            <a:ext cx="3380000" cy="620000"/>
          </a:xfrm>
          <a:prstGeom prst="rect">
            <a:avLst/>
          </a:prstGeom>
          <a:solidFill>
            <a:srgbClr val="ECFDF5"/>
          </a:solidFill>
          <a:ln w="12700">
            <a:solidFill>
              <a:srgbClr val="6EE7B7"/>
            </a:solidFill>
          </a:ln>
        </p:spPr>
        <p:txBody>
          <a:bodyPr/>
          <a:lstStyle/>
          <a:p>
            <a:endParaRPr lang="ru-RU"/>
          </a:p>
        </p:txBody>
      </p:sp>
      <p:sp>
        <p:nvSpPr>
          <p:cNvPr id="55" name="R4C3txt"/>
          <p:cNvSpPr/>
          <p:nvPr/>
        </p:nvSpPr>
        <p:spPr>
          <a:xfrm>
            <a:off x="5580000" y="3030000"/>
            <a:ext cx="3380000" cy="620000"/>
          </a:xfrm>
          <a:prstGeom prst="rect">
            <a:avLst/>
          </a:prstGeom>
          <a:noFill/>
          <a:ln>
            <a:noFill/>
          </a:ln>
        </p:spPr>
        <p:txBody>
          <a:bodyPr wrap="square" lIns="80000" tIns="50000" rIns="60000" bIns="0" rtlCol="0" anchor="ctr"/>
          <a:lstStyle/>
          <a:p>
            <a:pPr algn="l">
              <a:buNone/>
            </a:pPr>
            <a:r>
              <a:rPr lang="ru-RU" sz="880" b="1" dirty="0">
                <a:solidFill>
                  <a:srgbClr val="065F46"/>
                </a:solidFill>
              </a:rPr>
              <a:t>Задачи с большим шагом по времени (схема Кранка–Николсона)</a:t>
            </a:r>
          </a:p>
        </p:txBody>
      </p:sp>
      <p:sp>
        <p:nvSpPr>
          <p:cNvPr id="60" name="R5C1bg"/>
          <p:cNvSpPr/>
          <p:nvPr/>
        </p:nvSpPr>
        <p:spPr>
          <a:xfrm>
            <a:off x="190000" y="3690000"/>
            <a:ext cx="2200000" cy="590000"/>
          </a:xfrm>
          <a:prstGeom prst="rect">
            <a:avLst/>
          </a:prstGeom>
          <a:solidFill>
            <a:srgbClr val="FFFFFF"/>
          </a:solidFill>
          <a:ln w="12700">
            <a:solidFill>
              <a:srgbClr val="CBD5E1"/>
            </a:solidFill>
          </a:ln>
        </p:spPr>
        <p:txBody>
          <a:bodyPr/>
          <a:lstStyle/>
          <a:p>
            <a:endParaRPr lang="ru-RU"/>
          </a:p>
        </p:txBody>
      </p:sp>
      <p:sp>
        <p:nvSpPr>
          <p:cNvPr id="61" name="R5C1txt"/>
          <p:cNvSpPr/>
          <p:nvPr/>
        </p:nvSpPr>
        <p:spPr>
          <a:xfrm>
            <a:off x="190000" y="3690000"/>
            <a:ext cx="2200000" cy="590000"/>
          </a:xfrm>
          <a:prstGeom prst="rect">
            <a:avLst/>
          </a:prstGeom>
          <a:noFill/>
          <a:ln>
            <a:noFill/>
          </a:ln>
        </p:spPr>
        <p:txBody>
          <a:bodyPr wrap="square" lIns="80000" tIns="60000" rIns="60000" bIns="0" rtlCol="0" anchor="ctr"/>
          <a:lstStyle/>
          <a:p>
            <a:pPr algn="l">
              <a:buNone/>
            </a:pPr>
            <a:r>
              <a:rPr lang="ru-RU" sz="950" b="1" dirty="0">
                <a:solidFill>
                  <a:srgbClr val="1A2B4A"/>
                </a:solidFill>
              </a:rPr>
              <a:t>Контроль шага</a:t>
            </a:r>
          </a:p>
        </p:txBody>
      </p:sp>
      <p:sp>
        <p:nvSpPr>
          <p:cNvPr id="62" name="R5C2bg"/>
          <p:cNvSpPr/>
          <p:nvPr/>
        </p:nvSpPr>
        <p:spPr>
          <a:xfrm>
            <a:off x="2430000" y="3690000"/>
            <a:ext cx="3100000" cy="590000"/>
          </a:xfrm>
          <a:prstGeom prst="rect">
            <a:avLst/>
          </a:prstGeom>
          <a:solidFill>
            <a:srgbClr val="EFF6FF"/>
          </a:solidFill>
          <a:ln w="12700">
            <a:solidFill>
              <a:srgbClr val="BFDBFE"/>
            </a:solidFill>
          </a:ln>
        </p:spPr>
        <p:txBody>
          <a:bodyPr/>
          <a:lstStyle/>
          <a:p>
            <a:endParaRPr lang="ru-RU"/>
          </a:p>
        </p:txBody>
      </p:sp>
      <p:sp>
        <p:nvSpPr>
          <p:cNvPr id="63" name="R5C2txt"/>
          <p:cNvSpPr/>
          <p:nvPr/>
        </p:nvSpPr>
        <p:spPr>
          <a:xfrm>
            <a:off x="2430000" y="3690000"/>
            <a:ext cx="3100000" cy="590000"/>
          </a:xfrm>
          <a:prstGeom prst="rect">
            <a:avLst/>
          </a:prstGeom>
          <a:noFill/>
          <a:ln>
            <a:noFill/>
          </a:ln>
        </p:spPr>
        <p:txBody>
          <a:bodyPr wrap="square" lIns="80000" tIns="50000" rIns="60000" bIns="0" rtlCol="0" anchor="ctr"/>
          <a:lstStyle/>
          <a:p>
            <a:pPr algn="l">
              <a:buNone/>
            </a:pPr>
            <a:r>
              <a:rPr lang="ru-RU" sz="880" dirty="0">
                <a:solidFill>
                  <a:srgbClr val="1A2B4A"/>
                </a:solidFill>
              </a:rPr>
              <a:t>Жёсткий контроль глобального и локального числа Куранта</a:t>
            </a:r>
          </a:p>
        </p:txBody>
      </p:sp>
      <p:sp>
        <p:nvSpPr>
          <p:cNvPr id="64" name="R5C3bg"/>
          <p:cNvSpPr/>
          <p:nvPr/>
        </p:nvSpPr>
        <p:spPr>
          <a:xfrm>
            <a:off x="5580000" y="3690000"/>
            <a:ext cx="3380000" cy="590000"/>
          </a:xfrm>
          <a:prstGeom prst="rect">
            <a:avLst/>
          </a:prstGeom>
          <a:solidFill>
            <a:srgbClr val="ECFDF5"/>
          </a:solidFill>
          <a:ln w="12700">
            <a:solidFill>
              <a:srgbClr val="6EE7B7"/>
            </a:solidFill>
          </a:ln>
        </p:spPr>
        <p:txBody>
          <a:bodyPr/>
          <a:lstStyle/>
          <a:p>
            <a:endParaRPr lang="ru-RU"/>
          </a:p>
        </p:txBody>
      </p:sp>
      <p:sp>
        <p:nvSpPr>
          <p:cNvPr id="65" name="R5C3txt"/>
          <p:cNvSpPr/>
          <p:nvPr/>
        </p:nvSpPr>
        <p:spPr>
          <a:xfrm>
            <a:off x="5580000" y="3690000"/>
            <a:ext cx="3380000" cy="590000"/>
          </a:xfrm>
          <a:prstGeom prst="rect">
            <a:avLst/>
          </a:prstGeom>
          <a:noFill/>
          <a:ln>
            <a:noFill/>
          </a:ln>
        </p:spPr>
        <p:txBody>
          <a:bodyPr wrap="square" lIns="80000" tIns="50000" rIns="60000" bIns="0" rtlCol="0" anchor="ctr"/>
          <a:lstStyle/>
          <a:p>
            <a:pPr algn="l">
              <a:buNone/>
            </a:pPr>
            <a:r>
              <a:rPr lang="ru-RU" sz="880" b="1" dirty="0">
                <a:solidFill>
                  <a:srgbClr val="065F46"/>
                </a:solidFill>
              </a:rPr>
              <a:t>Число Куранта не ограничивает; контроль физической корректности шага</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A2B4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2A0B5"/>
          </a:solidFill>
          <a:ln w="12700">
            <a:solidFill>
              <a:srgbClr val="12A0B5"/>
            </a:solidFill>
            <a:prstDash val="solid"/>
          </a:ln>
        </p:spPr>
        <p:txBody>
          <a:bodyPr/>
          <a:lstStyle/>
          <a:p>
            <a:endParaRPr lang="ru-RU"/>
          </a:p>
        </p:txBody>
      </p:sp>
      <p:sp>
        <p:nvSpPr>
          <p:cNvPr id="3" name="Shape 1"/>
          <p:cNvSpPr/>
          <p:nvPr/>
        </p:nvSpPr>
        <p:spPr>
          <a:xfrm>
            <a:off x="0" y="5088636"/>
            <a:ext cx="9144000" cy="54864"/>
          </a:xfrm>
          <a:prstGeom prst="rect">
            <a:avLst/>
          </a:prstGeom>
          <a:solidFill>
            <a:srgbClr val="12A0B5"/>
          </a:solidFill>
          <a:ln w="12700">
            <a:solidFill>
              <a:srgbClr val="12A0B5"/>
            </a:solidFill>
            <a:prstDash val="solid"/>
          </a:ln>
        </p:spPr>
        <p:txBody>
          <a:bodyPr/>
          <a:lstStyle/>
          <a:p>
            <a:endParaRPr lang="ru-RU"/>
          </a:p>
        </p:txBody>
      </p:sp>
      <p:sp>
        <p:nvSpPr>
          <p:cNvPr id="4" name="Text 2"/>
          <p:cNvSpPr/>
          <p:nvPr/>
        </p:nvSpPr>
        <p:spPr>
          <a:xfrm>
            <a:off x="457200" y="137160"/>
            <a:ext cx="8229600" cy="594360"/>
          </a:xfrm>
          <a:prstGeom prst="rect">
            <a:avLst/>
          </a:prstGeom>
          <a:noFill/>
          <a:ln/>
        </p:spPr>
        <p:txBody>
          <a:bodyPr wrap="square" rtlCol="0" anchor="ctr"/>
          <a:lstStyle/>
          <a:p>
            <a:pPr marL="0" indent="0" algn="ctr">
              <a:buNone/>
            </a:pPr>
            <a:r>
              <a:rPr lang="en-US" sz="2200" b="1" kern="0" spc="500" dirty="0">
                <a:solidFill>
                  <a:srgbClr val="FFFFFF"/>
                </a:solidFill>
              </a:rPr>
              <a:t>ВЫВОДЫ</a:t>
            </a:r>
            <a:endParaRPr lang="en-US" sz="2200" dirty="0"/>
          </a:p>
        </p:txBody>
      </p:sp>
      <p:sp>
        <p:nvSpPr>
          <p:cNvPr id="17" name="TopBar">
            <a:extLst>
              <a:ext uri="{FF2B5EF4-FFF2-40B4-BE49-F238E27FC236}">
                <a16:creationId xmlns:a16="http://schemas.microsoft.com/office/drawing/2014/main" id="{974B8F59-8BEB-3974-85BB-8EBC48A5B7EA}"/>
              </a:ext>
            </a:extLst>
          </p:cNvPr>
          <p:cNvSpPr/>
          <p:nvPr/>
        </p:nvSpPr>
        <p:spPr>
          <a:xfrm>
            <a:off x="0" y="0"/>
            <a:ext cx="9144000" cy="54864"/>
          </a:xfrm>
          <a:prstGeom prst="rect">
            <a:avLst/>
          </a:prstGeom>
          <a:solidFill>
            <a:srgbClr val="12A0B5"/>
          </a:solidFill>
          <a:ln>
            <a:noFill/>
          </a:ln>
        </p:spPr>
        <p:txBody>
          <a:bodyPr/>
          <a:lstStyle/>
          <a:p>
            <a:endParaRPr lang="ru-RU"/>
          </a:p>
        </p:txBody>
      </p:sp>
      <p:sp>
        <p:nvSpPr>
          <p:cNvPr id="18" name="BotBar">
            <a:extLst>
              <a:ext uri="{FF2B5EF4-FFF2-40B4-BE49-F238E27FC236}">
                <a16:creationId xmlns:a16="http://schemas.microsoft.com/office/drawing/2014/main" id="{F54184E7-0FD3-BDD2-4260-E27068839F69}"/>
              </a:ext>
            </a:extLst>
          </p:cNvPr>
          <p:cNvSpPr/>
          <p:nvPr/>
        </p:nvSpPr>
        <p:spPr>
          <a:xfrm>
            <a:off x="0" y="5088636"/>
            <a:ext cx="9144000" cy="54864"/>
          </a:xfrm>
          <a:prstGeom prst="rect">
            <a:avLst/>
          </a:prstGeom>
          <a:solidFill>
            <a:srgbClr val="12A0B5"/>
          </a:solidFill>
          <a:ln>
            <a:noFill/>
          </a:ln>
        </p:spPr>
        <p:txBody>
          <a:bodyPr/>
          <a:lstStyle/>
          <a:p>
            <a:endParaRPr lang="ru-RU"/>
          </a:p>
        </p:txBody>
      </p:sp>
      <p:sp>
        <p:nvSpPr>
          <p:cNvPr id="20" name="Card1bg">
            <a:extLst>
              <a:ext uri="{FF2B5EF4-FFF2-40B4-BE49-F238E27FC236}">
                <a16:creationId xmlns:a16="http://schemas.microsoft.com/office/drawing/2014/main" id="{349CACD6-4BB9-2AF4-C99C-368CCC43A756}"/>
              </a:ext>
            </a:extLst>
          </p:cNvPr>
          <p:cNvSpPr/>
          <p:nvPr/>
        </p:nvSpPr>
        <p:spPr>
          <a:xfrm>
            <a:off x="365760" y="700000"/>
            <a:ext cx="8412480" cy="670000"/>
          </a:xfrm>
          <a:prstGeom prst="rect">
            <a:avLst/>
          </a:prstGeom>
          <a:solidFill>
            <a:srgbClr val="243B5A"/>
          </a:solidFill>
          <a:ln w="12700">
            <a:solidFill>
              <a:srgbClr val="12A0B5"/>
            </a:solidFill>
          </a:ln>
        </p:spPr>
        <p:txBody>
          <a:bodyPr/>
          <a:lstStyle/>
          <a:p>
            <a:endParaRPr lang="ru-RU"/>
          </a:p>
        </p:txBody>
      </p:sp>
      <p:sp>
        <p:nvSpPr>
          <p:cNvPr id="21" name="Card1stripe">
            <a:extLst>
              <a:ext uri="{FF2B5EF4-FFF2-40B4-BE49-F238E27FC236}">
                <a16:creationId xmlns:a16="http://schemas.microsoft.com/office/drawing/2014/main" id="{A6D5EE6A-0421-5925-8BDA-4E96578370B4}"/>
              </a:ext>
            </a:extLst>
          </p:cNvPr>
          <p:cNvSpPr/>
          <p:nvPr/>
        </p:nvSpPr>
        <p:spPr>
          <a:xfrm>
            <a:off x="365760" y="700000"/>
            <a:ext cx="109728" cy="670000"/>
          </a:xfrm>
          <a:prstGeom prst="rect">
            <a:avLst/>
          </a:prstGeom>
          <a:solidFill>
            <a:srgbClr val="12A0B5"/>
          </a:solidFill>
          <a:ln>
            <a:noFill/>
          </a:ln>
        </p:spPr>
        <p:txBody>
          <a:bodyPr/>
          <a:lstStyle/>
          <a:p>
            <a:endParaRPr lang="ru-RU"/>
          </a:p>
        </p:txBody>
      </p:sp>
      <p:sp>
        <p:nvSpPr>
          <p:cNvPr id="22" name="Card1txt">
            <a:extLst>
              <a:ext uri="{FF2B5EF4-FFF2-40B4-BE49-F238E27FC236}">
                <a16:creationId xmlns:a16="http://schemas.microsoft.com/office/drawing/2014/main" id="{73F5AB1E-30DC-0520-9008-84844880462D}"/>
              </a:ext>
            </a:extLst>
          </p:cNvPr>
          <p:cNvSpPr/>
          <p:nvPr/>
        </p:nvSpPr>
        <p:spPr>
          <a:xfrm>
            <a:off x="594360" y="700000"/>
            <a:ext cx="8092440" cy="670000"/>
          </a:xfrm>
          <a:prstGeom prst="rect">
            <a:avLst/>
          </a:prstGeom>
          <a:noFill/>
          <a:ln>
            <a:noFill/>
          </a:ln>
        </p:spPr>
        <p:txBody>
          <a:bodyPr wrap="square" lIns="80000" tIns="60000" rIns="80000" bIns="0" rtlCol="0" anchor="ctr"/>
          <a:lstStyle/>
          <a:p>
            <a:pPr marL="0" indent="0">
              <a:buNone/>
            </a:pPr>
            <a:r>
              <a:rPr lang="ru-RU" sz="1100" b="1" dirty="0">
                <a:solidFill>
                  <a:srgbClr val="12A0B5"/>
                </a:solidFill>
              </a:rPr>
              <a:t>✓  </a:t>
            </a:r>
            <a:r>
              <a:rPr lang="ru-RU" sz="1100" dirty="0">
                <a:solidFill>
                  <a:srgbClr val="FFFFFF"/>
                </a:solidFill>
              </a:rPr>
              <a:t>Получены аналитические решения для всех 4 типов коэффициента переноса методом характеристик; они служат эталоном для оценки точности схем</a:t>
            </a:r>
          </a:p>
        </p:txBody>
      </p:sp>
      <p:sp>
        <p:nvSpPr>
          <p:cNvPr id="23" name="Card2bg">
            <a:extLst>
              <a:ext uri="{FF2B5EF4-FFF2-40B4-BE49-F238E27FC236}">
                <a16:creationId xmlns:a16="http://schemas.microsoft.com/office/drawing/2014/main" id="{31FAAFB7-46D7-EEB2-3E46-4438C5BB6E41}"/>
              </a:ext>
            </a:extLst>
          </p:cNvPr>
          <p:cNvSpPr/>
          <p:nvPr/>
        </p:nvSpPr>
        <p:spPr>
          <a:xfrm>
            <a:off x="365760" y="1400000"/>
            <a:ext cx="8412480" cy="670000"/>
          </a:xfrm>
          <a:prstGeom prst="rect">
            <a:avLst/>
          </a:prstGeom>
          <a:solidFill>
            <a:srgbClr val="243B5A"/>
          </a:solidFill>
          <a:ln w="12700">
            <a:solidFill>
              <a:srgbClr val="12A0B5"/>
            </a:solidFill>
          </a:ln>
        </p:spPr>
        <p:txBody>
          <a:bodyPr/>
          <a:lstStyle/>
          <a:p>
            <a:endParaRPr lang="ru-RU"/>
          </a:p>
        </p:txBody>
      </p:sp>
      <p:sp>
        <p:nvSpPr>
          <p:cNvPr id="24" name="Card2stripe">
            <a:extLst>
              <a:ext uri="{FF2B5EF4-FFF2-40B4-BE49-F238E27FC236}">
                <a16:creationId xmlns:a16="http://schemas.microsoft.com/office/drawing/2014/main" id="{9641635F-0262-D5ED-DEF1-9B3207B74BE8}"/>
              </a:ext>
            </a:extLst>
          </p:cNvPr>
          <p:cNvSpPr/>
          <p:nvPr/>
        </p:nvSpPr>
        <p:spPr>
          <a:xfrm>
            <a:off x="365760" y="1400000"/>
            <a:ext cx="109728" cy="670000"/>
          </a:xfrm>
          <a:prstGeom prst="rect">
            <a:avLst/>
          </a:prstGeom>
          <a:solidFill>
            <a:srgbClr val="12A0B5"/>
          </a:solidFill>
          <a:ln>
            <a:noFill/>
          </a:ln>
        </p:spPr>
        <p:txBody>
          <a:bodyPr/>
          <a:lstStyle/>
          <a:p>
            <a:endParaRPr lang="ru-RU"/>
          </a:p>
        </p:txBody>
      </p:sp>
      <p:sp>
        <p:nvSpPr>
          <p:cNvPr id="25" name="Card2txt">
            <a:extLst>
              <a:ext uri="{FF2B5EF4-FFF2-40B4-BE49-F238E27FC236}">
                <a16:creationId xmlns:a16="http://schemas.microsoft.com/office/drawing/2014/main" id="{07557FD3-83F5-AF82-8681-3DADD8EFE6B5}"/>
              </a:ext>
            </a:extLst>
          </p:cNvPr>
          <p:cNvSpPr/>
          <p:nvPr/>
        </p:nvSpPr>
        <p:spPr>
          <a:xfrm>
            <a:off x="594360" y="1400000"/>
            <a:ext cx="8092440" cy="670000"/>
          </a:xfrm>
          <a:prstGeom prst="rect">
            <a:avLst/>
          </a:prstGeom>
          <a:noFill/>
          <a:ln>
            <a:noFill/>
          </a:ln>
        </p:spPr>
        <p:txBody>
          <a:bodyPr wrap="square" lIns="80000" tIns="60000" rIns="80000" bIns="0" rtlCol="0" anchor="ctr"/>
          <a:lstStyle/>
          <a:p>
            <a:pPr marL="0" indent="0">
              <a:buNone/>
            </a:pPr>
            <a:r>
              <a:rPr lang="ru-RU" sz="1100" b="1" dirty="0">
                <a:solidFill>
                  <a:srgbClr val="12A0B5"/>
                </a:solidFill>
              </a:rPr>
              <a:t>✓  </a:t>
            </a:r>
            <a:r>
              <a:rPr lang="ru-RU" sz="1100" dirty="0">
                <a:solidFill>
                  <a:srgbClr val="FFFFFF"/>
                </a:solidFill>
              </a:rPr>
              <a:t>Среди явных схем наилучшие результаты показали </a:t>
            </a:r>
            <a:r>
              <a:rPr lang="ru-RU" sz="1100" b="1" dirty="0">
                <a:solidFill>
                  <a:srgbClr val="12A0B5"/>
                </a:solidFill>
              </a:rPr>
              <a:t>TVD и MUSCL</a:t>
            </a:r>
            <a:r>
              <a:rPr lang="ru-RU" sz="1100" dirty="0">
                <a:solidFill>
                  <a:srgbClr val="FFFFFF"/>
                </a:solidFill>
              </a:rPr>
              <a:t>: минимальные нормы ошибок, подавление осцилляций, хорошая аппроксимация гладких участков</a:t>
            </a:r>
          </a:p>
        </p:txBody>
      </p:sp>
      <p:sp>
        <p:nvSpPr>
          <p:cNvPr id="26" name="Card3bg">
            <a:extLst>
              <a:ext uri="{FF2B5EF4-FFF2-40B4-BE49-F238E27FC236}">
                <a16:creationId xmlns:a16="http://schemas.microsoft.com/office/drawing/2014/main" id="{E65A4E09-271A-7FD2-DD46-4654706FA482}"/>
              </a:ext>
            </a:extLst>
          </p:cNvPr>
          <p:cNvSpPr/>
          <p:nvPr/>
        </p:nvSpPr>
        <p:spPr>
          <a:xfrm>
            <a:off x="365760" y="2100000"/>
            <a:ext cx="8412480" cy="670000"/>
          </a:xfrm>
          <a:prstGeom prst="rect">
            <a:avLst/>
          </a:prstGeom>
          <a:solidFill>
            <a:srgbClr val="243B5A"/>
          </a:solidFill>
          <a:ln w="12700">
            <a:solidFill>
              <a:srgbClr val="12A0B5"/>
            </a:solidFill>
          </a:ln>
        </p:spPr>
        <p:txBody>
          <a:bodyPr/>
          <a:lstStyle/>
          <a:p>
            <a:endParaRPr lang="ru-RU"/>
          </a:p>
        </p:txBody>
      </p:sp>
      <p:sp>
        <p:nvSpPr>
          <p:cNvPr id="27" name="Card3stripe">
            <a:extLst>
              <a:ext uri="{FF2B5EF4-FFF2-40B4-BE49-F238E27FC236}">
                <a16:creationId xmlns:a16="http://schemas.microsoft.com/office/drawing/2014/main" id="{EE304A46-4621-B8A4-268E-6543699A758E}"/>
              </a:ext>
            </a:extLst>
          </p:cNvPr>
          <p:cNvSpPr/>
          <p:nvPr/>
        </p:nvSpPr>
        <p:spPr>
          <a:xfrm>
            <a:off x="365760" y="2100000"/>
            <a:ext cx="109728" cy="670000"/>
          </a:xfrm>
          <a:prstGeom prst="rect">
            <a:avLst/>
          </a:prstGeom>
          <a:solidFill>
            <a:srgbClr val="12A0B5"/>
          </a:solidFill>
          <a:ln>
            <a:noFill/>
          </a:ln>
        </p:spPr>
        <p:txBody>
          <a:bodyPr/>
          <a:lstStyle/>
          <a:p>
            <a:endParaRPr lang="ru-RU"/>
          </a:p>
        </p:txBody>
      </p:sp>
      <p:sp>
        <p:nvSpPr>
          <p:cNvPr id="28" name="Card3txt">
            <a:extLst>
              <a:ext uri="{FF2B5EF4-FFF2-40B4-BE49-F238E27FC236}">
                <a16:creationId xmlns:a16="http://schemas.microsoft.com/office/drawing/2014/main" id="{A4BBBF6D-3645-5F62-BE51-31BBE1F0C575}"/>
              </a:ext>
            </a:extLst>
          </p:cNvPr>
          <p:cNvSpPr/>
          <p:nvPr/>
        </p:nvSpPr>
        <p:spPr>
          <a:xfrm>
            <a:off x="594360" y="2100000"/>
            <a:ext cx="8092440" cy="670000"/>
          </a:xfrm>
          <a:prstGeom prst="rect">
            <a:avLst/>
          </a:prstGeom>
          <a:noFill/>
          <a:ln>
            <a:noFill/>
          </a:ln>
        </p:spPr>
        <p:txBody>
          <a:bodyPr wrap="square" lIns="80000" tIns="60000" rIns="80000" bIns="0" rtlCol="0" anchor="ctr"/>
          <a:lstStyle/>
          <a:p>
            <a:pPr marL="0" indent="0">
              <a:buNone/>
            </a:pPr>
            <a:r>
              <a:rPr lang="ru-RU" sz="1100" b="1" dirty="0">
                <a:solidFill>
                  <a:srgbClr val="12A0B5"/>
                </a:solidFill>
              </a:rPr>
              <a:t>✓  </a:t>
            </a:r>
            <a:r>
              <a:rPr lang="ru-RU" sz="1100" dirty="0">
                <a:solidFill>
                  <a:srgbClr val="FFFFFF"/>
                </a:solidFill>
              </a:rPr>
              <a:t>Среди классических явных схем выделяется </a:t>
            </a:r>
            <a:r>
              <a:rPr lang="ru-RU" sz="1100" b="1" dirty="0">
                <a:solidFill>
                  <a:srgbClr val="12A0B5"/>
                </a:solidFill>
              </a:rPr>
              <a:t>схема Годунова</a:t>
            </a:r>
            <a:r>
              <a:rPr lang="ru-RU" sz="1100" dirty="0">
                <a:solidFill>
                  <a:srgbClr val="FFFFFF"/>
                </a:solidFill>
              </a:rPr>
              <a:t> (консервативность, законы сохранения) и </a:t>
            </a:r>
            <a:r>
              <a:rPr lang="ru-RU" sz="1100" b="1" dirty="0">
                <a:solidFill>
                  <a:srgbClr val="12A0B5"/>
                </a:solidFill>
              </a:rPr>
              <a:t>центральная с искусственной вязкостью</a:t>
            </a:r>
            <a:r>
              <a:rPr lang="ru-RU" sz="1100" dirty="0">
                <a:solidFill>
                  <a:srgbClr val="FFFFFF"/>
                </a:solidFill>
              </a:rPr>
              <a:t> (подавление высокочастотных осцилляций)</a:t>
            </a:r>
          </a:p>
        </p:txBody>
      </p:sp>
      <p:sp>
        <p:nvSpPr>
          <p:cNvPr id="29" name="Card4bg">
            <a:extLst>
              <a:ext uri="{FF2B5EF4-FFF2-40B4-BE49-F238E27FC236}">
                <a16:creationId xmlns:a16="http://schemas.microsoft.com/office/drawing/2014/main" id="{75F877C1-DA67-6205-D1F5-BD71FF77EC1C}"/>
              </a:ext>
            </a:extLst>
          </p:cNvPr>
          <p:cNvSpPr/>
          <p:nvPr/>
        </p:nvSpPr>
        <p:spPr>
          <a:xfrm>
            <a:off x="365760" y="2800000"/>
            <a:ext cx="8412480" cy="670000"/>
          </a:xfrm>
          <a:prstGeom prst="rect">
            <a:avLst/>
          </a:prstGeom>
          <a:solidFill>
            <a:srgbClr val="243B5A"/>
          </a:solidFill>
          <a:ln w="12700">
            <a:solidFill>
              <a:srgbClr val="12A0B5"/>
            </a:solidFill>
          </a:ln>
        </p:spPr>
        <p:txBody>
          <a:bodyPr/>
          <a:lstStyle/>
          <a:p>
            <a:endParaRPr lang="ru-RU"/>
          </a:p>
        </p:txBody>
      </p:sp>
      <p:sp>
        <p:nvSpPr>
          <p:cNvPr id="30" name="Card4stripe">
            <a:extLst>
              <a:ext uri="{FF2B5EF4-FFF2-40B4-BE49-F238E27FC236}">
                <a16:creationId xmlns:a16="http://schemas.microsoft.com/office/drawing/2014/main" id="{800AFFD2-D66E-0999-9E2D-AC59437E3603}"/>
              </a:ext>
            </a:extLst>
          </p:cNvPr>
          <p:cNvSpPr/>
          <p:nvPr/>
        </p:nvSpPr>
        <p:spPr>
          <a:xfrm>
            <a:off x="365760" y="2800000"/>
            <a:ext cx="109728" cy="670000"/>
          </a:xfrm>
          <a:prstGeom prst="rect">
            <a:avLst/>
          </a:prstGeom>
          <a:solidFill>
            <a:srgbClr val="12A0B5"/>
          </a:solidFill>
          <a:ln>
            <a:noFill/>
          </a:ln>
        </p:spPr>
        <p:txBody>
          <a:bodyPr/>
          <a:lstStyle/>
          <a:p>
            <a:endParaRPr lang="ru-RU"/>
          </a:p>
        </p:txBody>
      </p:sp>
      <p:sp>
        <p:nvSpPr>
          <p:cNvPr id="31" name="Card4txt">
            <a:extLst>
              <a:ext uri="{FF2B5EF4-FFF2-40B4-BE49-F238E27FC236}">
                <a16:creationId xmlns:a16="http://schemas.microsoft.com/office/drawing/2014/main" id="{E6157F61-01AD-9842-0404-096A4761512C}"/>
              </a:ext>
            </a:extLst>
          </p:cNvPr>
          <p:cNvSpPr/>
          <p:nvPr/>
        </p:nvSpPr>
        <p:spPr>
          <a:xfrm>
            <a:off x="594360" y="2800000"/>
            <a:ext cx="8092440" cy="670000"/>
          </a:xfrm>
          <a:prstGeom prst="rect">
            <a:avLst/>
          </a:prstGeom>
          <a:noFill/>
          <a:ln>
            <a:noFill/>
          </a:ln>
        </p:spPr>
        <p:txBody>
          <a:bodyPr wrap="square" lIns="80000" tIns="60000" rIns="80000" bIns="0" rtlCol="0" anchor="ctr"/>
          <a:lstStyle/>
          <a:p>
            <a:pPr marL="0" indent="0">
              <a:buNone/>
            </a:pPr>
            <a:r>
              <a:rPr lang="ru-RU" sz="1100" b="1" dirty="0">
                <a:solidFill>
                  <a:srgbClr val="12A0B5"/>
                </a:solidFill>
              </a:rPr>
              <a:t>✓  </a:t>
            </a:r>
            <a:r>
              <a:rPr lang="ru-RU" sz="1100" dirty="0">
                <a:solidFill>
                  <a:srgbClr val="FFFFFF"/>
                </a:solidFill>
              </a:rPr>
              <a:t>Среди неявных схем лучший результат — </a:t>
            </a:r>
            <a:r>
              <a:rPr lang="ru-RU" sz="1100" b="1" dirty="0">
                <a:solidFill>
                  <a:srgbClr val="12A0B5"/>
                </a:solidFill>
              </a:rPr>
              <a:t>Кранк–Николсон с аппроксимацией «против потока»</a:t>
            </a:r>
            <a:r>
              <a:rPr lang="ru-RU" sz="1100" dirty="0">
                <a:solidFill>
                  <a:srgbClr val="FFFFFF"/>
                </a:solidFill>
              </a:rPr>
              <a:t>: 2-й порядок, безусловная устойчивость, без нефизических осцилляций</a:t>
            </a:r>
          </a:p>
        </p:txBody>
      </p:sp>
      <p:sp>
        <p:nvSpPr>
          <p:cNvPr id="32" name="Card5bg">
            <a:extLst>
              <a:ext uri="{FF2B5EF4-FFF2-40B4-BE49-F238E27FC236}">
                <a16:creationId xmlns:a16="http://schemas.microsoft.com/office/drawing/2014/main" id="{10001CFC-D6DB-0098-F44C-C489977F8EB2}"/>
              </a:ext>
            </a:extLst>
          </p:cNvPr>
          <p:cNvSpPr/>
          <p:nvPr/>
        </p:nvSpPr>
        <p:spPr>
          <a:xfrm>
            <a:off x="365760" y="3500000"/>
            <a:ext cx="8412480" cy="670000"/>
          </a:xfrm>
          <a:prstGeom prst="rect">
            <a:avLst/>
          </a:prstGeom>
          <a:solidFill>
            <a:srgbClr val="243B5A"/>
          </a:solidFill>
          <a:ln w="12700">
            <a:solidFill>
              <a:srgbClr val="12A0B5"/>
            </a:solidFill>
          </a:ln>
        </p:spPr>
        <p:txBody>
          <a:bodyPr/>
          <a:lstStyle/>
          <a:p>
            <a:endParaRPr lang="ru-RU"/>
          </a:p>
        </p:txBody>
      </p:sp>
      <p:sp>
        <p:nvSpPr>
          <p:cNvPr id="33" name="Card5stripe">
            <a:extLst>
              <a:ext uri="{FF2B5EF4-FFF2-40B4-BE49-F238E27FC236}">
                <a16:creationId xmlns:a16="http://schemas.microsoft.com/office/drawing/2014/main" id="{520AE232-87C7-B35B-3203-16DFE068CA61}"/>
              </a:ext>
            </a:extLst>
          </p:cNvPr>
          <p:cNvSpPr/>
          <p:nvPr/>
        </p:nvSpPr>
        <p:spPr>
          <a:xfrm>
            <a:off x="365760" y="3500000"/>
            <a:ext cx="109728" cy="670000"/>
          </a:xfrm>
          <a:prstGeom prst="rect">
            <a:avLst/>
          </a:prstGeom>
          <a:solidFill>
            <a:srgbClr val="12A0B5"/>
          </a:solidFill>
          <a:ln>
            <a:noFill/>
          </a:ln>
        </p:spPr>
        <p:txBody>
          <a:bodyPr/>
          <a:lstStyle/>
          <a:p>
            <a:endParaRPr lang="ru-RU"/>
          </a:p>
        </p:txBody>
      </p:sp>
      <p:sp>
        <p:nvSpPr>
          <p:cNvPr id="34" name="Card5txt">
            <a:extLst>
              <a:ext uri="{FF2B5EF4-FFF2-40B4-BE49-F238E27FC236}">
                <a16:creationId xmlns:a16="http://schemas.microsoft.com/office/drawing/2014/main" id="{D2C763D4-06AA-5B1F-5E48-B2B69C9B6497}"/>
              </a:ext>
            </a:extLst>
          </p:cNvPr>
          <p:cNvSpPr/>
          <p:nvPr/>
        </p:nvSpPr>
        <p:spPr>
          <a:xfrm>
            <a:off x="594360" y="3500000"/>
            <a:ext cx="8092440" cy="670000"/>
          </a:xfrm>
          <a:prstGeom prst="rect">
            <a:avLst/>
          </a:prstGeom>
          <a:noFill/>
          <a:ln>
            <a:noFill/>
          </a:ln>
        </p:spPr>
        <p:txBody>
          <a:bodyPr wrap="square" lIns="80000" tIns="60000" rIns="80000" bIns="0" rtlCol="0" anchor="ctr"/>
          <a:lstStyle/>
          <a:p>
            <a:pPr marL="0" indent="0">
              <a:buNone/>
            </a:pPr>
            <a:r>
              <a:rPr lang="ru-RU" sz="1100" b="1" dirty="0">
                <a:solidFill>
                  <a:srgbClr val="12A0B5"/>
                </a:solidFill>
              </a:rPr>
              <a:t>✓  </a:t>
            </a:r>
            <a:r>
              <a:rPr lang="ru-RU" sz="1100" dirty="0">
                <a:solidFill>
                  <a:srgbClr val="FFFFFF"/>
                </a:solidFill>
              </a:rPr>
              <a:t>Выбор норм определяет задачу: </a:t>
            </a:r>
            <a:r>
              <a:rPr lang="ru-RU" sz="1100" b="1" dirty="0">
                <a:solidFill>
                  <a:srgbClr val="12A0B5"/>
                </a:solidFill>
              </a:rPr>
              <a:t>L∞</a:t>
            </a:r>
            <a:r>
              <a:rPr lang="ru-RU" sz="1100" dirty="0">
                <a:solidFill>
                  <a:srgbClr val="FFFFFF"/>
                </a:solidFill>
              </a:rPr>
              <a:t> — точность фронта; </a:t>
            </a:r>
            <a:r>
              <a:rPr lang="ru-RU" sz="1100" b="1" dirty="0">
                <a:solidFill>
                  <a:srgbClr val="12A0B5"/>
                </a:solidFill>
              </a:rPr>
              <a:t>L1, L2</a:t>
            </a:r>
            <a:r>
              <a:rPr lang="ru-RU" sz="1100" dirty="0">
                <a:solidFill>
                  <a:srgbClr val="FFFFFF"/>
                </a:solidFill>
              </a:rPr>
              <a:t> — средняя точность по области; при необходимости безусловной устойчивости — неявные; при приоритете точности профиля — явные 2-го порядка с TVD</a:t>
            </a:r>
          </a:p>
        </p:txBody>
      </p:sp>
      <p:sp>
        <p:nvSpPr>
          <p:cNvPr id="35" name="Card6bg">
            <a:extLst>
              <a:ext uri="{FF2B5EF4-FFF2-40B4-BE49-F238E27FC236}">
                <a16:creationId xmlns:a16="http://schemas.microsoft.com/office/drawing/2014/main" id="{26ACD21D-9695-CF2A-CD1B-F7F7F76293AF}"/>
              </a:ext>
            </a:extLst>
          </p:cNvPr>
          <p:cNvSpPr/>
          <p:nvPr/>
        </p:nvSpPr>
        <p:spPr>
          <a:xfrm>
            <a:off x="365760" y="4200000"/>
            <a:ext cx="8412480" cy="700000"/>
          </a:xfrm>
          <a:prstGeom prst="rect">
            <a:avLst/>
          </a:prstGeom>
          <a:solidFill>
            <a:srgbClr val="0D3B5E"/>
          </a:solidFill>
          <a:ln w="25400">
            <a:solidFill>
              <a:srgbClr val="12A0B5"/>
            </a:solidFill>
          </a:ln>
        </p:spPr>
        <p:txBody>
          <a:bodyPr/>
          <a:lstStyle/>
          <a:p>
            <a:endParaRPr lang="ru-RU"/>
          </a:p>
        </p:txBody>
      </p:sp>
      <p:sp>
        <p:nvSpPr>
          <p:cNvPr id="36" name="Card6stripe">
            <a:extLst>
              <a:ext uri="{FF2B5EF4-FFF2-40B4-BE49-F238E27FC236}">
                <a16:creationId xmlns:a16="http://schemas.microsoft.com/office/drawing/2014/main" id="{DE28B71D-F0A3-99E4-87FA-183B2B7D2E51}"/>
              </a:ext>
            </a:extLst>
          </p:cNvPr>
          <p:cNvSpPr/>
          <p:nvPr/>
        </p:nvSpPr>
        <p:spPr>
          <a:xfrm>
            <a:off x="365760" y="4200000"/>
            <a:ext cx="109728" cy="700000"/>
          </a:xfrm>
          <a:prstGeom prst="rect">
            <a:avLst/>
          </a:prstGeom>
          <a:solidFill>
            <a:srgbClr val="12A0B5"/>
          </a:solidFill>
          <a:ln>
            <a:noFill/>
          </a:ln>
        </p:spPr>
        <p:txBody>
          <a:bodyPr/>
          <a:lstStyle/>
          <a:p>
            <a:endParaRPr lang="ru-RU"/>
          </a:p>
        </p:txBody>
      </p:sp>
      <p:sp>
        <p:nvSpPr>
          <p:cNvPr id="37" name="Card6txt">
            <a:extLst>
              <a:ext uri="{FF2B5EF4-FFF2-40B4-BE49-F238E27FC236}">
                <a16:creationId xmlns:a16="http://schemas.microsoft.com/office/drawing/2014/main" id="{CB25C0F1-C2E2-03CE-A968-80E83C29D0BF}"/>
              </a:ext>
            </a:extLst>
          </p:cNvPr>
          <p:cNvSpPr/>
          <p:nvPr/>
        </p:nvSpPr>
        <p:spPr>
          <a:xfrm>
            <a:off x="594360" y="4200000"/>
            <a:ext cx="8092440" cy="700000"/>
          </a:xfrm>
          <a:prstGeom prst="rect">
            <a:avLst/>
          </a:prstGeom>
          <a:noFill/>
          <a:ln>
            <a:noFill/>
          </a:ln>
        </p:spPr>
        <p:txBody>
          <a:bodyPr wrap="square" lIns="80000" tIns="60000" rIns="80000" bIns="0" rtlCol="0" anchor="ctr"/>
          <a:lstStyle/>
          <a:p>
            <a:pPr marL="0" indent="0">
              <a:buNone/>
            </a:pPr>
            <a:r>
              <a:rPr lang="ru-RU" sz="1100" b="1" dirty="0">
                <a:solidFill>
                  <a:srgbClr val="12A0B5"/>
                </a:solidFill>
              </a:rPr>
              <a:t>★  </a:t>
            </a:r>
            <a:r>
              <a:rPr lang="ru-RU" sz="1100" b="1" dirty="0">
                <a:solidFill>
                  <a:srgbClr val="FFFFFF"/>
                </a:solidFill>
              </a:rPr>
              <a:t>Эффективность схемы определяется не только порядком аппроксимации, но и её диссипативными и дисперсионными свойствами, а также соответствием физической природе задачи переноса</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A2B4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2A0B5"/>
          </a:solidFill>
          <a:ln w="12700">
            <a:solidFill>
              <a:srgbClr val="12A0B5"/>
            </a:solidFill>
            <a:prstDash val="solid"/>
          </a:ln>
        </p:spPr>
        <p:txBody>
          <a:bodyPr/>
          <a:lstStyle/>
          <a:p>
            <a:endParaRPr lang="ru-RU"/>
          </a:p>
        </p:txBody>
      </p:sp>
      <p:sp>
        <p:nvSpPr>
          <p:cNvPr id="3" name="Shape 1"/>
          <p:cNvSpPr/>
          <p:nvPr/>
        </p:nvSpPr>
        <p:spPr>
          <a:xfrm>
            <a:off x="0" y="5088636"/>
            <a:ext cx="9144000" cy="54864"/>
          </a:xfrm>
          <a:prstGeom prst="rect">
            <a:avLst/>
          </a:prstGeom>
          <a:solidFill>
            <a:srgbClr val="12A0B5"/>
          </a:solidFill>
          <a:ln w="12700">
            <a:solidFill>
              <a:srgbClr val="12A0B5"/>
            </a:solidFill>
            <a:prstDash val="solid"/>
          </a:ln>
        </p:spPr>
        <p:txBody>
          <a:bodyPr/>
          <a:lstStyle/>
          <a:p>
            <a:endParaRPr lang="ru-RU"/>
          </a:p>
        </p:txBody>
      </p:sp>
      <p:sp>
        <p:nvSpPr>
          <p:cNvPr id="4" name="Text 2"/>
          <p:cNvSpPr/>
          <p:nvPr/>
        </p:nvSpPr>
        <p:spPr>
          <a:xfrm>
            <a:off x="457200" y="1371600"/>
            <a:ext cx="8229600" cy="1097280"/>
          </a:xfrm>
          <a:prstGeom prst="rect">
            <a:avLst/>
          </a:prstGeom>
          <a:noFill/>
          <a:ln/>
        </p:spPr>
        <p:txBody>
          <a:bodyPr wrap="square" rtlCol="0" anchor="ctr"/>
          <a:lstStyle/>
          <a:p>
            <a:pPr marL="0" indent="0" algn="ctr">
              <a:buNone/>
            </a:pPr>
            <a:r>
              <a:rPr lang="en-US" sz="3400" b="1" dirty="0">
                <a:solidFill>
                  <a:srgbClr val="FFFFFF"/>
                </a:solidFill>
              </a:rPr>
              <a:t>Благодарю за внимание!</a:t>
            </a:r>
            <a:endParaRPr lang="en-US" sz="3400" dirty="0"/>
          </a:p>
        </p:txBody>
      </p:sp>
      <p:sp>
        <p:nvSpPr>
          <p:cNvPr id="5" name="Shape 3"/>
          <p:cNvSpPr/>
          <p:nvPr/>
        </p:nvSpPr>
        <p:spPr>
          <a:xfrm>
            <a:off x="3200400" y="2743200"/>
            <a:ext cx="2743200" cy="45720"/>
          </a:xfrm>
          <a:prstGeom prst="rect">
            <a:avLst/>
          </a:prstGeom>
          <a:solidFill>
            <a:srgbClr val="0D7B8A"/>
          </a:solidFill>
          <a:ln w="12700">
            <a:solidFill>
              <a:srgbClr val="0D7B8A"/>
            </a:solidFill>
            <a:prstDash val="solid"/>
          </a:ln>
        </p:spPr>
        <p:txBody>
          <a:bodyPr/>
          <a:lstStyle/>
          <a:p>
            <a:endParaRPr lang="ru-RU"/>
          </a:p>
        </p:txBody>
      </p:sp>
      <p:sp>
        <p:nvSpPr>
          <p:cNvPr id="6" name="Text 4"/>
          <p:cNvSpPr/>
          <p:nvPr/>
        </p:nvSpPr>
        <p:spPr>
          <a:xfrm>
            <a:off x="457200" y="2926080"/>
            <a:ext cx="8229600" cy="594360"/>
          </a:xfrm>
          <a:prstGeom prst="rect">
            <a:avLst/>
          </a:prstGeom>
          <a:noFill/>
          <a:ln/>
        </p:spPr>
        <p:txBody>
          <a:bodyPr wrap="square" rtlCol="0" anchor="ctr"/>
          <a:lstStyle/>
          <a:p>
            <a:pPr marL="0" indent="0" algn="ctr">
              <a:buNone/>
            </a:pPr>
            <a:r>
              <a:rPr lang="en-US" sz="1600" dirty="0">
                <a:solidFill>
                  <a:srgbClr val="A8C4D4"/>
                </a:solidFill>
              </a:rPr>
              <a:t>Готов ответить </a:t>
            </a:r>
            <a:r>
              <a:rPr lang="en-US" sz="1600" dirty="0" err="1">
                <a:solidFill>
                  <a:srgbClr val="A8C4D4"/>
                </a:solidFill>
              </a:rPr>
              <a:t>на</a:t>
            </a:r>
            <a:r>
              <a:rPr lang="en-US" sz="1600" dirty="0">
                <a:solidFill>
                  <a:srgbClr val="A8C4D4"/>
                </a:solidFill>
              </a:rPr>
              <a:t> </a:t>
            </a:r>
            <a:r>
              <a:rPr lang="en-US" sz="1600" dirty="0" err="1">
                <a:solidFill>
                  <a:srgbClr val="A8C4D4"/>
                </a:solidFill>
              </a:rPr>
              <a:t>вопросы</a:t>
            </a:r>
            <a:endParaRPr lang="en-US" sz="1600" dirty="0"/>
          </a:p>
        </p:txBody>
      </p:sp>
      <p:sp>
        <p:nvSpPr>
          <p:cNvPr id="7" name="Text 5"/>
          <p:cNvSpPr/>
          <p:nvPr/>
        </p:nvSpPr>
        <p:spPr>
          <a:xfrm>
            <a:off x="457200" y="4297680"/>
            <a:ext cx="8229600" cy="502920"/>
          </a:xfrm>
          <a:prstGeom prst="rect">
            <a:avLst/>
          </a:prstGeom>
          <a:noFill/>
          <a:ln/>
        </p:spPr>
        <p:txBody>
          <a:bodyPr wrap="square" rtlCol="0" anchor="ctr"/>
          <a:lstStyle/>
          <a:p>
            <a:pPr marL="0" indent="0" algn="ctr">
              <a:buNone/>
            </a:pPr>
            <a:r>
              <a:rPr lang="en-US" sz="1100" dirty="0">
                <a:solidFill>
                  <a:srgbClr val="64748B"/>
                </a:solidFill>
              </a:rPr>
              <a:t>Хайбулоев Дамир Ахлидинович  |  Научный руководитель: </a:t>
            </a:r>
            <a:r>
              <a:rPr lang="en-US" sz="1100" dirty="0" err="1">
                <a:solidFill>
                  <a:srgbClr val="64748B"/>
                </a:solidFill>
              </a:rPr>
              <a:t>Кобельков</a:t>
            </a:r>
            <a:r>
              <a:rPr lang="en-US" sz="1100" dirty="0">
                <a:solidFill>
                  <a:srgbClr val="64748B"/>
                </a:solidFill>
              </a:rPr>
              <a:t> Г</a:t>
            </a:r>
            <a:r>
              <a:rPr lang="ru-RU" sz="1100" dirty="0" err="1">
                <a:solidFill>
                  <a:srgbClr val="64748B"/>
                </a:solidFill>
              </a:rPr>
              <a:t>еоргий</a:t>
            </a:r>
            <a:r>
              <a:rPr lang="ru-RU" sz="1100">
                <a:solidFill>
                  <a:srgbClr val="64748B"/>
                </a:solidFill>
              </a:rPr>
              <a:t> Михайлович</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148</TotalTime>
  <Words>1163</Words>
  <Application>Microsoft Office PowerPoint</Application>
  <PresentationFormat>Экран (16:9)</PresentationFormat>
  <Paragraphs>155</Paragraphs>
  <Slides>9</Slides>
  <Notes>9</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9</vt:i4>
      </vt:variant>
    </vt:vector>
  </HeadingPairs>
  <TitlesOfParts>
    <vt:vector size="14" baseType="lpstr">
      <vt:lpstr>Arial</vt:lpstr>
      <vt:lpstr>Cambria Math</vt:lpstr>
      <vt:lpstr>Days One</vt:lpstr>
      <vt:lpstr>Montserrat Black</vt:lpstr>
      <vt:lpstr>Office Theme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Предзащита ВКР — Хайбулоев Д.А.</dc:title>
  <dc:subject>PptxGenJS Presentation</dc:subject>
  <dc:creator>PptxGenJS</dc:creator>
  <cp:lastModifiedBy>Damir</cp:lastModifiedBy>
  <cp:revision>6</cp:revision>
  <dcterms:created xsi:type="dcterms:W3CDTF">2026-05-20T17:23:37Z</dcterms:created>
  <dcterms:modified xsi:type="dcterms:W3CDTF">2026-05-21T10:24:55Z</dcterms:modified>
</cp:coreProperties>
</file>