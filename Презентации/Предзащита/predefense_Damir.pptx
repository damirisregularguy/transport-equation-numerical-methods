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5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567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2499C-C93A-3B6C-6289-50DC9C1D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AB843-0A5B-3B49-5DEC-8ABAD7743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76B45-FA0C-C186-EE32-D6989FF4A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831A7-AEF8-5750-B87E-0F3FBBBE0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7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66BF2-E3E2-4CB5-128C-17AF2132D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7BD6E-23EA-94B0-197D-2D24BBCFC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3D253-C088-7C4F-D1F3-66AB6096E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F0C27-4F4F-C282-059F-8B27E73BF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9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gif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10" Type="http://schemas.openxmlformats.org/officeDocument/2006/relationships/image" Target="../media/image19.jpg"/><Relationship Id="rId4" Type="http://schemas.openxmlformats.org/officeDocument/2006/relationships/image" Target="../media/image13.gif"/><Relationship Id="rId9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12A0B5"/>
                </a:solidFill>
              </a:rPr>
              <a:t>ПРЕДЗАЩИТА  ВКР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Сравнение явных и неявных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разностных схем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для уравнения переноса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3429000"/>
            <a:ext cx="2743200" cy="36576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Хайбулоев Дамир Ахлидинович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8C4D4"/>
                </a:solidFill>
              </a:rPr>
              <a:t>Научный руководитель: Кобельков Г.М.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2025 г.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ЦЕЛЬ И ЗАДАЧИ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A0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" cy="914400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</a:rPr>
              <a:t>Цель: сравнительное исследование явных и неявных разностных схем для уравнения переноса по точности, устойчивости и вычислительной трудоёмкости при различных типах коэффициента переноса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2395728"/>
            <a:ext cx="347472" cy="347472"/>
          </a:xfrm>
          <a:prstGeom prst="ellipse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84048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Получить аналитические решения для 4-х типов коэффициента переноса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3054096"/>
            <a:ext cx="347472" cy="347472"/>
          </a:xfrm>
          <a:prstGeom prst="ellipse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84048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94436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Реализовать </a:t>
            </a:r>
            <a:r>
              <a:rPr lang="en-US" sz="1200" dirty="0" err="1">
                <a:solidFill>
                  <a:srgbClr val="1A2B4A"/>
                </a:solidFill>
              </a:rPr>
              <a:t>явные</a:t>
            </a:r>
            <a:r>
              <a:rPr lang="en-US" sz="1200" dirty="0">
                <a:solidFill>
                  <a:srgbClr val="1A2B4A"/>
                </a:solidFill>
              </a:rPr>
              <a:t> </a:t>
            </a:r>
            <a:r>
              <a:rPr lang="en-US" sz="1200" dirty="0" err="1">
                <a:solidFill>
                  <a:srgbClr val="1A2B4A"/>
                </a:solidFill>
              </a:rPr>
              <a:t>схемы</a:t>
            </a:r>
            <a:r>
              <a:rPr lang="en-US" sz="1200" dirty="0">
                <a:solidFill>
                  <a:srgbClr val="1A2B4A"/>
                </a:solidFill>
              </a:rPr>
              <a:t> и </a:t>
            </a:r>
            <a:r>
              <a:rPr lang="en-US" sz="1200" dirty="0" err="1">
                <a:solidFill>
                  <a:srgbClr val="1A2B4A"/>
                </a:solidFill>
              </a:rPr>
              <a:t>неявные</a:t>
            </a:r>
            <a:r>
              <a:rPr lang="en-US" sz="1200" dirty="0">
                <a:solidFill>
                  <a:srgbClr val="1A2B4A"/>
                </a:solidFill>
              </a:rPr>
              <a:t> </a:t>
            </a:r>
            <a:r>
              <a:rPr lang="ru-RU" sz="1200" dirty="0">
                <a:solidFill>
                  <a:srgbClr val="1A2B4A"/>
                </a:solidFill>
              </a:rPr>
              <a:t>схемы.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3712464"/>
            <a:ext cx="347472" cy="347472"/>
          </a:xfrm>
          <a:prstGeom prst="ellipse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384048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60273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Провести численные эксперименты, вычислить нормы ошибок (L1, L2, L∞)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4370832"/>
            <a:ext cx="347472" cy="347472"/>
          </a:xfrm>
          <a:prstGeom prst="ellipse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84048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26110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Сформулировать рекомендации по выбору схем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ПОСТАНОВКА ЗАДАЧИ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B8A"/>
                </a:solidFill>
              </a:rPr>
              <a:t>Уравнение переноса: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B8A"/>
                </a:solidFill>
              </a:rPr>
              <a:t>4 типа коэффициента переноса a(x, t):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1920240" cy="347472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 = const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31927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Равномерный перенос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29718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2487168" y="2971800"/>
            <a:ext cx="1920240" cy="347472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2487168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 = a(x)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87168" y="331927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Зависит от координаты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08576" y="29718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4608576" y="2971800"/>
            <a:ext cx="1920240" cy="347472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608576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 = a(t)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08576" y="331927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Зависит от времени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9984" y="29718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6729984" y="2971800"/>
            <a:ext cx="1920240" cy="347472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729984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 = a(x,t)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9984" y="331927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Нестационарный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Начальное условие — ступенчатая функция (разрыв) для оценки диссипации и дисперсии схем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직사각형 28">
                <a:extLst>
                  <a:ext uri="{FF2B5EF4-FFF2-40B4-BE49-F238E27FC236}">
                    <a16:creationId xmlns:a16="http://schemas.microsoft.com/office/drawing/2014/main" id="{F357F6F7-87A7-529A-1D75-6EC715911168}"/>
                  </a:ext>
                </a:extLst>
              </p:cNvPr>
              <p:cNvSpPr/>
              <p:nvPr/>
            </p:nvSpPr>
            <p:spPr>
              <a:xfrm>
                <a:off x="457200" y="1619876"/>
                <a:ext cx="3657600" cy="619016"/>
              </a:xfrm>
              <a:prstGeom prst="rect">
                <a:avLst/>
              </a:prstGeom>
              <a:effectLst/>
            </p:spPr>
            <p:txBody>
              <a:bodyPr wrap="square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b="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b="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>
                  <a:solidFill>
                    <a:srgbClr val="F5C500"/>
                  </a:solidFill>
                  <a:latin typeface="Days One" panose="02000505000000020004" pitchFamily="2" charset="0"/>
                </a:endParaRPr>
              </a:p>
            </p:txBody>
          </p:sp>
        </mc:Choice>
        <mc:Fallback>
          <p:sp>
            <p:nvSpPr>
              <p:cNvPr id="26" name="직사각형 28">
                <a:extLst>
                  <a:ext uri="{FF2B5EF4-FFF2-40B4-BE49-F238E27FC236}">
                    <a16:creationId xmlns:a16="http://schemas.microsoft.com/office/drawing/2014/main" id="{F357F6F7-87A7-529A-1D75-6EC7159111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19876"/>
                <a:ext cx="3657600" cy="619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F112-C7AC-5605-23F9-BB6FFB6B9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FF9EF2-F044-29FD-3A9F-B756AF4C18C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D0F230-B24B-500E-89C6-A3320DBD6EAA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000" b="1" dirty="0">
                <a:solidFill>
                  <a:srgbClr val="FFFFFF"/>
                </a:solidFill>
              </a:rPr>
              <a:t>Аналитические решения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826393-C77B-FD04-866D-8A439219632D}"/>
              </a:ext>
            </a:extLst>
          </p:cNvPr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2120DE-3430-8AB0-7415-0BC3DDE01A9C}"/>
              </a:ext>
            </a:extLst>
          </p:cNvPr>
          <p:cNvSpPr/>
          <p:nvPr/>
        </p:nvSpPr>
        <p:spPr>
          <a:xfrm>
            <a:off x="457200" y="15544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84CCB5-8B21-27B9-A29F-6DD784A2C27D}"/>
              </a:ext>
            </a:extLst>
          </p:cNvPr>
          <p:cNvSpPr/>
          <p:nvPr/>
        </p:nvSpPr>
        <p:spPr>
          <a:xfrm>
            <a:off x="493776" y="123438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B8A"/>
                </a:solidFill>
              </a:rPr>
              <a:t>4 типа коэффициента переноса a(x, t):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66D679C-5071-4E3E-5606-BA829E40E8D7}"/>
              </a:ext>
            </a:extLst>
          </p:cNvPr>
          <p:cNvSpPr/>
          <p:nvPr/>
        </p:nvSpPr>
        <p:spPr>
          <a:xfrm>
            <a:off x="384047" y="1684108"/>
            <a:ext cx="2670569" cy="14456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FD1E71A-3980-184D-96A7-9BF173CC3444}"/>
              </a:ext>
            </a:extLst>
          </p:cNvPr>
          <p:cNvSpPr/>
          <p:nvPr/>
        </p:nvSpPr>
        <p:spPr>
          <a:xfrm>
            <a:off x="402335" y="1691586"/>
            <a:ext cx="2652281" cy="632391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238B0BE-4903-9E82-7739-987C5EE5EB8C}"/>
              </a:ext>
            </a:extLst>
          </p:cNvPr>
          <p:cNvSpPr/>
          <p:nvPr/>
        </p:nvSpPr>
        <p:spPr>
          <a:xfrm>
            <a:off x="365759" y="1692242"/>
            <a:ext cx="2670569" cy="520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 = const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44517E6-FF83-8E55-EE82-BBF5691B86C6}"/>
              </a:ext>
            </a:extLst>
          </p:cNvPr>
          <p:cNvSpPr/>
          <p:nvPr/>
        </p:nvSpPr>
        <p:spPr>
          <a:xfrm>
            <a:off x="402336" y="2039059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3A1A04A-21F1-9FDF-970F-A96E2C06B439}"/>
              </a:ext>
            </a:extLst>
          </p:cNvPr>
          <p:cNvSpPr/>
          <p:nvPr/>
        </p:nvSpPr>
        <p:spPr>
          <a:xfrm>
            <a:off x="4852825" y="1748746"/>
            <a:ext cx="2670568" cy="1448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15FF63F-448C-4D62-D8ED-868DBB0C6A38}"/>
              </a:ext>
            </a:extLst>
          </p:cNvPr>
          <p:cNvSpPr/>
          <p:nvPr/>
        </p:nvSpPr>
        <p:spPr>
          <a:xfrm>
            <a:off x="4852825" y="1687773"/>
            <a:ext cx="2670568" cy="643947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D206938-316E-A265-BF8E-A4DAA628CFC9}"/>
              </a:ext>
            </a:extLst>
          </p:cNvPr>
          <p:cNvSpPr/>
          <p:nvPr/>
        </p:nvSpPr>
        <p:spPr>
          <a:xfrm>
            <a:off x="4852825" y="1709244"/>
            <a:ext cx="2670568" cy="528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 = a(x)</a:t>
            </a: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E84FC58-BC64-6DE8-BA6F-0C9F4FD8D373}"/>
              </a:ext>
            </a:extLst>
          </p:cNvPr>
          <p:cNvSpPr/>
          <p:nvPr/>
        </p:nvSpPr>
        <p:spPr>
          <a:xfrm>
            <a:off x="384046" y="3384201"/>
            <a:ext cx="2670569" cy="142517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C05ADEF-924A-C7D0-AE71-6EC75B9C225D}"/>
              </a:ext>
            </a:extLst>
          </p:cNvPr>
          <p:cNvSpPr/>
          <p:nvPr/>
        </p:nvSpPr>
        <p:spPr>
          <a:xfrm>
            <a:off x="384046" y="3307782"/>
            <a:ext cx="2670569" cy="495629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15A4E78-7566-58DA-9343-EF44067B847D}"/>
              </a:ext>
            </a:extLst>
          </p:cNvPr>
          <p:cNvSpPr/>
          <p:nvPr/>
        </p:nvSpPr>
        <p:spPr>
          <a:xfrm>
            <a:off x="342639" y="3338482"/>
            <a:ext cx="2633992" cy="44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 = a(t)</a:t>
            </a:r>
            <a:endParaRPr lang="en-US" sz="16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E6BABB1-E13A-9147-058A-77FC9AEA8F2A}"/>
              </a:ext>
            </a:extLst>
          </p:cNvPr>
          <p:cNvSpPr/>
          <p:nvPr/>
        </p:nvSpPr>
        <p:spPr>
          <a:xfrm>
            <a:off x="4857657" y="3300405"/>
            <a:ext cx="2673354" cy="150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62D87B9-1955-F134-4AEA-4A9B36A11AF1}"/>
              </a:ext>
            </a:extLst>
          </p:cNvPr>
          <p:cNvSpPr/>
          <p:nvPr/>
        </p:nvSpPr>
        <p:spPr>
          <a:xfrm>
            <a:off x="4857657" y="3300405"/>
            <a:ext cx="2673354" cy="510667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34A4597-3505-1BF1-D230-1AAED4372D23}"/>
              </a:ext>
            </a:extLst>
          </p:cNvPr>
          <p:cNvSpPr/>
          <p:nvPr/>
        </p:nvSpPr>
        <p:spPr>
          <a:xfrm>
            <a:off x="4857657" y="3307782"/>
            <a:ext cx="2673354" cy="51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 = a(x,t)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845FA66-D252-9980-B3D2-400B2FE3A154}"/>
                  </a:ext>
                </a:extLst>
              </p:cNvPr>
              <p:cNvSpPr txBox="1"/>
              <p:nvPr/>
            </p:nvSpPr>
            <p:spPr>
              <a:xfrm>
                <a:off x="655604" y="2540471"/>
                <a:ext cx="2090878" cy="3385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ru-R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𝑎𝑡</m:t>
                          </m:r>
                        </m:e>
                      </m:d>
                    </m:oMath>
                  </m:oMathPara>
                </a14:m>
                <a:endParaRPr lang="ru-RU" sz="1600" dirty="0">
                  <a:solidFill>
                    <a:schemeClr val="tx1"/>
                  </a:solidFill>
                  <a:latin typeface="Montserrat Black" panose="00000A00000000000000" pitchFamily="2" charset="-52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845FA66-D252-9980-B3D2-400B2FE3A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04" y="2540471"/>
                <a:ext cx="2090878" cy="338554"/>
              </a:xfrm>
              <a:prstGeom prst="rect">
                <a:avLst/>
              </a:prstGeom>
              <a:blipFill>
                <a:blip r:embed="rId3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DBDCD9-E006-8EB3-44A5-C5188371DCF7}"/>
                  </a:ext>
                </a:extLst>
              </p:cNvPr>
              <p:cNvSpPr txBox="1"/>
              <p:nvPr/>
            </p:nvSpPr>
            <p:spPr>
              <a:xfrm>
                <a:off x="4852825" y="2386967"/>
                <a:ext cx="2678186" cy="64556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den>
                              </m:f>
                            </m:e>
                          </m:nary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DBDCD9-E006-8EB3-44A5-C5188371D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825" y="2386967"/>
                <a:ext cx="2678186" cy="6455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5C15E9D-8858-7FA7-60F1-F6AF339611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345" y="1687773"/>
            <a:ext cx="1232249" cy="1445623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BC933D8E-B94C-EC5B-8FE2-390B0E90DA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267" y="1687773"/>
            <a:ext cx="1232249" cy="14418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8021A8-52E5-AC2A-B244-AD92044D4F5A}"/>
                  </a:ext>
                </a:extLst>
              </p:cNvPr>
              <p:cNvSpPr txBox="1"/>
              <p:nvPr/>
            </p:nvSpPr>
            <p:spPr>
              <a:xfrm>
                <a:off x="342639" y="3983500"/>
                <a:ext cx="2711977" cy="65024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ru-RU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8021A8-52E5-AC2A-B244-AD92044D4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39" y="3983500"/>
                <a:ext cx="2711977" cy="6502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0D4F12A-D17F-AD9A-BE05-8F52EFC836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376" y="3307781"/>
            <a:ext cx="1234218" cy="15015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01904C-1C4F-53EC-4FAD-ECA9B93A1DB7}"/>
                  </a:ext>
                </a:extLst>
              </p:cNvPr>
              <p:cNvSpPr txBox="1"/>
              <p:nvPr/>
            </p:nvSpPr>
            <p:spPr>
              <a:xfrm>
                <a:off x="5048803" y="4086326"/>
                <a:ext cx="2301665" cy="37029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de-D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de-D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D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01904C-1C4F-53EC-4FAD-ECA9B93A1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803" y="4086326"/>
                <a:ext cx="2301665" cy="370294"/>
              </a:xfrm>
              <a:prstGeom prst="rect">
                <a:avLst/>
              </a:prstGeom>
              <a:blipFill>
                <a:blip r:embed="rId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B215DD60-1784-0924-F1D6-F11A871A7B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267" y="3300404"/>
            <a:ext cx="1232249" cy="150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63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РЕАЛИЗОВАННЫЕ СХЕМЫ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50292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ЯВНЫЕ СХЕМЫ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292691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91440" cy="86868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Схема «против потока»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(1-й порядок, условно устойчива)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7629" y="2978862"/>
            <a:ext cx="2292691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267629" y="2978862"/>
            <a:ext cx="91440" cy="86868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50509" y="297886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Схема Лакса–Фридрихса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(1-й порядок, условно устойчива)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11684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Условие устойчивости: |a·Δt/Δx| ≤ 1 (число Куранта)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7629" y="4543935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Минимальные вычислительные затраты на шаг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4114800" cy="50292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754880" y="1051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НЕЯВНЫЕ СХЕМЫ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2292691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91440" cy="86868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800600" y="1685135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Кранка–Николсона (на </a:t>
            </a:r>
            <a:r>
              <a:rPr lang="en-US" sz="1100" dirty="0" err="1">
                <a:solidFill>
                  <a:srgbClr val="1A2B4A"/>
                </a:solidFill>
              </a:rPr>
              <a:t>базе</a:t>
            </a:r>
            <a:r>
              <a:rPr lang="en-US" sz="1100" dirty="0">
                <a:solidFill>
                  <a:srgbClr val="1A2B4A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«против потока»)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(2-й порядок, 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1A2B4A"/>
                </a:solidFill>
              </a:rPr>
              <a:t>безусловно</a:t>
            </a:r>
            <a:r>
              <a:rPr lang="en-US" sz="1100" dirty="0">
                <a:solidFill>
                  <a:srgbClr val="1A2B4A"/>
                </a:solidFill>
              </a:rPr>
              <a:t> устойчива)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7291" y="2994009"/>
            <a:ext cx="2246971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761571" y="2987504"/>
            <a:ext cx="91440" cy="86868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853011" y="2972357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Схема Лакса–Вендроффа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(2-й порядок, 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1A2B4A"/>
                </a:solidFill>
              </a:rPr>
              <a:t>безусловно</a:t>
            </a:r>
            <a:r>
              <a:rPr lang="en-US" sz="1100" dirty="0">
                <a:solidFill>
                  <a:srgbClr val="1A2B4A"/>
                </a:solidFill>
              </a:rPr>
              <a:t> устойчива)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206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Безусловная устойчивость по числу Куранта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462478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Требуют решения системы уравнений на каждом шаге</a:t>
            </a:r>
            <a:endParaRPr lang="en-US" sz="105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751D933-C998-F8CB-AF36-A9E97AFC0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451" y="1686250"/>
            <a:ext cx="1730669" cy="2172072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2F8108F-F153-FC77-1867-3EFF62CF0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011" y="1686250"/>
            <a:ext cx="1730669" cy="22124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5F2B8-64BE-7964-E467-CB542B0B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89913F-B4C1-CBC9-9885-C5224335DC6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FAE831-ADDA-4684-85C3-CB33C5F0BE6E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РЕЗУЛЬТАТЫ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CC5591D-6369-B139-F2B8-AEE1AF222F7A}"/>
              </a:ext>
            </a:extLst>
          </p:cNvPr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5CAB09C-DDF7-42B4-ED58-52C84E5035BF}"/>
              </a:ext>
            </a:extLst>
          </p:cNvPr>
          <p:cNvSpPr/>
          <p:nvPr/>
        </p:nvSpPr>
        <p:spPr>
          <a:xfrm>
            <a:off x="274320" y="1051560"/>
            <a:ext cx="4114800" cy="50292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F809A5-27AE-D756-3BE3-54CD6F8CE523}"/>
              </a:ext>
            </a:extLst>
          </p:cNvPr>
          <p:cNvSpPr/>
          <p:nvPr/>
        </p:nvSpPr>
        <p:spPr>
          <a:xfrm>
            <a:off x="274320" y="1051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ЯВНЫЕ СХЕМЫ</a:t>
            </a:r>
            <a:endParaRPr lang="en-US" sz="13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DB80327-6270-3021-A833-F84461AD3636}"/>
              </a:ext>
            </a:extLst>
          </p:cNvPr>
          <p:cNvSpPr/>
          <p:nvPr/>
        </p:nvSpPr>
        <p:spPr>
          <a:xfrm>
            <a:off x="4754880" y="1051560"/>
            <a:ext cx="4114800" cy="50292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045C6C1-3FA7-E657-C6B5-CB37A7AE4BCA}"/>
              </a:ext>
            </a:extLst>
          </p:cNvPr>
          <p:cNvSpPr/>
          <p:nvPr/>
        </p:nvSpPr>
        <p:spPr>
          <a:xfrm>
            <a:off x="4754880" y="1051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НЕЯВНЫЕ СХЕМЫ</a:t>
            </a:r>
            <a:endParaRPr lang="en-US" sz="13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066AC5C-E277-7E4E-0D29-0784EF7BC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04" y="1645920"/>
            <a:ext cx="2859232" cy="1668302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6DC8FC2-5F4A-1273-7595-8E4B2369A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343" y="1737600"/>
            <a:ext cx="2859232" cy="1681968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FA0FD3D-BF34-5F03-3790-791004357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0" y="3771900"/>
            <a:ext cx="1364663" cy="9144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1FDC25E1-AEF2-7835-6A55-5FD39D6D21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083" y="3771900"/>
            <a:ext cx="1364663" cy="9144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E2F87C2D-7628-80A1-5F3C-EDA7741B53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004" y="3771900"/>
            <a:ext cx="1364663" cy="9144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794576AD-5C0A-4323-4D2C-5AD7724674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404" y="3771900"/>
            <a:ext cx="1359040" cy="9144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C43F4C8-91F8-EB25-DA70-AEE8C4E444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226" y="3771900"/>
            <a:ext cx="1385691" cy="9144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A64E1D5D-90A3-0138-D151-86B3C25EE4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699" y="3771900"/>
            <a:ext cx="1390659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5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СРАВНИТЕЛЬНЫЙ АНАЛИЗ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Критерий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051560"/>
            <a:ext cx="2926080" cy="45720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017520" y="1051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Явные схемы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051560"/>
            <a:ext cx="2926080" cy="45720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943600" y="1051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Неявные схемы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274320" y="1508760"/>
            <a:ext cx="274320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</a:rPr>
              <a:t>Устойчивость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17520" y="150876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017520" y="15087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B4A"/>
                </a:solidFill>
              </a:rPr>
              <a:t>Условная (|Cr| ≤ 1)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5943600" y="1508760"/>
            <a:ext cx="2926080" cy="530352"/>
          </a:xfrm>
          <a:prstGeom prst="rect">
            <a:avLst/>
          </a:prstGeom>
          <a:solidFill>
            <a:srgbClr val="12A0B5">
              <a:alpha val="15000"/>
            </a:srgbClr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943600" y="15087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F6B"/>
                </a:solidFill>
              </a:rPr>
              <a:t>Безусловная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057400"/>
            <a:ext cx="27432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74320" y="2057400"/>
            <a:ext cx="274320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</a:rPr>
              <a:t>Точность (порядок)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17520" y="2057400"/>
            <a:ext cx="29260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3017520" y="205740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B4A"/>
                </a:solidFill>
              </a:rPr>
              <a:t>1-й порядок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2057400"/>
            <a:ext cx="29260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5943600" y="2057400"/>
            <a:ext cx="2926080" cy="530352"/>
          </a:xfrm>
          <a:prstGeom prst="rect">
            <a:avLst/>
          </a:prstGeom>
          <a:solidFill>
            <a:srgbClr val="12A0B5">
              <a:alpha val="15000"/>
            </a:srgbClr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943600" y="205740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F6B"/>
                </a:solidFill>
              </a:rPr>
              <a:t>2-й порядок (КН, ЛВ)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60604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274320" y="2606040"/>
            <a:ext cx="274320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</a:rPr>
              <a:t>Числ. диффузия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17520" y="260604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3017520" y="260604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B4A"/>
                </a:solidFill>
              </a:rPr>
              <a:t>Высокая у «против потока»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0" y="260604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5943600" y="2606040"/>
            <a:ext cx="2926080" cy="530352"/>
          </a:xfrm>
          <a:prstGeom prst="rect">
            <a:avLst/>
          </a:prstGeom>
          <a:solidFill>
            <a:srgbClr val="12A0B5">
              <a:alpha val="15000"/>
            </a:srgbClr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5943600" y="260604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F6B"/>
                </a:solidFill>
              </a:rPr>
              <a:t>Ниже у Кранка–Николсона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154680"/>
            <a:ext cx="27432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274320" y="3154680"/>
            <a:ext cx="274320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</a:rPr>
              <a:t>Вычисл. затраты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17520" y="3154680"/>
            <a:ext cx="29260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3017520" y="3154680"/>
            <a:ext cx="2926080" cy="530352"/>
          </a:xfrm>
          <a:prstGeom prst="rect">
            <a:avLst/>
          </a:prstGeom>
          <a:solidFill>
            <a:srgbClr val="12A0B5">
              <a:alpha val="15000"/>
            </a:srgbClr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3017520" y="31546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F6B"/>
                </a:solidFill>
              </a:rPr>
              <a:t>Низкие (нет СЛАУ)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43600" y="3154680"/>
            <a:ext cx="29260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5943600" y="31546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B4A"/>
                </a:solidFill>
              </a:rPr>
              <a:t>Выше (решение СЛАУ)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370332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274320" y="3703320"/>
            <a:ext cx="274320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4A"/>
                </a:solidFill>
              </a:rPr>
              <a:t>Работа с переменными коэфф.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017520" y="370332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3017520" y="370332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B4A"/>
                </a:solidFill>
              </a:rPr>
              <a:t>Локальный контроль Куранта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43600" y="370332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Shape 42"/>
          <p:cNvSpPr/>
          <p:nvPr/>
        </p:nvSpPr>
        <p:spPr>
          <a:xfrm>
            <a:off x="5943600" y="3703320"/>
            <a:ext cx="2926080" cy="530352"/>
          </a:xfrm>
          <a:prstGeom prst="rect">
            <a:avLst/>
          </a:prstGeom>
          <a:solidFill>
            <a:srgbClr val="12A0B5">
              <a:alpha val="15000"/>
            </a:srgbClr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5943600" y="370332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F6B"/>
                </a:solidFill>
              </a:rPr>
              <a:t>Стабильнее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500" dirty="0">
                <a:solidFill>
                  <a:srgbClr val="FFFFFF"/>
                </a:solidFill>
              </a:rPr>
              <a:t>ВЫВОДЫ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804672"/>
          </a:xfrm>
          <a:prstGeom prst="rect">
            <a:avLst/>
          </a:prstGeom>
          <a:solidFill>
            <a:srgbClr val="243B5A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09728" cy="804672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092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Аналитические решения получены для всех 4-х типов коэффициента переноса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804672"/>
          </a:xfrm>
          <a:prstGeom prst="rect">
            <a:avLst/>
          </a:prstGeom>
          <a:solidFill>
            <a:srgbClr val="243B5A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109728" cy="804672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8092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Явные схемы эффективны при соблюдении условия Куранта; при нарушении — теряют устойчивость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804672"/>
          </a:xfrm>
          <a:prstGeom prst="rect">
            <a:avLst/>
          </a:prstGeom>
          <a:solidFill>
            <a:srgbClr val="243B5A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109728" cy="804672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8092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Неявная схема Кранка–Николсона обеспечивает оптимальное сочетание точности (2-й порядок) и безусловной устойчивости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8412480" cy="804672"/>
          </a:xfrm>
          <a:prstGeom prst="rect">
            <a:avLst/>
          </a:prstGeom>
          <a:solidFill>
            <a:srgbClr val="243B5A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109728" cy="804672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94360" y="3840480"/>
            <a:ext cx="8092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Для задач с резкими градиентами рекомендуется Кранк–Николсон или TVD/MUSCL схемы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2A0B5"/>
          </a:solidFill>
          <a:ln w="12700">
            <a:solidFill>
              <a:srgbClr val="12A0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Благодарю за внимание!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0D7B8A"/>
          </a:solidFill>
          <a:ln w="12700">
            <a:solidFill>
              <a:srgbClr val="0D7B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C4D4"/>
                </a:solidFill>
              </a:rPr>
              <a:t>Готов ответить на вопросы комиссии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Хайбулоев Дамир Ахлидинович  |  Научный руководитель: Кобельков Г.М.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461</Words>
  <Application>Microsoft Office PowerPoint</Application>
  <PresentationFormat>Экран (16:9)</PresentationFormat>
  <Paragraphs>97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Cambria Math</vt:lpstr>
      <vt:lpstr>Days One</vt:lpstr>
      <vt:lpstr>Montserrat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Предзащита ВКР — Хайбулоев Д.А.</dc:title>
  <dc:subject>PptxGenJS Presentation</dc:subject>
  <dc:creator>PptxGenJS</dc:creator>
  <cp:lastModifiedBy>Damir</cp:lastModifiedBy>
  <cp:revision>2</cp:revision>
  <dcterms:created xsi:type="dcterms:W3CDTF">2026-05-20T17:23:37Z</dcterms:created>
  <dcterms:modified xsi:type="dcterms:W3CDTF">2026-05-20T18:02:38Z</dcterms:modified>
</cp:coreProperties>
</file>