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77" r:id="rId2"/>
    <p:sldId id="401" r:id="rId3"/>
    <p:sldId id="468" r:id="rId4"/>
    <p:sldId id="479" r:id="rId5"/>
    <p:sldId id="470" r:id="rId6"/>
    <p:sldId id="471" r:id="rId7"/>
    <p:sldId id="480" r:id="rId8"/>
    <p:sldId id="473" r:id="rId9"/>
    <p:sldId id="474" r:id="rId10"/>
    <p:sldId id="475" r:id="rId11"/>
    <p:sldId id="476" r:id="rId12"/>
    <p:sldId id="481" r:id="rId13"/>
    <p:sldId id="478" r:id="rId14"/>
  </p:sldIdLst>
  <p:sldSz cx="12192000" cy="6858000"/>
  <p:notesSz cx="6858000" cy="9144000"/>
  <p:embeddedFontLst>
    <p:embeddedFont>
      <p:font typeface="Malgun Gothic" panose="020B0503020000020004" pitchFamily="34" charset="-127"/>
      <p:regular r:id="rId17"/>
      <p:bold r:id="rId18"/>
    </p:embeddedFont>
    <p:embeddedFont>
      <p:font typeface="Cambria Math" panose="02040503050406030204" pitchFamily="18" charset="0"/>
      <p:regular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MO" initials="M" lastIdx="3" clrIdx="0">
    <p:extLst>
      <p:ext uri="{19B8F6BF-5375-455C-9EA6-DF929625EA0E}">
        <p15:presenceInfo xmlns:p15="http://schemas.microsoft.com/office/powerpoint/2012/main" userId="MOM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136B"/>
    <a:srgbClr val="FF8823"/>
    <a:srgbClr val="F5F5F5"/>
    <a:srgbClr val="40CEE9"/>
    <a:srgbClr val="EE5A4E"/>
    <a:srgbClr val="FB9A50"/>
    <a:srgbClr val="FBD965"/>
    <a:srgbClr val="FCFCFC"/>
    <a:srgbClr val="F8BCC7"/>
    <a:srgbClr val="FFDF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16" autoAdjust="0"/>
    <p:restoredTop sz="94660"/>
  </p:normalViewPr>
  <p:slideViewPr>
    <p:cSldViewPr snapToGrid="0">
      <p:cViewPr>
        <p:scale>
          <a:sx n="70" d="100"/>
          <a:sy n="70" d="100"/>
        </p:scale>
        <p:origin x="1114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17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9230B0E-39ED-45EA-AD95-669D0616B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82B798-201A-4B14-B1F0-6A660C5C72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2F5857-B39B-4284-A086-C6DE2719C9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3EF34-7656-4396-AEBE-2B554E5E9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782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Я представляю программный комплекс </a:t>
            </a:r>
            <a:r>
              <a:rPr lang="ru-RU" b="1" dirty="0"/>
              <a:t>«</a:t>
            </a:r>
            <a:r>
              <a:rPr lang="ru-RU" b="1" dirty="0" err="1"/>
              <a:t>FluxLab</a:t>
            </a:r>
            <a:r>
              <a:rPr lang="ru-RU" b="1" dirty="0"/>
              <a:t>»</a:t>
            </a:r>
            <a:r>
              <a:rPr lang="ru-RU" dirty="0"/>
              <a:t> — это интерактивная среда для исследования разностных схем для уравнения переноса.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514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Работа над проектом началась в процессе выполнения ВКР, где основной математический анализ выполнялся в среде </a:t>
            </a:r>
            <a:r>
              <a:rPr lang="ru-RU" b="1" dirty="0" err="1"/>
              <a:t>Wolfram</a:t>
            </a:r>
            <a:r>
              <a:rPr lang="ru-RU" b="1" dirty="0"/>
              <a:t> </a:t>
            </a:r>
            <a:r>
              <a:rPr lang="ru-RU" b="1" dirty="0" err="1"/>
              <a:t>Mathematica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Однако в процессе стало понятно, что для серии вычислительных экспериментов этот инструмент не очень удобен:</a:t>
            </a:r>
            <a:br>
              <a:rPr lang="ru-RU" dirty="0"/>
            </a:br>
            <a:r>
              <a:rPr lang="ru-RU" dirty="0"/>
              <a:t>приходится постоянно вручную изменять параметры, заново запускать тяжелые вычисления и отдельно сравнивать результаты.</a:t>
            </a:r>
          </a:p>
          <a:p>
            <a:endParaRPr lang="ru-RU" dirty="0"/>
          </a:p>
          <a:p>
            <a:r>
              <a:rPr lang="ru-RU" dirty="0"/>
              <a:t>Поэтому возникла идея разработать собственное автономное программное решение на Python, которое бы позволило превратить процесс вычислений в удобную «цифровую лабораторию».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529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рамках проекта были поставлены следующие задачи.</a:t>
            </a:r>
          </a:p>
          <a:p>
            <a:endParaRPr lang="ru-RU" dirty="0"/>
          </a:p>
          <a:p>
            <a:r>
              <a:rPr lang="ru-RU" dirty="0"/>
              <a:t>Во-первых, изучить математическую постановку задачи и метод характеристик.</a:t>
            </a:r>
          </a:p>
          <a:p>
            <a:br>
              <a:rPr lang="ru-RU" dirty="0"/>
            </a:br>
            <a:r>
              <a:rPr lang="ru-RU" dirty="0"/>
              <a:t>Во-вторых, реализовать библиотеку классических численных схем — как явных, так и неявных.</a:t>
            </a:r>
          </a:p>
          <a:p>
            <a:br>
              <a:rPr lang="ru-RU" dirty="0"/>
            </a:br>
            <a:r>
              <a:rPr lang="ru-RU" dirty="0"/>
              <a:t>Далее, разработать механизм ввода пользовательских схем, чтобы расширять систему без изменения исходного кода</a:t>
            </a:r>
          </a:p>
          <a:p>
            <a:br>
              <a:rPr lang="ru-RU" dirty="0"/>
            </a:br>
            <a:r>
              <a:rPr lang="ru-RU" dirty="0"/>
              <a:t>И, наконец, создать систему визуализации результатов и анализа ошибок.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481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C6604-E843-7755-5E05-54D889F7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5E9C470-1A97-147C-A9E7-CBA31AE61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>
                <a:extLst>
                  <a:ext uri="{FF2B5EF4-FFF2-40B4-BE49-F238E27FC236}">
                    <a16:creationId xmlns:a16="http://schemas.microsoft.com/office/drawing/2014/main" id="{BEDFF07B-00DC-0ABE-5A18-75F5DF29907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В основе работы лежит одномерное уравнение переноса с начальным условием.</a:t>
                </a:r>
              </a:p>
              <a:p>
                <a:endParaRPr lang="ru-RU" dirty="0"/>
              </a:p>
              <a:p>
                <a:r>
                  <a:rPr lang="ru-RU" dirty="0"/>
                  <a:t>Для его анализа используется метод характеристик, который позволяет получить аналитическое решение.</a:t>
                </a:r>
              </a:p>
              <a:p>
                <a:endParaRPr lang="ru-RU" dirty="0"/>
              </a:p>
              <a:p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Важной особенностью программы является поддержка переменного коэффициента переноса </a:t>
                </a:r>
                <a14:m>
                  <m:oMath xmlns:m="http://schemas.openxmlformats.org/officeDocument/2006/math"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lang="ru-RU" sz="12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</m:oMath>
                </a14:m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что усложняет задачу, но делает её более реалистичной.</a:t>
                </a:r>
                <a:endParaRPr lang="ru-RU" dirty="0"/>
              </a:p>
            </p:txBody>
          </p:sp>
        </mc:Choice>
        <mc:Fallback xmlns="">
          <p:sp>
            <p:nvSpPr>
              <p:cNvPr id="3" name="Заметки 2">
                <a:extLst>
                  <a:ext uri="{FF2B5EF4-FFF2-40B4-BE49-F238E27FC236}">
                    <a16:creationId xmlns:a16="http://schemas.microsoft.com/office/drawing/2014/main" id="{BEDFF07B-00DC-0ABE-5A18-75F5DF29907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Мы рассматриваем одномерное уравнение. Важной особенностью программы является поддержка переменного коэффициента переноса 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(𝑥ⓜ,𝑡)</a:t>
                </a:r>
                <a:r>
                  <a:rPr lang="ru-RU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, 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что усложняет задачу, но делает её более реалистичной.</a:t>
                </a:r>
                <a:endParaRPr lang="ru-RU" dirty="0"/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0DA5DD-532E-446F-E2D2-02856FCF3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406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рамках проекта были реализованы основные классы разностных схем, применяемых для уравнения переноса.</a:t>
            </a:r>
          </a:p>
          <a:p>
            <a:endParaRPr lang="ru-RU" dirty="0"/>
          </a:p>
          <a:p>
            <a:r>
              <a:rPr lang="ru-RU" dirty="0"/>
              <a:t>Среди них — явные и неявные схемы, а также более современные подходы, такие как TVD и MUSCL.</a:t>
            </a:r>
          </a:p>
          <a:p>
            <a:endParaRPr lang="ru-RU" dirty="0"/>
          </a:p>
          <a:p>
            <a:r>
              <a:rPr lang="ru-RU" dirty="0"/>
              <a:t>Каждая схема имеет свои особенности по точности, устойчивости и поведению на разрывных решениях.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439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Программный комплекс реализован на языке Python.</a:t>
            </a:r>
          </a:p>
          <a:p>
            <a:endParaRPr lang="ru-RU" dirty="0"/>
          </a:p>
          <a:p>
            <a:r>
              <a:rPr lang="ru-RU" dirty="0"/>
              <a:t>Для вычислений используются библиотеки </a:t>
            </a:r>
            <a:r>
              <a:rPr lang="ru-RU" b="1" dirty="0" err="1"/>
              <a:t>NumPy</a:t>
            </a:r>
            <a:r>
              <a:rPr lang="ru-RU" dirty="0"/>
              <a:t> и </a:t>
            </a:r>
            <a:r>
              <a:rPr lang="ru-RU" b="1" dirty="0" err="1"/>
              <a:t>SciPy</a:t>
            </a:r>
            <a:r>
              <a:rPr lang="ru-RU" dirty="0"/>
              <a:t>,</a:t>
            </a:r>
          </a:p>
          <a:p>
            <a:br>
              <a:rPr lang="ru-RU" dirty="0"/>
            </a:br>
            <a:r>
              <a:rPr lang="ru-RU" dirty="0"/>
              <a:t>для символьных преобразований — </a:t>
            </a:r>
            <a:r>
              <a:rPr lang="ru-RU" b="1" dirty="0" err="1"/>
              <a:t>SymPy</a:t>
            </a:r>
            <a:r>
              <a:rPr lang="ru-RU" dirty="0"/>
              <a:t>,</a:t>
            </a:r>
          </a:p>
          <a:p>
            <a:br>
              <a:rPr lang="ru-RU" dirty="0"/>
            </a:br>
            <a:r>
              <a:rPr lang="ru-RU" dirty="0"/>
              <a:t>для построения графиков и анимаций — </a:t>
            </a:r>
            <a:r>
              <a:rPr lang="ru-RU" b="1" dirty="0" err="1"/>
              <a:t>Plotly</a:t>
            </a:r>
            <a:r>
              <a:rPr lang="ru-RU" dirty="0"/>
              <a:t>,</a:t>
            </a:r>
          </a:p>
          <a:p>
            <a:br>
              <a:rPr lang="ru-RU" dirty="0"/>
            </a:br>
            <a:r>
              <a:rPr lang="ru-RU" dirty="0"/>
              <a:t>а графический интерфейс реализован с помощью </a:t>
            </a:r>
            <a:r>
              <a:rPr lang="ru-RU" b="1" dirty="0"/>
              <a:t>PyQt5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Вся система построена по модульной архитектуре, что позволяет легко расширять функциональность.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612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Интерфейс разделен на логические блоки, позволяя пользователю пройти путь от постановки задачи до анализа результата на одном экране.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986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2CFD4-7AE1-A669-9DB5-EA33ABD4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B9DDD1E-566A-3072-193A-C74F796CE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3EE5E25-0892-6723-F688-E55B4C8AD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Одной из ключевых особенностей системы является возможность задания собственных численных схем.</a:t>
            </a:r>
          </a:p>
          <a:p>
            <a:endParaRPr lang="ru-RU" dirty="0"/>
          </a:p>
          <a:p>
            <a:r>
              <a:rPr lang="ru-RU" dirty="0"/>
              <a:t>Пользователь может вводить схему в виде формулы через JSON-конфигурацию.</a:t>
            </a:r>
          </a:p>
          <a:p>
            <a:r>
              <a:rPr lang="ru-RU" dirty="0"/>
              <a:t>Система автоматически интерпретирует её и включает в вычислительный процесс без необходимости изменения исходного кода.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46E246-67E1-17EB-C58E-87E1AFF35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ходе экспериментов были получены классические результаты поведения схем.</a:t>
            </a:r>
          </a:p>
          <a:p>
            <a:endParaRPr lang="ru-RU" dirty="0"/>
          </a:p>
          <a:p>
            <a:r>
              <a:rPr lang="ru-RU" dirty="0"/>
              <a:t>Схема «</a:t>
            </a:r>
            <a:r>
              <a:rPr lang="ru-RU" dirty="0" err="1"/>
              <a:t>апвинд</a:t>
            </a:r>
            <a:r>
              <a:rPr lang="ru-RU" dirty="0"/>
              <a:t>» показывает высокую устойчивость, но сопровождается значительной численной диффузией.</a:t>
            </a:r>
          </a:p>
          <a:p>
            <a:endParaRPr lang="ru-RU" dirty="0"/>
          </a:p>
          <a:p>
            <a:r>
              <a:rPr lang="ru-RU" dirty="0"/>
              <a:t>Схема </a:t>
            </a:r>
            <a:r>
              <a:rPr lang="ru-RU" dirty="0" err="1"/>
              <a:t>Лакса</a:t>
            </a:r>
            <a:r>
              <a:rPr lang="ru-RU" dirty="0"/>
              <a:t>–</a:t>
            </a:r>
            <a:r>
              <a:rPr lang="ru-RU" dirty="0" err="1"/>
              <a:t>Вендроффа</a:t>
            </a:r>
            <a:r>
              <a:rPr lang="ru-RU" dirty="0"/>
              <a:t> обладает высокой точностью, но может давать осцилляции на разрывах.</a:t>
            </a:r>
          </a:p>
          <a:p>
            <a:endParaRPr lang="ru-RU" dirty="0"/>
          </a:p>
          <a:p>
            <a:r>
              <a:rPr lang="ru-RU" dirty="0"/>
              <a:t>Схемы TVD и MUSCL обеспечивают баланс между точностью и монотонностью решения.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498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21967-129A-7BA4-0FA8-18EC39BC5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096C468-4284-11C5-17F0-30C307EE7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5CC337-CC9B-6F6C-AD6E-E968A221E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системе реализован не только визуальный анализ, но и количественная оценка ошибок.</a:t>
            </a:r>
          </a:p>
          <a:p>
            <a:endParaRPr lang="ru-RU" dirty="0"/>
          </a:p>
          <a:p>
            <a:r>
              <a:rPr lang="ru-RU" dirty="0"/>
              <a:t>Строятся логарифмические графики зависимости ошибки от шага сетки.</a:t>
            </a:r>
          </a:p>
          <a:p>
            <a:r>
              <a:rPr lang="ru-RU" dirty="0"/>
              <a:t>Это позволяет исследовать сходимость численных схем и сравнивать их между собой на строгой математической основе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D6423F-A7BA-8C7B-9550-20DDDC6D4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65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Практическая значимость работы заключается в создании учебно-исследовательского инструмента.</a:t>
            </a:r>
          </a:p>
          <a:p>
            <a:endParaRPr lang="ru-RU" dirty="0"/>
          </a:p>
          <a:p>
            <a:r>
              <a:rPr lang="ru-RU" dirty="0"/>
              <a:t>Был реализован полный цикл: от математической модели до программного продукта.</a:t>
            </a:r>
          </a:p>
          <a:p>
            <a:endParaRPr lang="ru-RU" dirty="0"/>
          </a:p>
          <a:p>
            <a:r>
              <a:rPr lang="ru-RU" dirty="0"/>
              <a:t>Также были сформированы навыки проектирования расширяемых систем и проведения численных экспериментов.</a:t>
            </a:r>
          </a:p>
          <a:p>
            <a:endParaRPr lang="ru-RU" dirty="0"/>
          </a:p>
          <a:p>
            <a:r>
              <a:rPr lang="ru-RU" dirty="0"/>
              <a:t>Кроме того, САМОЕ ГЛАВНОЕ, система позволяет быстро тестировать новые разностные схемы без изменения исходного кода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4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hyperlink" Target="http://www.pptmon.com/" TargetMode="Externa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8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hyperlink" Target="http://pptmon.com/" TargetMode="Externa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hyperlink" Target="http://pptmon.com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hyperlink" Target="http://pptmon.com/" TargetMode="Externa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9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hyperlink" Target="http://pptmon.com/" TargetMode="External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hyperlink" Target="http://pptmon.com/" TargetMode="Externa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hyperlink" Target="http://pptmon.com/" TargetMode="Externa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hyperlink" Target="http://www.pptmon.com/" TargetMode="Externa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hyperlink" Target="http://www.pptmon.com/" TargetMode="Externa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hyperlink" Target="http://www.pptmon.com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hyperlink" Target="http://pptmon.com/" TargetMode="Externa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hyperlink" Target="http://www.pptmon.com/" TargetMode="Externa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2.svg"/><Relationship Id="rId4" Type="http://schemas.openxmlformats.org/officeDocument/2006/relationships/hyperlink" Target="http://pptmon.com/" TargetMode="Externa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hyperlink" Target="http://www.pptmon.com/" TargetMode="Externa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hyperlink" Target="http://www.pptmon.com/" TargetMode="Externa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hyperlink" Target="https://pptmon.com/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pptmon.com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hyperlink" Target="http://www.pptmon.com/" TargetMode="Externa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hyperlink" Target="http://pptmon.com/" TargetMode="External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pptmon.com/" TargetMode="External"/><Relationship Id="rId4" Type="http://schemas.openxmlformats.org/officeDocument/2006/relationships/hyperlink" Target="https://pptmo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3">
            <a:hlinkClick r:id="rId2"/>
            <a:extLst>
              <a:ext uri="{FF2B5EF4-FFF2-40B4-BE49-F238E27FC236}">
                <a16:creationId xmlns:a16="http://schemas.microsoft.com/office/drawing/2014/main" id="{BB124AE4-C141-45FC-A29E-69535DAA5B0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15" name="TextBox 14">
            <a:hlinkClick r:id="rId4"/>
            <a:extLst>
              <a:ext uri="{FF2B5EF4-FFF2-40B4-BE49-F238E27FC236}">
                <a16:creationId xmlns:a16="http://schemas.microsoft.com/office/drawing/2014/main" id="{AB90058C-9003-4D5F-AEB1-38E91447BD19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82937A-D692-4EC6-A94E-539C08E8925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002" y="4193753"/>
            <a:ext cx="476839" cy="202089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45706F-C632-48DE-AFB7-65B84267452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-1109221" y="1850740"/>
            <a:ext cx="4515315" cy="22968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6A7EDB1-F322-4BF6-89FD-3E26EE29CB6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894845" y="5204199"/>
            <a:ext cx="2297155" cy="165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58003AC-7A6F-4001-A92A-CF0B9A41C1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50259" cy="155162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C9F8569-15DF-47D0-BF0E-ECBCD6E115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4670594"/>
            <a:ext cx="1994400" cy="2187406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A32147F-E066-42B7-94D7-AACDF2925E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843754" y="4509754"/>
            <a:ext cx="1975478" cy="272101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4EEFDC3-9424-4AE8-AF0E-5C19D1CECC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703" y="1193080"/>
            <a:ext cx="476839" cy="202089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A3A7262B-5B45-4D73-9C34-37B33685620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459" y="3644029"/>
            <a:ext cx="476839" cy="2020891"/>
          </a:xfrm>
          <a:prstGeom prst="rect">
            <a:avLst/>
          </a:prstGeom>
        </p:spPr>
      </p:pic>
      <p:pic>
        <p:nvPicPr>
          <p:cNvPr id="9" name="Graphic 3">
            <a:hlinkClick r:id="rId6"/>
            <a:extLst>
              <a:ext uri="{FF2B5EF4-FFF2-40B4-BE49-F238E27FC236}">
                <a16:creationId xmlns:a16="http://schemas.microsoft.com/office/drawing/2014/main" id="{78A1AE77-55FA-450B-9183-6B16EDA4D1F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10" name="TextBox 9">
            <a:hlinkClick r:id="rId8"/>
            <a:extLst>
              <a:ext uri="{FF2B5EF4-FFF2-40B4-BE49-F238E27FC236}">
                <a16:creationId xmlns:a16="http://schemas.microsoft.com/office/drawing/2014/main" id="{58223C6E-5BC8-481F-8F1B-A16A7DC5314D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792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CFF5E7A-9E06-41BA-81E1-2B0C158E48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141741" y="5306379"/>
            <a:ext cx="3050259" cy="155162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3C8EE67-5EF3-43AD-88EE-44397DD672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18691" cy="2724797"/>
          </a:xfrm>
          <a:prstGeom prst="rect">
            <a:avLst/>
          </a:prstGeom>
        </p:spPr>
      </p:pic>
      <p:sp>
        <p:nvSpPr>
          <p:cNvPr id="18" name="그림 개체 틀 4">
            <a:extLst>
              <a:ext uri="{FF2B5EF4-FFF2-40B4-BE49-F238E27FC236}">
                <a16:creationId xmlns:a16="http://schemas.microsoft.com/office/drawing/2014/main" id="{35AB1F9A-7353-4B0C-9D88-BA74C004D4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40570" y="856311"/>
            <a:ext cx="3476224" cy="5145378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972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8C738B-C7F6-4009-992B-8F7E4A145E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5977" y="4517705"/>
            <a:ext cx="476839" cy="2020891"/>
          </a:xfrm>
          <a:prstGeom prst="rect">
            <a:avLst/>
          </a:prstGeom>
        </p:spPr>
      </p:pic>
      <p:pic>
        <p:nvPicPr>
          <p:cNvPr id="9" name="Graphic 3">
            <a:hlinkClick r:id="rId5"/>
            <a:extLst>
              <a:ext uri="{FF2B5EF4-FFF2-40B4-BE49-F238E27FC236}">
                <a16:creationId xmlns:a16="http://schemas.microsoft.com/office/drawing/2014/main" id="{C0247199-FB28-47CE-9E63-C43F4409067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10" name="TextBox 9">
            <a:hlinkClick r:id="rId7"/>
            <a:extLst>
              <a:ext uri="{FF2B5EF4-FFF2-40B4-BE49-F238E27FC236}">
                <a16:creationId xmlns:a16="http://schemas.microsoft.com/office/drawing/2014/main" id="{1C5B6ECC-000D-4BEE-BE92-2A79E44A25A8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525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49ED4135-FBB1-42C2-AE6A-E5CDEC5BE7F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74526" y="1433286"/>
            <a:ext cx="2946400" cy="29464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 b="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4">
            <a:extLst>
              <a:ext uri="{FF2B5EF4-FFF2-40B4-BE49-F238E27FC236}">
                <a16:creationId xmlns:a16="http://schemas.microsoft.com/office/drawing/2014/main" id="{7CCF257B-2AB1-47F2-966A-74A9B988D58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22800" y="1433286"/>
            <a:ext cx="2946400" cy="29464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 b="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7" name="그림 개체 틀 4">
            <a:extLst>
              <a:ext uri="{FF2B5EF4-FFF2-40B4-BE49-F238E27FC236}">
                <a16:creationId xmlns:a16="http://schemas.microsoft.com/office/drawing/2014/main" id="{A9641E81-8D7C-42BD-B780-31FDA98F17A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366810" y="1433286"/>
            <a:ext cx="2946400" cy="29464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 b="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C6F9CCE-7583-49D7-ADD9-82B32BB0A0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5911890"/>
            <a:ext cx="2997277" cy="94611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0041409-5BA3-42DE-AC0D-CA51D35DC5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534" y="0"/>
            <a:ext cx="2221466" cy="2081442"/>
          </a:xfrm>
          <a:prstGeom prst="rect">
            <a:avLst/>
          </a:prstGeom>
        </p:spPr>
      </p:pic>
      <p:pic>
        <p:nvPicPr>
          <p:cNvPr id="13" name="Graphic 3">
            <a:hlinkClick r:id="rId4"/>
            <a:extLst>
              <a:ext uri="{FF2B5EF4-FFF2-40B4-BE49-F238E27FC236}">
                <a16:creationId xmlns:a16="http://schemas.microsoft.com/office/drawing/2014/main" id="{25E14DDB-F747-45A8-A467-B4D18344847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14" name="TextBox 13">
            <a:hlinkClick r:id="rId6"/>
            <a:extLst>
              <a:ext uri="{FF2B5EF4-FFF2-40B4-BE49-F238E27FC236}">
                <a16:creationId xmlns:a16="http://schemas.microsoft.com/office/drawing/2014/main" id="{4AD5B3EC-FE7C-4F6E-8619-06A6D205B5AE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012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12">
            <a:extLst>
              <a:ext uri="{FF2B5EF4-FFF2-40B4-BE49-F238E27FC236}">
                <a16:creationId xmlns:a16="http://schemas.microsoft.com/office/drawing/2014/main" id="{5034022F-4A71-4615-9452-5614BEA0606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593808" y="2148416"/>
            <a:ext cx="1947086" cy="1947084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12">
            <a:extLst>
              <a:ext uri="{FF2B5EF4-FFF2-40B4-BE49-F238E27FC236}">
                <a16:creationId xmlns:a16="http://schemas.microsoft.com/office/drawing/2014/main" id="{9427F937-2ACB-4636-8C07-9081C19E941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651106" y="2148416"/>
            <a:ext cx="1947086" cy="1947084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7" name="그림 개체 틀 12">
            <a:extLst>
              <a:ext uri="{FF2B5EF4-FFF2-40B4-BE49-F238E27FC236}">
                <a16:creationId xmlns:a16="http://schemas.microsoft.com/office/drawing/2014/main" id="{5C0444C2-B5E5-4917-95B8-DFCEB51ED98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98674" y="2148416"/>
            <a:ext cx="1947086" cy="1947084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8" name="그림 개체 틀 12">
            <a:extLst>
              <a:ext uri="{FF2B5EF4-FFF2-40B4-BE49-F238E27FC236}">
                <a16:creationId xmlns:a16="http://schemas.microsoft.com/office/drawing/2014/main" id="{F7FC5E50-DC68-4C7D-B493-F3E4D0844AD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946241" y="2148416"/>
            <a:ext cx="1947086" cy="1947084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AC19949-1FD2-4DBB-9B70-65572A009A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600" y="0"/>
            <a:ext cx="1994400" cy="218740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97AD72E-FAD7-4695-B894-0D32B8A737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36987"/>
            <a:ext cx="1975478" cy="2721013"/>
          </a:xfrm>
          <a:prstGeom prst="rect">
            <a:avLst/>
          </a:prstGeom>
        </p:spPr>
      </p:pic>
      <p:pic>
        <p:nvPicPr>
          <p:cNvPr id="11" name="Graphic 3">
            <a:hlinkClick r:id="rId4"/>
            <a:extLst>
              <a:ext uri="{FF2B5EF4-FFF2-40B4-BE49-F238E27FC236}">
                <a16:creationId xmlns:a16="http://schemas.microsoft.com/office/drawing/2014/main" id="{13C7B396-2721-4B85-8ED5-AAA4B5B2BF0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12" name="TextBox 11">
            <a:hlinkClick r:id="rId6"/>
            <a:extLst>
              <a:ext uri="{FF2B5EF4-FFF2-40B4-BE49-F238E27FC236}">
                <a16:creationId xmlns:a16="http://schemas.microsoft.com/office/drawing/2014/main" id="{1E87FECE-B6F4-4E99-A4D4-2D0F3621650B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465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E53C66C6-695F-47DF-8A23-96E95FA6A8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894845" y="0"/>
            <a:ext cx="2297155" cy="16538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82FDE82-D9CE-4077-B1B3-EB311BE727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5911890"/>
            <a:ext cx="2997277" cy="94611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800E651-C270-4538-AD7F-8D4FCA0690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9461" y="-9461"/>
            <a:ext cx="2054951" cy="207387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AE89F9C-981F-4722-95D3-925585964D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049" y="4784127"/>
            <a:ext cx="2054951" cy="2073873"/>
          </a:xfrm>
          <a:prstGeom prst="rect">
            <a:avLst/>
          </a:prstGeom>
        </p:spPr>
      </p:pic>
      <p:pic>
        <p:nvPicPr>
          <p:cNvPr id="8" name="Graphic 3">
            <a:hlinkClick r:id="rId5"/>
            <a:extLst>
              <a:ext uri="{FF2B5EF4-FFF2-40B4-BE49-F238E27FC236}">
                <a16:creationId xmlns:a16="http://schemas.microsoft.com/office/drawing/2014/main" id="{1B031C6C-5AFD-4663-9D13-3BB5FF8DA0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7"/>
            <a:extLst>
              <a:ext uri="{FF2B5EF4-FFF2-40B4-BE49-F238E27FC236}">
                <a16:creationId xmlns:a16="http://schemas.microsoft.com/office/drawing/2014/main" id="{B96A661A-5F32-4C3C-9165-940DD310E8A8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594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2622F2E5-5DEC-4744-91A3-81AC45C8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23353" cy="102924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7E6DC8A-0EA2-46CD-B8EB-D5DEC160B0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9970534" y="4776558"/>
            <a:ext cx="2221466" cy="208144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9608552-6278-4EBB-B5E9-271E6294B9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71" y="514624"/>
            <a:ext cx="476839" cy="2020891"/>
          </a:xfrm>
          <a:prstGeom prst="rect">
            <a:avLst/>
          </a:prstGeom>
        </p:spPr>
      </p:pic>
      <p:pic>
        <p:nvPicPr>
          <p:cNvPr id="7" name="Graphic 3">
            <a:hlinkClick r:id="rId5"/>
            <a:extLst>
              <a:ext uri="{FF2B5EF4-FFF2-40B4-BE49-F238E27FC236}">
                <a16:creationId xmlns:a16="http://schemas.microsoft.com/office/drawing/2014/main" id="{3902A6E6-4E42-403E-A09C-11C8C522F01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7"/>
            <a:extLst>
              <a:ext uri="{FF2B5EF4-FFF2-40B4-BE49-F238E27FC236}">
                <a16:creationId xmlns:a16="http://schemas.microsoft.com/office/drawing/2014/main" id="{C68A7933-5150-4834-81E3-AC39962672F0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582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99B8C5FF-9C6E-4FB5-A8BD-7A01FCF26C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4776557"/>
            <a:ext cx="2221466" cy="208144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7D3E520-0C73-40C8-A460-B186787433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600" y="0"/>
            <a:ext cx="1994400" cy="2187406"/>
          </a:xfrm>
          <a:prstGeom prst="rect">
            <a:avLst/>
          </a:prstGeom>
        </p:spPr>
      </p:pic>
      <p:pic>
        <p:nvPicPr>
          <p:cNvPr id="6" name="Graphic 3">
            <a:hlinkClick r:id="rId4"/>
            <a:extLst>
              <a:ext uri="{FF2B5EF4-FFF2-40B4-BE49-F238E27FC236}">
                <a16:creationId xmlns:a16="http://schemas.microsoft.com/office/drawing/2014/main" id="{311C13FD-F5E8-4D24-B15D-7CB74DEC59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6"/>
            <a:extLst>
              <a:ext uri="{FF2B5EF4-FFF2-40B4-BE49-F238E27FC236}">
                <a16:creationId xmlns:a16="http://schemas.microsoft.com/office/drawing/2014/main" id="{CE79B145-EE5B-4B25-9669-3C60165BF3D7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579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A9BC3DCD-03A2-4EE5-A759-17D1ED55E9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49446" y="0"/>
            <a:ext cx="3050259" cy="155162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A4CC834-6C5D-4B1D-BB68-83B72356C0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2221466" cy="208144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BE9B3B-2B9C-4BD2-8E83-AF8642DB861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843754" y="4509754"/>
            <a:ext cx="1975478" cy="27210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F963494-3520-40AA-A7B0-69D811ED2C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919" y="1041203"/>
            <a:ext cx="476839" cy="2020891"/>
          </a:xfrm>
          <a:prstGeom prst="rect">
            <a:avLst/>
          </a:prstGeom>
        </p:spPr>
      </p:pic>
      <p:sp>
        <p:nvSpPr>
          <p:cNvPr id="9" name="그림 개체 틀 11">
            <a:extLst>
              <a:ext uri="{FF2B5EF4-FFF2-40B4-BE49-F238E27FC236}">
                <a16:creationId xmlns:a16="http://schemas.microsoft.com/office/drawing/2014/main" id="{4A341E82-5F00-4D30-B98E-881240C0DCB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4576" y="819753"/>
            <a:ext cx="2361624" cy="5218494"/>
          </a:xfrm>
          <a:prstGeom prst="roundRect">
            <a:avLst>
              <a:gd name="adj" fmla="val 20435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2" name="Graphic 3">
            <a:hlinkClick r:id="rId6"/>
            <a:extLst>
              <a:ext uri="{FF2B5EF4-FFF2-40B4-BE49-F238E27FC236}">
                <a16:creationId xmlns:a16="http://schemas.microsoft.com/office/drawing/2014/main" id="{41D1BCDD-4CA2-41C2-8459-AA6CDD910E2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13" name="TextBox 12">
            <a:hlinkClick r:id="rId8"/>
            <a:extLst>
              <a:ext uri="{FF2B5EF4-FFF2-40B4-BE49-F238E27FC236}">
                <a16:creationId xmlns:a16="http://schemas.microsoft.com/office/drawing/2014/main" id="{4D1CFB08-CB16-4D69-99F5-5EF376B50321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331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C0950DA-E419-46B5-A57D-1CC40A795D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018" y="0"/>
            <a:ext cx="3050259" cy="15516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7F3F8DF-8665-4A23-9097-A0ACBA5721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745857" y="-240846"/>
            <a:ext cx="476839" cy="20208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626E775-15D9-4916-8C96-789C9895D7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97155" cy="16538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A8F329-318A-4524-854F-A9BBED7881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723" y="5911890"/>
            <a:ext cx="2997277" cy="946110"/>
          </a:xfrm>
          <a:prstGeom prst="rect">
            <a:avLst/>
          </a:prstGeom>
        </p:spPr>
      </p:pic>
      <p:sp>
        <p:nvSpPr>
          <p:cNvPr id="8" name="그림 개체 틀 5">
            <a:extLst>
              <a:ext uri="{FF2B5EF4-FFF2-40B4-BE49-F238E27FC236}">
                <a16:creationId xmlns:a16="http://schemas.microsoft.com/office/drawing/2014/main" id="{B7EC8528-91B7-4E47-90C1-8B4476205C5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74273" y="1109778"/>
            <a:ext cx="6988017" cy="4556788"/>
          </a:xfrm>
          <a:prstGeom prst="roundRect">
            <a:avLst>
              <a:gd name="adj" fmla="val 311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3" name="Graphic 3">
            <a:hlinkClick r:id="rId6"/>
            <a:extLst>
              <a:ext uri="{FF2B5EF4-FFF2-40B4-BE49-F238E27FC236}">
                <a16:creationId xmlns:a16="http://schemas.microsoft.com/office/drawing/2014/main" id="{6685DB24-4634-4EC3-A2D6-0C8EF2A152C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14" name="TextBox 13">
            <a:hlinkClick r:id="rId8"/>
            <a:extLst>
              <a:ext uri="{FF2B5EF4-FFF2-40B4-BE49-F238E27FC236}">
                <a16:creationId xmlns:a16="http://schemas.microsoft.com/office/drawing/2014/main" id="{97AFDB39-A496-418B-AC4C-107FA0BCED31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631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A393EC0-FB4F-4BE9-807A-73979EE2AD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476661" y="5306378"/>
            <a:ext cx="3050259" cy="15516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787B7B2-8F33-4B92-8D02-152731136C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027" y="4295932"/>
            <a:ext cx="476839" cy="202089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7C23D86-49F9-4A01-AE76-CF39BA6AC01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18691" cy="272479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917DB14-F56C-4705-B766-F07CD12921F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0197600" y="4670594"/>
            <a:ext cx="1994400" cy="2187406"/>
          </a:xfrm>
          <a:prstGeom prst="rect">
            <a:avLst/>
          </a:prstGeom>
        </p:spPr>
      </p:pic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4B4C7FEE-CF81-4EF0-90FE-B2C3731DADD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55051" y="1856521"/>
            <a:ext cx="6740399" cy="3865781"/>
          </a:xfrm>
          <a:prstGeom prst="roundRect">
            <a:avLst>
              <a:gd name="adj" fmla="val 181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2" name="Graphic 3">
            <a:hlinkClick r:id="rId6"/>
            <a:extLst>
              <a:ext uri="{FF2B5EF4-FFF2-40B4-BE49-F238E27FC236}">
                <a16:creationId xmlns:a16="http://schemas.microsoft.com/office/drawing/2014/main" id="{2D8FC570-E653-4BE5-8D19-130957B139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14" name="TextBox 13">
            <a:hlinkClick r:id="rId8"/>
            <a:extLst>
              <a:ext uri="{FF2B5EF4-FFF2-40B4-BE49-F238E27FC236}">
                <a16:creationId xmlns:a16="http://schemas.microsoft.com/office/drawing/2014/main" id="{33B030BC-D3DF-4CED-93FC-7E21A6AFE7BF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615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3F8FADF-98E2-4092-9206-9823AD40AE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123979" y="4625180"/>
            <a:ext cx="3356799" cy="11088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1433341-BA53-4D9F-8DC7-764D12B5E6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216522" y="0"/>
            <a:ext cx="1975478" cy="2721013"/>
          </a:xfrm>
          <a:prstGeom prst="rect">
            <a:avLst/>
          </a:prstGeom>
        </p:spPr>
      </p:pic>
      <p:pic>
        <p:nvPicPr>
          <p:cNvPr id="8" name="Graphic 3">
            <a:hlinkClick r:id="rId4"/>
            <a:extLst>
              <a:ext uri="{FF2B5EF4-FFF2-40B4-BE49-F238E27FC236}">
                <a16:creationId xmlns:a16="http://schemas.microsoft.com/office/drawing/2014/main" id="{AC589A37-B13F-4C1B-B968-87E844A030A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10" name="TextBox 9">
            <a:hlinkClick r:id="rId6"/>
            <a:extLst>
              <a:ext uri="{FF2B5EF4-FFF2-40B4-BE49-F238E27FC236}">
                <a16:creationId xmlns:a16="http://schemas.microsoft.com/office/drawing/2014/main" id="{57412E6B-301C-45BA-AB32-3AD674A9B896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140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7011530-60C2-416B-8A25-DCB4780CC2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87166" cy="95997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16D4EE8-495B-45D4-B762-A32BB29162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9970534" y="4776558"/>
            <a:ext cx="2221466" cy="20814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BBAD757-4719-4168-B0E4-FB4945F7FA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372768" y="4509754"/>
            <a:ext cx="1975478" cy="272101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940878D-698E-44AB-A9DE-FF71C66BE75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45" y="479986"/>
            <a:ext cx="476839" cy="2020891"/>
          </a:xfrm>
          <a:prstGeom prst="rect">
            <a:avLst/>
          </a:prstGeom>
        </p:spPr>
      </p:pic>
      <p:pic>
        <p:nvPicPr>
          <p:cNvPr id="8" name="Graphic 3">
            <a:hlinkClick r:id="rId6"/>
            <a:extLst>
              <a:ext uri="{FF2B5EF4-FFF2-40B4-BE49-F238E27FC236}">
                <a16:creationId xmlns:a16="http://schemas.microsoft.com/office/drawing/2014/main" id="{5CEB15D4-01C0-4CF0-97D4-E5D21684E1C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8"/>
            <a:extLst>
              <a:ext uri="{FF2B5EF4-FFF2-40B4-BE49-F238E27FC236}">
                <a16:creationId xmlns:a16="http://schemas.microsoft.com/office/drawing/2014/main" id="{DB2A5F74-217F-4DA0-A2C1-2C202F8A135E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037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B5ACA1F-7D65-4679-8644-9341584B67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201" y="5749159"/>
            <a:ext cx="3356799" cy="11088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51E656-3CA0-425E-9232-0B22E89A45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103054" y="-103052"/>
            <a:ext cx="2518691" cy="2724797"/>
          </a:xfrm>
          <a:prstGeom prst="rect">
            <a:avLst/>
          </a:prstGeom>
        </p:spPr>
      </p:pic>
      <p:pic>
        <p:nvPicPr>
          <p:cNvPr id="8" name="Graphic 3">
            <a:hlinkClick r:id="rId4"/>
            <a:extLst>
              <a:ext uri="{FF2B5EF4-FFF2-40B4-BE49-F238E27FC236}">
                <a16:creationId xmlns:a16="http://schemas.microsoft.com/office/drawing/2014/main" id="{9DE102D3-AFF8-4536-B5CC-78E9580D8F1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6"/>
            <a:extLst>
              <a:ext uri="{FF2B5EF4-FFF2-40B4-BE49-F238E27FC236}">
                <a16:creationId xmlns:a16="http://schemas.microsoft.com/office/drawing/2014/main" id="{30A038CC-39DE-4532-A1FB-8FBB77F312EF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891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C204D9F-1CD3-490B-865F-92E1F37B9F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797702" y="6148742"/>
            <a:ext cx="1394298" cy="7092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D7CAAE3-121B-4F1B-9869-A545E0EA94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18691" cy="27247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F4B5B52-B16F-4434-B5E6-D5626CD6A0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600" y="0"/>
            <a:ext cx="1994400" cy="21874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B101C40-3E6B-475C-BF50-44928082904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6430" y="4482478"/>
            <a:ext cx="476839" cy="2020891"/>
          </a:xfrm>
          <a:prstGeom prst="rect">
            <a:avLst/>
          </a:prstGeom>
        </p:spPr>
      </p:pic>
      <p:pic>
        <p:nvPicPr>
          <p:cNvPr id="8" name="Graphic 3">
            <a:hlinkClick r:id="rId6"/>
            <a:extLst>
              <a:ext uri="{FF2B5EF4-FFF2-40B4-BE49-F238E27FC236}">
                <a16:creationId xmlns:a16="http://schemas.microsoft.com/office/drawing/2014/main" id="{992FE9F3-B6BA-41EC-95F8-DC475052516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8"/>
            <a:extLst>
              <a:ext uri="{FF2B5EF4-FFF2-40B4-BE49-F238E27FC236}">
                <a16:creationId xmlns:a16="http://schemas.microsoft.com/office/drawing/2014/main" id="{7EDCDC0E-6214-4520-A1DE-C528727E44F7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05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3E7841D-1792-43AF-A2B2-E9CAB3D3DE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23901" y="1"/>
            <a:ext cx="1568098" cy="79766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A049A3E-87C8-435B-9A01-DDB49FD374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2221466" cy="208144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398BCD8-90C9-4731-A231-7613D6B417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9673309" y="4133203"/>
            <a:ext cx="2518691" cy="272479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13F7AA7-1998-4A46-A518-1D9264AE02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62433" y="5218637"/>
            <a:ext cx="476839" cy="20208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F1BB304-9193-4846-946A-FA258C679E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252728" y="-381527"/>
            <a:ext cx="476839" cy="2020891"/>
          </a:xfrm>
          <a:prstGeom prst="rect">
            <a:avLst/>
          </a:prstGeom>
        </p:spPr>
      </p:pic>
      <p:pic>
        <p:nvPicPr>
          <p:cNvPr id="10" name="Graphic 3">
            <a:hlinkClick r:id="rId6"/>
            <a:extLst>
              <a:ext uri="{FF2B5EF4-FFF2-40B4-BE49-F238E27FC236}">
                <a16:creationId xmlns:a16="http://schemas.microsoft.com/office/drawing/2014/main" id="{C834570D-9E25-4DB0-9463-6F741486846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8"/>
            <a:extLst>
              <a:ext uri="{FF2B5EF4-FFF2-40B4-BE49-F238E27FC236}">
                <a16:creationId xmlns:a16="http://schemas.microsoft.com/office/drawing/2014/main" id="{B5F8C127-0CF0-4E1A-B696-F78A12BF4A4E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165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4D114C1-9B62-4939-AF90-5A92BFCCF4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5967303"/>
            <a:ext cx="1750979" cy="89069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B47C5FC-8CB8-44E4-9C39-A2B5E29F3F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673309" y="4133202"/>
            <a:ext cx="2518691" cy="272479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0DFE12F-8F76-44E0-8752-6C7D3790C3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72768" y="-372767"/>
            <a:ext cx="1975478" cy="272101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7B593F3-FD1B-411D-937C-A293097024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10441021" y="1"/>
            <a:ext cx="1750979" cy="89069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13F7AA7-1998-4A46-A518-1D9264AE02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7301" y="4367224"/>
            <a:ext cx="476839" cy="20208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4755FAE-254A-4998-B278-0FB0A9315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0" y="469885"/>
            <a:ext cx="476839" cy="2020891"/>
          </a:xfrm>
          <a:prstGeom prst="rect">
            <a:avLst/>
          </a:prstGeom>
        </p:spPr>
      </p:pic>
      <p:pic>
        <p:nvPicPr>
          <p:cNvPr id="10" name="Graphic 3">
            <a:hlinkClick r:id="rId6"/>
            <a:extLst>
              <a:ext uri="{FF2B5EF4-FFF2-40B4-BE49-F238E27FC236}">
                <a16:creationId xmlns:a16="http://schemas.microsoft.com/office/drawing/2014/main" id="{0112A662-8452-461B-BD3F-0F8DABD3939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8"/>
            <a:extLst>
              <a:ext uri="{FF2B5EF4-FFF2-40B4-BE49-F238E27FC236}">
                <a16:creationId xmlns:a16="http://schemas.microsoft.com/office/drawing/2014/main" id="{EB565640-721C-4ACD-B19A-9E5051FC114A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585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AE0A0E6-EC71-4ADB-9ED4-1059A404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161" y="4520609"/>
            <a:ext cx="476839" cy="202089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6D5178F-D960-4DA5-867D-3FE84F1751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6503" y="-96503"/>
            <a:ext cx="1994400" cy="218740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4EDB5AB-07A7-4562-8F23-03951496B7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843754" y="4509754"/>
            <a:ext cx="1975478" cy="2721013"/>
          </a:xfrm>
          <a:prstGeom prst="rect">
            <a:avLst/>
          </a:prstGeom>
        </p:spPr>
      </p:pic>
      <p:pic>
        <p:nvPicPr>
          <p:cNvPr id="7" name="Graphic 3">
            <a:hlinkClick r:id="rId5"/>
            <a:extLst>
              <a:ext uri="{FF2B5EF4-FFF2-40B4-BE49-F238E27FC236}">
                <a16:creationId xmlns:a16="http://schemas.microsoft.com/office/drawing/2014/main" id="{98B8CAE9-09DD-42EF-A60F-C29635A3483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7"/>
            <a:extLst>
              <a:ext uri="{FF2B5EF4-FFF2-40B4-BE49-F238E27FC236}">
                <a16:creationId xmlns:a16="http://schemas.microsoft.com/office/drawing/2014/main" id="{82D9D3BE-B58E-463E-A337-20B194D3F768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879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  <a:extLst>
              <a:ext uri="{FF2B5EF4-FFF2-40B4-BE49-F238E27FC236}">
                <a16:creationId xmlns:a16="http://schemas.microsoft.com/office/drawing/2014/main" id="{505EEBA6-FE85-40A4-85AE-BD9B9060D30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E1EB029F-3930-4651-BC04-AF86100C7038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165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  <a:extLst>
              <a:ext uri="{FF2B5EF4-FFF2-40B4-BE49-F238E27FC236}">
                <a16:creationId xmlns:a16="http://schemas.microsoft.com/office/drawing/2014/main" id="{150C81DC-9020-49CD-90E1-EBE9EF8F82A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909"/>
          <a:stretch/>
        </p:blipFill>
        <p:spPr>
          <a:xfrm>
            <a:off x="5771192" y="6885391"/>
            <a:ext cx="2239204" cy="246221"/>
          </a:xfrm>
          <a:prstGeom prst="rect">
            <a:avLst/>
          </a:prstGeom>
        </p:spPr>
      </p:pic>
      <p:sp>
        <p:nvSpPr>
          <p:cNvPr id="5" name="TextBox 4">
            <a:hlinkClick r:id="rId4"/>
            <a:extLst>
              <a:ext uri="{FF2B5EF4-FFF2-40B4-BE49-F238E27FC236}">
                <a16:creationId xmlns:a16="http://schemas.microsoft.com/office/drawing/2014/main" id="{43B67AD5-C0F9-47E3-BD7D-1EA0E6FD848A}"/>
              </a:ext>
            </a:extLst>
          </p:cNvPr>
          <p:cNvSpPr txBox="1"/>
          <p:nvPr userDrawn="1"/>
        </p:nvSpPr>
        <p:spPr>
          <a:xfrm>
            <a:off x="4181605" y="6931487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687" r:id="rId19"/>
    <p:sldLayoutId id="2147483664" r:id="rId2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9402A81-AFED-4E1D-8539-ABAC57D40E00}"/>
              </a:ext>
            </a:extLst>
          </p:cNvPr>
          <p:cNvSpPr txBox="1"/>
          <p:nvPr/>
        </p:nvSpPr>
        <p:spPr>
          <a:xfrm>
            <a:off x="1981200" y="3767672"/>
            <a:ext cx="10466440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Программный комплекс «</a:t>
            </a:r>
            <a:r>
              <a:rPr lang="ru-RU" sz="40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FluxLab</a:t>
            </a:r>
            <a:r>
              <a:rPr lang="ru-RU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»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166F9F-0E5C-4DE6-AF81-8E43CB58EA79}"/>
              </a:ext>
            </a:extLst>
          </p:cNvPr>
          <p:cNvSpPr txBox="1"/>
          <p:nvPr/>
        </p:nvSpPr>
        <p:spPr>
          <a:xfrm>
            <a:off x="1981200" y="6075996"/>
            <a:ext cx="58784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26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Хайбулоев</a:t>
            </a:r>
            <a:r>
              <a:rPr lang="ru-RU" altLang="ko-KR" sz="2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Дамир</a:t>
            </a:r>
            <a:endParaRPr lang="ko-KR" altLang="en-US" sz="2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AF7DCF-6DEB-3C65-2CB3-F1EA664EBA62}"/>
              </a:ext>
            </a:extLst>
          </p:cNvPr>
          <p:cNvSpPr txBox="1"/>
          <p:nvPr/>
        </p:nvSpPr>
        <p:spPr>
          <a:xfrm>
            <a:off x="1981200" y="4475558"/>
            <a:ext cx="7674077" cy="8925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ru-RU" sz="2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Интерактивная среда исследования разностных схем для уравнения переноса.</a:t>
            </a:r>
          </a:p>
        </p:txBody>
      </p:sp>
    </p:spTree>
    <p:extLst>
      <p:ext uri="{BB962C8B-B14F-4D97-AF65-F5344CB8AC3E}">
        <p14:creationId xmlns:p14="http://schemas.microsoft.com/office/powerpoint/2010/main" val="2765140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A1BA1AF-16E8-488B-A32F-CD3C197461CB}"/>
              </a:ext>
            </a:extLst>
          </p:cNvPr>
          <p:cNvSpPr txBox="1"/>
          <p:nvPr/>
        </p:nvSpPr>
        <p:spPr>
          <a:xfrm>
            <a:off x="499193" y="531752"/>
            <a:ext cx="8074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Предыстория и мотивация проекта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EB387E2-D6A4-445A-A408-003AF54F2C32}"/>
              </a:ext>
            </a:extLst>
          </p:cNvPr>
          <p:cNvSpPr/>
          <p:nvPr/>
        </p:nvSpPr>
        <p:spPr>
          <a:xfrm>
            <a:off x="1644444" y="1946996"/>
            <a:ext cx="967246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Работа над ВКР началась с глубокого математического анализа в </a:t>
            </a:r>
            <a:r>
              <a:rPr lang="ru-RU" sz="28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Wolfram</a:t>
            </a:r>
            <a:r>
              <a:rPr lang="ru-RU" sz="2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ru-RU" sz="28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Mathematica</a:t>
            </a:r>
            <a:r>
              <a:rPr lang="ru-RU" sz="2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773C84B-48B0-47C9-BD64-3DF217DED26B}"/>
              </a:ext>
            </a:extLst>
          </p:cNvPr>
          <p:cNvSpPr/>
          <p:nvPr/>
        </p:nvSpPr>
        <p:spPr>
          <a:xfrm>
            <a:off x="973412" y="2031456"/>
            <a:ext cx="6020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2800" dirty="0">
                <a:solidFill>
                  <a:schemeClr val="bg1"/>
                </a:solidFill>
                <a:latin typeface="+mj-lt"/>
              </a:rPr>
              <a:t>01.</a:t>
            </a:r>
            <a:endParaRPr lang="ko-KR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A87A935-2D8F-4601-A00B-70504DB4F724}"/>
              </a:ext>
            </a:extLst>
          </p:cNvPr>
          <p:cNvSpPr/>
          <p:nvPr/>
        </p:nvSpPr>
        <p:spPr>
          <a:xfrm>
            <a:off x="1644443" y="3141805"/>
            <a:ext cx="990845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Исследование в </a:t>
            </a:r>
            <a:r>
              <a:rPr lang="ru-RU" sz="28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Mathematica</a:t>
            </a:r>
            <a:r>
              <a:rPr lang="ru-RU" sz="2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требует постоянного запуска тяжелых блоков кода, ручного изменения параметров в скриптах</a:t>
            </a:r>
            <a:endParaRPr lang="ko-KR" altLang="en-US" sz="28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4564D19-8184-424E-813E-F69EA0B23C92}"/>
              </a:ext>
            </a:extLst>
          </p:cNvPr>
          <p:cNvSpPr/>
          <p:nvPr/>
        </p:nvSpPr>
        <p:spPr>
          <a:xfrm>
            <a:off x="973412" y="3261507"/>
            <a:ext cx="6767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2800" dirty="0">
                <a:solidFill>
                  <a:schemeClr val="bg1"/>
                </a:solidFill>
                <a:latin typeface="+mj-lt"/>
              </a:rPr>
              <a:t>02.</a:t>
            </a:r>
            <a:endParaRPr lang="ko-KR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D524CD8-FB41-4735-BF62-FFB6D1A4436D}"/>
              </a:ext>
            </a:extLst>
          </p:cNvPr>
          <p:cNvSpPr/>
          <p:nvPr/>
        </p:nvSpPr>
        <p:spPr>
          <a:xfrm>
            <a:off x="1644442" y="4336614"/>
            <a:ext cx="990845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Разработка собственного автономного ПО на Python, которое превращает расчетный код в «цифровую лабораторию».</a:t>
            </a:r>
            <a:endParaRPr lang="ko-KR" altLang="en-US" sz="28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C144540-F944-4587-9A9F-F34E807ABF4D}"/>
              </a:ext>
            </a:extLst>
          </p:cNvPr>
          <p:cNvSpPr/>
          <p:nvPr/>
        </p:nvSpPr>
        <p:spPr>
          <a:xfrm>
            <a:off x="973411" y="4491558"/>
            <a:ext cx="6020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2800" dirty="0">
                <a:solidFill>
                  <a:schemeClr val="bg1"/>
                </a:solidFill>
                <a:latin typeface="+mj-lt"/>
              </a:rPr>
              <a:t>03.</a:t>
            </a:r>
            <a:endParaRPr lang="ko-KR" altLang="en-US" sz="28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21579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5D142-0E46-EEBC-5342-90B21B4DA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EEF785-3625-5E51-BBAF-93487493F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21" y="989018"/>
            <a:ext cx="11500957" cy="487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98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2E415-76B7-47EA-C7C2-69E599C14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6D2572A2-5465-FBE0-A0C3-D7C7A27F3E62}"/>
              </a:ext>
            </a:extLst>
          </p:cNvPr>
          <p:cNvSpPr/>
          <p:nvPr/>
        </p:nvSpPr>
        <p:spPr>
          <a:xfrm>
            <a:off x="5059791" y="1919047"/>
            <a:ext cx="2072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+mj-lt"/>
              </a:rPr>
              <a:t>01.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12E272C-187E-23CE-2C74-0E722E5F05B6}"/>
              </a:ext>
            </a:extLst>
          </p:cNvPr>
          <p:cNvSpPr/>
          <p:nvPr/>
        </p:nvSpPr>
        <p:spPr>
          <a:xfrm>
            <a:off x="8914434" y="1919047"/>
            <a:ext cx="2072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+mj-lt"/>
              </a:rPr>
              <a:t>02.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EB682AC-61CA-0AC8-2F80-154E4D606980}"/>
              </a:ext>
            </a:extLst>
          </p:cNvPr>
          <p:cNvSpPr/>
          <p:nvPr/>
        </p:nvSpPr>
        <p:spPr>
          <a:xfrm>
            <a:off x="5065801" y="4005678"/>
            <a:ext cx="2072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+mj-lt"/>
              </a:rPr>
              <a:t>03.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9F1AEA-24E5-0F0D-3DAA-67D524ADC7B6}"/>
              </a:ext>
            </a:extLst>
          </p:cNvPr>
          <p:cNvSpPr/>
          <p:nvPr/>
        </p:nvSpPr>
        <p:spPr>
          <a:xfrm>
            <a:off x="8914434" y="4005678"/>
            <a:ext cx="2072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+mj-lt"/>
              </a:rPr>
              <a:t>04.</a:t>
            </a:r>
          </a:p>
        </p:txBody>
      </p:sp>
      <p:sp>
        <p:nvSpPr>
          <p:cNvPr id="2" name="직사각형 41">
            <a:extLst>
              <a:ext uri="{FF2B5EF4-FFF2-40B4-BE49-F238E27FC236}">
                <a16:creationId xmlns:a16="http://schemas.microsoft.com/office/drawing/2014/main" id="{9D37B040-BDA7-51C1-4C31-5C54401EF5B2}"/>
              </a:ext>
            </a:extLst>
          </p:cNvPr>
          <p:cNvSpPr/>
          <p:nvPr/>
        </p:nvSpPr>
        <p:spPr>
          <a:xfrm>
            <a:off x="5040047" y="2451614"/>
            <a:ext cx="29924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Изучить математическую постановку и метод характеристик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32C2B-BD66-81D1-B550-A614984985B7}"/>
              </a:ext>
            </a:extLst>
          </p:cNvPr>
          <p:cNvSpPr txBox="1"/>
          <p:nvPr/>
        </p:nvSpPr>
        <p:spPr>
          <a:xfrm>
            <a:off x="774495" y="1211161"/>
            <a:ext cx="3689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Задачи проекта</a:t>
            </a:r>
          </a:p>
        </p:txBody>
      </p:sp>
      <p:sp>
        <p:nvSpPr>
          <p:cNvPr id="4" name="직사각형 41">
            <a:extLst>
              <a:ext uri="{FF2B5EF4-FFF2-40B4-BE49-F238E27FC236}">
                <a16:creationId xmlns:a16="http://schemas.microsoft.com/office/drawing/2014/main" id="{F3C22192-7229-5E84-E071-1AA2BBCAB382}"/>
              </a:ext>
            </a:extLst>
          </p:cNvPr>
          <p:cNvSpPr/>
          <p:nvPr/>
        </p:nvSpPr>
        <p:spPr>
          <a:xfrm>
            <a:off x="8914434" y="2451614"/>
            <a:ext cx="29924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chemeClr val="bg1"/>
                </a:solidFill>
                <a:cs typeface="Arial" panose="020B0604020202020204" pitchFamily="34" charset="0"/>
              </a:rPr>
              <a:t>Реализовать библиотеку классических схем (явных и неявных)</a:t>
            </a:r>
          </a:p>
        </p:txBody>
      </p:sp>
      <p:sp>
        <p:nvSpPr>
          <p:cNvPr id="5" name="직사각형 41">
            <a:extLst>
              <a:ext uri="{FF2B5EF4-FFF2-40B4-BE49-F238E27FC236}">
                <a16:creationId xmlns:a16="http://schemas.microsoft.com/office/drawing/2014/main" id="{706E918F-0D28-AA36-E33B-D7C912AA6955}"/>
              </a:ext>
            </a:extLst>
          </p:cNvPr>
          <p:cNvSpPr/>
          <p:nvPr/>
        </p:nvSpPr>
        <p:spPr>
          <a:xfrm>
            <a:off x="5059791" y="4577367"/>
            <a:ext cx="30813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chemeClr val="bg1"/>
                </a:solidFill>
                <a:cs typeface="Arial" panose="020B0604020202020204" pitchFamily="34" charset="0"/>
              </a:rPr>
              <a:t>Разработать механизм ввода пользовательских схем.</a:t>
            </a:r>
          </a:p>
        </p:txBody>
      </p:sp>
      <p:sp>
        <p:nvSpPr>
          <p:cNvPr id="6" name="직사각형 41">
            <a:extLst>
              <a:ext uri="{FF2B5EF4-FFF2-40B4-BE49-F238E27FC236}">
                <a16:creationId xmlns:a16="http://schemas.microsoft.com/office/drawing/2014/main" id="{9262EB50-1C74-4623-124D-7B412C022EF1}"/>
              </a:ext>
            </a:extLst>
          </p:cNvPr>
          <p:cNvSpPr/>
          <p:nvPr/>
        </p:nvSpPr>
        <p:spPr>
          <a:xfrm>
            <a:off x="8825546" y="4577367"/>
            <a:ext cx="30813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chemeClr val="bg1"/>
                </a:solidFill>
                <a:cs typeface="Arial" panose="020B0604020202020204" pitchFamily="34" charset="0"/>
              </a:rPr>
              <a:t>Создать систему визуализации и анализа ошибок.</a:t>
            </a:r>
          </a:p>
        </p:txBody>
      </p:sp>
    </p:spTree>
    <p:extLst>
      <p:ext uri="{BB962C8B-B14F-4D97-AF65-F5344CB8AC3E}">
        <p14:creationId xmlns:p14="http://schemas.microsoft.com/office/powerpoint/2010/main" val="580512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48B05-ADE2-274F-AE2F-B36888142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75A391B-C11C-5D2C-DF1E-662DEBCAB5D6}"/>
              </a:ext>
            </a:extLst>
          </p:cNvPr>
          <p:cNvSpPr txBox="1"/>
          <p:nvPr/>
        </p:nvSpPr>
        <p:spPr>
          <a:xfrm>
            <a:off x="499193" y="531752"/>
            <a:ext cx="8074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5DED5048-977E-3A17-53F1-F00072F48C41}"/>
                  </a:ext>
                </a:extLst>
              </p:cNvPr>
              <p:cNvSpPr/>
              <p:nvPr/>
            </p:nvSpPr>
            <p:spPr>
              <a:xfrm>
                <a:off x="1259767" y="2072929"/>
                <a:ext cx="9672466" cy="16194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8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Уравнение: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ar-AE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ar-AE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ar-AE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ar-AE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ar-AE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8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  <a:p>
                <a:r>
                  <a:rPr lang="ar-AE" dirty="0"/>
                  <a:t>.</a:t>
                </a:r>
              </a:p>
            </p:txBody>
          </p:sp>
        </mc:Choice>
        <mc:Fallback xmlns=""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5DED5048-977E-3A17-53F1-F00072F48C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767" y="2072929"/>
                <a:ext cx="9672466" cy="1619482"/>
              </a:xfrm>
              <a:prstGeom prst="rect">
                <a:avLst/>
              </a:prstGeom>
              <a:blipFill>
                <a:blip r:embed="rId3"/>
                <a:stretch>
                  <a:fillRect l="-1324" t="-4511"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C040C57A-A161-4921-F489-FFD448CA2238}"/>
                  </a:ext>
                </a:extLst>
              </p:cNvPr>
              <p:cNvSpPr/>
              <p:nvPr/>
            </p:nvSpPr>
            <p:spPr>
              <a:xfrm>
                <a:off x="1259767" y="3692411"/>
                <a:ext cx="9908459" cy="12311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800" dirty="0">
                    <a:solidFill>
                      <a:schemeClr val="bg1"/>
                    </a:solidFill>
                    <a:latin typeface="+mj-lt"/>
                    <a:cs typeface="Arial" panose="020B0604020202020204" pitchFamily="34" charset="0"/>
                  </a:rPr>
                  <a:t>Начальное условие: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ar-AE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ar-AE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sz="28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endParaRPr>
              </a:p>
              <a:p>
                <a:r>
                  <a:rPr lang="ar-AE" dirty="0"/>
                  <a:t>.</a:t>
                </a:r>
              </a:p>
            </p:txBody>
          </p:sp>
        </mc:Choice>
        <mc:Fallback xmlns=""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C040C57A-A161-4921-F489-FFD448CA22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767" y="3692411"/>
                <a:ext cx="9908459" cy="1231106"/>
              </a:xfrm>
              <a:prstGeom prst="rect">
                <a:avLst/>
              </a:prstGeom>
              <a:blipFill>
                <a:blip r:embed="rId4"/>
                <a:stretch>
                  <a:fillRect l="-1292" t="-6436" b="-69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직사각형 49">
            <a:extLst>
              <a:ext uri="{FF2B5EF4-FFF2-40B4-BE49-F238E27FC236}">
                <a16:creationId xmlns:a16="http://schemas.microsoft.com/office/drawing/2014/main" id="{8471EBAE-8779-FC4C-6C51-03B336426BF3}"/>
              </a:ext>
            </a:extLst>
          </p:cNvPr>
          <p:cNvSpPr/>
          <p:nvPr/>
        </p:nvSpPr>
        <p:spPr>
          <a:xfrm>
            <a:off x="1259767" y="5182187"/>
            <a:ext cx="990845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Аналитическое решение через метод характеристик.</a:t>
            </a:r>
          </a:p>
          <a:p>
            <a:endParaRPr lang="ko-KR" altLang="en-US" sz="28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540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D4DF2-FA39-85CF-494D-967FB7F0F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24FA579-26ED-8E7C-1EE3-CB53AA061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612" y="3969773"/>
            <a:ext cx="8297433" cy="260068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FFE8EC5-773A-5524-E698-8B8C98964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058" y="857673"/>
            <a:ext cx="2476846" cy="274358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AAFEE7-6E37-508B-C353-B37C10DDFB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987" y="857673"/>
            <a:ext cx="3458058" cy="27435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A6EECF-5624-C4E8-CF5D-EEB235FCC05B}"/>
              </a:ext>
            </a:extLst>
          </p:cNvPr>
          <p:cNvSpPr txBox="1"/>
          <p:nvPr/>
        </p:nvSpPr>
        <p:spPr>
          <a:xfrm>
            <a:off x="1428678" y="857673"/>
            <a:ext cx="37702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Реализованные   численные </a:t>
            </a:r>
          </a:p>
          <a:p>
            <a:r>
              <a:rPr lang="ru-RU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схемы</a:t>
            </a:r>
          </a:p>
        </p:txBody>
      </p:sp>
    </p:spTree>
    <p:extLst>
      <p:ext uri="{BB962C8B-B14F-4D97-AF65-F5344CB8AC3E}">
        <p14:creationId xmlns:p14="http://schemas.microsoft.com/office/powerpoint/2010/main" val="1933095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8A02B-8538-6D2F-B8CA-A874782F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타원 1">
            <a:extLst>
              <a:ext uri="{FF2B5EF4-FFF2-40B4-BE49-F238E27FC236}">
                <a16:creationId xmlns:a16="http://schemas.microsoft.com/office/drawing/2014/main" id="{435FD702-3632-E817-91FA-B602C50A5743}"/>
              </a:ext>
            </a:extLst>
          </p:cNvPr>
          <p:cNvSpPr/>
          <p:nvPr/>
        </p:nvSpPr>
        <p:spPr>
          <a:xfrm>
            <a:off x="1415845" y="857250"/>
            <a:ext cx="6587613" cy="532724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36228C41-3B33-0324-DF68-2A7298FA8853}"/>
              </a:ext>
            </a:extLst>
          </p:cNvPr>
          <p:cNvSpPr/>
          <p:nvPr/>
        </p:nvSpPr>
        <p:spPr>
          <a:xfrm>
            <a:off x="1832150" y="1549400"/>
            <a:ext cx="3771900" cy="37719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EBFD9AB-AB8F-ADAF-9154-99163D8694C7}"/>
              </a:ext>
            </a:extLst>
          </p:cNvPr>
          <p:cNvSpPr/>
          <p:nvPr/>
        </p:nvSpPr>
        <p:spPr>
          <a:xfrm>
            <a:off x="2756719" y="2578100"/>
            <a:ext cx="1818631" cy="1787422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NumPy + SciPy</a:t>
            </a:r>
            <a:endParaRPr lang="ru-RU" sz="1600" dirty="0">
              <a:solidFill>
                <a:schemeClr val="tx1"/>
              </a:solidFill>
            </a:endParaRPr>
          </a:p>
          <a:p>
            <a:pPr algn="ctr"/>
            <a:r>
              <a:rPr lang="ru-RU" sz="1600" dirty="0">
                <a:solidFill>
                  <a:schemeClr val="tx1"/>
                </a:solidFill>
              </a:rPr>
              <a:t>вычисления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F279D9C-7545-D579-FB71-CCEF864C1795}"/>
              </a:ext>
            </a:extLst>
          </p:cNvPr>
          <p:cNvSpPr/>
          <p:nvPr/>
        </p:nvSpPr>
        <p:spPr>
          <a:xfrm>
            <a:off x="4575350" y="2578099"/>
            <a:ext cx="1805400" cy="178107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SymPy</a:t>
            </a:r>
            <a:endParaRPr lang="ru-RU" sz="1600" dirty="0">
              <a:solidFill>
                <a:schemeClr val="tx1"/>
              </a:solidFill>
            </a:endParaRPr>
          </a:p>
          <a:p>
            <a:pPr algn="ctr"/>
            <a:r>
              <a:rPr lang="ru-RU" sz="1600" dirty="0">
                <a:solidFill>
                  <a:schemeClr val="tx1"/>
                </a:solidFill>
              </a:rPr>
              <a:t>Парсинг схем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0FF33FB-EB01-34A9-74A6-6D141516544D}"/>
              </a:ext>
            </a:extLst>
          </p:cNvPr>
          <p:cNvSpPr/>
          <p:nvPr/>
        </p:nvSpPr>
        <p:spPr>
          <a:xfrm>
            <a:off x="938088" y="2571750"/>
            <a:ext cx="1818631" cy="1787423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Python</a:t>
            </a:r>
            <a:r>
              <a:rPr lang="ru-RU" altLang="ko-KR" sz="1600" dirty="0">
                <a:solidFill>
                  <a:schemeClr val="tx1"/>
                </a:solidFill>
              </a:rPr>
              <a:t> -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ru-RU" altLang="ko-KR" sz="1600" dirty="0">
                <a:solidFill>
                  <a:schemeClr val="tx1"/>
                </a:solidFill>
              </a:rPr>
              <a:t>ЯП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십자형 5">
            <a:extLst>
              <a:ext uri="{FF2B5EF4-FFF2-40B4-BE49-F238E27FC236}">
                <a16:creationId xmlns:a16="http://schemas.microsoft.com/office/drawing/2014/main" id="{AFC422AA-8761-5A98-2871-D58E1AFB81A3}"/>
              </a:ext>
            </a:extLst>
          </p:cNvPr>
          <p:cNvSpPr>
            <a:spLocks noChangeAspect="1"/>
          </p:cNvSpPr>
          <p:nvPr/>
        </p:nvSpPr>
        <p:spPr>
          <a:xfrm>
            <a:off x="6426200" y="3309350"/>
            <a:ext cx="252000" cy="252000"/>
          </a:xfrm>
          <a:prstGeom prst="plus">
            <a:avLst>
              <a:gd name="adj" fmla="val 456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37F220C-0109-182A-D396-66376F77F4B1}"/>
              </a:ext>
            </a:extLst>
          </p:cNvPr>
          <p:cNvSpPr/>
          <p:nvPr/>
        </p:nvSpPr>
        <p:spPr>
          <a:xfrm>
            <a:off x="6723650" y="2578100"/>
            <a:ext cx="1714500" cy="171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FluxLab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AED7D19-F5DC-FDB2-79D9-333D875F116F}"/>
              </a:ext>
            </a:extLst>
          </p:cNvPr>
          <p:cNvCxnSpPr>
            <a:cxnSpLocks/>
          </p:cNvCxnSpPr>
          <p:nvPr/>
        </p:nvCxnSpPr>
        <p:spPr>
          <a:xfrm>
            <a:off x="8529050" y="3435350"/>
            <a:ext cx="711200" cy="0"/>
          </a:xfrm>
          <a:prstGeom prst="straightConnector1">
            <a:avLst/>
          </a:prstGeom>
          <a:noFill/>
          <a:ln w="12700">
            <a:solidFill>
              <a:schemeClr val="bg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A15659AA-77FB-1F30-840D-706DB1EDB8FA}"/>
              </a:ext>
            </a:extLst>
          </p:cNvPr>
          <p:cNvSpPr/>
          <p:nvPr/>
        </p:nvSpPr>
        <p:spPr>
          <a:xfrm>
            <a:off x="9331150" y="2571750"/>
            <a:ext cx="1714500" cy="17145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j-lt"/>
              </a:rPr>
              <a:t>Plotly</a:t>
            </a:r>
            <a:endParaRPr lang="ru-RU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ru-RU" dirty="0">
                <a:solidFill>
                  <a:schemeClr val="bg1"/>
                </a:solidFill>
                <a:latin typeface="+mj-lt"/>
              </a:rPr>
              <a:t>Графики и 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+mj-lt"/>
              </a:rPr>
              <a:t>анимации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BD6DCBB-FB94-87C8-C678-9981A86238B5}"/>
              </a:ext>
            </a:extLst>
          </p:cNvPr>
          <p:cNvSpPr/>
          <p:nvPr/>
        </p:nvSpPr>
        <p:spPr>
          <a:xfrm>
            <a:off x="9331150" y="857250"/>
            <a:ext cx="1714500" cy="17145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j-lt"/>
              </a:rPr>
              <a:t>PyQt5</a:t>
            </a:r>
            <a:endParaRPr lang="ru-RU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ru-RU" dirty="0">
                <a:solidFill>
                  <a:schemeClr val="bg1"/>
                </a:solidFill>
                <a:latin typeface="+mj-lt"/>
              </a:rPr>
              <a:t>Десктопный интерфейс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4394662-03B2-6151-EE95-87BE368665DE}"/>
              </a:ext>
            </a:extLst>
          </p:cNvPr>
          <p:cNvSpPr/>
          <p:nvPr/>
        </p:nvSpPr>
        <p:spPr>
          <a:xfrm>
            <a:off x="9331150" y="4286250"/>
            <a:ext cx="1714500" cy="17145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+mj-lt"/>
              </a:rPr>
              <a:t>Модульная архитектура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884561E8-580F-38A8-07E8-6BDE9FB900F4}"/>
              </a:ext>
            </a:extLst>
          </p:cNvPr>
          <p:cNvSpPr txBox="1"/>
          <p:nvPr/>
        </p:nvSpPr>
        <p:spPr>
          <a:xfrm>
            <a:off x="538082" y="327164"/>
            <a:ext cx="8074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Архитектура и технологии</a:t>
            </a:r>
          </a:p>
        </p:txBody>
      </p:sp>
      <p:sp>
        <p:nvSpPr>
          <p:cNvPr id="13" name="직사각형 41">
            <a:extLst>
              <a:ext uri="{FF2B5EF4-FFF2-40B4-BE49-F238E27FC236}">
                <a16:creationId xmlns:a16="http://schemas.microsoft.com/office/drawing/2014/main" id="{1A737F4D-31A9-96E0-C287-F27680137163}"/>
              </a:ext>
            </a:extLst>
          </p:cNvPr>
          <p:cNvSpPr/>
          <p:nvPr/>
        </p:nvSpPr>
        <p:spPr>
          <a:xfrm>
            <a:off x="3103569" y="5267536"/>
            <a:ext cx="29924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техническое ядро</a:t>
            </a:r>
          </a:p>
        </p:txBody>
      </p:sp>
      <p:sp>
        <p:nvSpPr>
          <p:cNvPr id="15" name="직사각형 41">
            <a:extLst>
              <a:ext uri="{FF2B5EF4-FFF2-40B4-BE49-F238E27FC236}">
                <a16:creationId xmlns:a16="http://schemas.microsoft.com/office/drawing/2014/main" id="{9A4AAE9C-BF55-FA05-4CE3-FAF53E4A6CC4}"/>
              </a:ext>
            </a:extLst>
          </p:cNvPr>
          <p:cNvSpPr/>
          <p:nvPr/>
        </p:nvSpPr>
        <p:spPr>
          <a:xfrm>
            <a:off x="4361089" y="6298730"/>
            <a:ext cx="29924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FluxLab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ядро</a:t>
            </a:r>
            <a:endParaRPr lang="en-US" sz="20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690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A2CF9-9AF7-137B-CAA9-14CA7244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426FAE-9DA5-7087-9B27-81830C9EF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26" y="857673"/>
            <a:ext cx="5365600" cy="460906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CAA568D-3A05-0752-042D-D60F54FE0A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996" y="857673"/>
            <a:ext cx="5365600" cy="460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25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AC76-A4A7-638A-0C9C-0196BEA5B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0A0D288-0B52-726F-4FD9-1DA267A566BE}"/>
              </a:ext>
            </a:extLst>
          </p:cNvPr>
          <p:cNvSpPr txBox="1"/>
          <p:nvPr/>
        </p:nvSpPr>
        <p:spPr>
          <a:xfrm>
            <a:off x="381205" y="559403"/>
            <a:ext cx="9908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Инновация: Пользовательские схемы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8C42E59-8AB0-2578-548E-DE27C45A4767}"/>
              </a:ext>
            </a:extLst>
          </p:cNvPr>
          <p:cNvSpPr/>
          <p:nvPr/>
        </p:nvSpPr>
        <p:spPr>
          <a:xfrm>
            <a:off x="548353" y="1424642"/>
            <a:ext cx="67009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Задание схем через формулы (JSON-конфигурация).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363BAC-1275-4D17-3B2C-D29BE2D3A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53" y="4919594"/>
            <a:ext cx="6700968" cy="158992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A04601-4C5C-585E-C871-519D933EA5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21" y="1424642"/>
            <a:ext cx="4462408" cy="5084881"/>
          </a:xfrm>
          <a:prstGeom prst="rect">
            <a:avLst/>
          </a:prstGeom>
        </p:spPr>
      </p:pic>
      <p:sp>
        <p:nvSpPr>
          <p:cNvPr id="7" name="직사각형 41">
            <a:extLst>
              <a:ext uri="{FF2B5EF4-FFF2-40B4-BE49-F238E27FC236}">
                <a16:creationId xmlns:a16="http://schemas.microsoft.com/office/drawing/2014/main" id="{2E725D53-5BDD-4D03-3201-B116CF6B6677}"/>
              </a:ext>
            </a:extLst>
          </p:cNvPr>
          <p:cNvSpPr/>
          <p:nvPr/>
        </p:nvSpPr>
        <p:spPr>
          <a:xfrm>
            <a:off x="548353" y="2695064"/>
            <a:ext cx="67009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Поддержка явных и неявных (матричных) шаблонов.</a:t>
            </a:r>
          </a:p>
        </p:txBody>
      </p:sp>
    </p:spTree>
    <p:extLst>
      <p:ext uri="{BB962C8B-B14F-4D97-AF65-F5344CB8AC3E}">
        <p14:creationId xmlns:p14="http://schemas.microsoft.com/office/powerpoint/2010/main" val="1777244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91A98-31FA-E142-5B5D-D01EB0F8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823AD80-C6DA-2AA6-9FF2-235BE2211DAE}"/>
              </a:ext>
            </a:extLst>
          </p:cNvPr>
          <p:cNvSpPr txBox="1"/>
          <p:nvPr/>
        </p:nvSpPr>
        <p:spPr>
          <a:xfrm>
            <a:off x="1751534" y="270004"/>
            <a:ext cx="7048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Результаты экспериментов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80F800-801B-DEE0-8EEF-EDD95041EE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11" y="1086444"/>
            <a:ext cx="4791522" cy="283407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EC6C5E4-E021-02D8-CF4B-CDBD68B85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11" y="4029072"/>
            <a:ext cx="4791522" cy="283551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741BAF7-21AE-5CBF-0280-88553A2104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602" y="1088524"/>
            <a:ext cx="4791522" cy="283199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86D8EB9-9421-6A67-B129-06ED15B7B7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649" y="4022488"/>
            <a:ext cx="4797475" cy="283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867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B7784-7216-5DC0-D97D-18323E0D1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82C4FC5-9A07-8F9E-E54D-1A85080AF64A}"/>
              </a:ext>
            </a:extLst>
          </p:cNvPr>
          <p:cNvSpPr txBox="1"/>
          <p:nvPr/>
        </p:nvSpPr>
        <p:spPr>
          <a:xfrm>
            <a:off x="1751534" y="270004"/>
            <a:ext cx="7048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Анализ ошибок и сходимости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6E32FA-818F-F7D2-D774-393E2BE1E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46" y="1925516"/>
            <a:ext cx="5436298" cy="32154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D570D6A-CFC8-1560-32CC-0738E6327D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006" y="1930596"/>
            <a:ext cx="5436298" cy="3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48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4A384-E27C-0235-0326-B8871A282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8FDCEDE5-D306-B827-00E9-6BD9F2A2E83C}"/>
              </a:ext>
            </a:extLst>
          </p:cNvPr>
          <p:cNvSpPr/>
          <p:nvPr/>
        </p:nvSpPr>
        <p:spPr>
          <a:xfrm>
            <a:off x="6600160" y="3070645"/>
            <a:ext cx="3480318" cy="2058039"/>
          </a:xfrm>
          <a:custGeom>
            <a:avLst/>
            <a:gdLst>
              <a:gd name="connsiteX0" fmla="*/ 0 w 3480318"/>
              <a:gd name="connsiteY0" fmla="*/ 0 h 2058039"/>
              <a:gd name="connsiteX1" fmla="*/ 3039447 w 3480318"/>
              <a:gd name="connsiteY1" fmla="*/ 0 h 2058039"/>
              <a:gd name="connsiteX2" fmla="*/ 3480318 w 3480318"/>
              <a:gd name="connsiteY2" fmla="*/ 440872 h 2058039"/>
              <a:gd name="connsiteX3" fmla="*/ 3039447 w 3480318"/>
              <a:gd name="connsiteY3" fmla="*/ 881743 h 2058039"/>
              <a:gd name="connsiteX4" fmla="*/ 1499687 w 3480318"/>
              <a:gd name="connsiteY4" fmla="*/ 881743 h 2058039"/>
              <a:gd name="connsiteX5" fmla="*/ 1499687 w 3480318"/>
              <a:gd name="connsiteY5" fmla="*/ 2058039 h 2058039"/>
              <a:gd name="connsiteX6" fmla="*/ 1463687 w 3480318"/>
              <a:gd name="connsiteY6" fmla="*/ 2058039 h 2058039"/>
              <a:gd name="connsiteX7" fmla="*/ 1463687 w 3480318"/>
              <a:gd name="connsiteY7" fmla="*/ 881743 h 2058039"/>
              <a:gd name="connsiteX8" fmla="*/ 0 w 3480318"/>
              <a:gd name="connsiteY8" fmla="*/ 881743 h 2058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80318" h="2058039">
                <a:moveTo>
                  <a:pt x="0" y="0"/>
                </a:moveTo>
                <a:lnTo>
                  <a:pt x="3039447" y="0"/>
                </a:lnTo>
                <a:lnTo>
                  <a:pt x="3480318" y="440872"/>
                </a:lnTo>
                <a:lnTo>
                  <a:pt x="3039447" y="881743"/>
                </a:lnTo>
                <a:lnTo>
                  <a:pt x="1499687" y="881743"/>
                </a:lnTo>
                <a:lnTo>
                  <a:pt x="1499687" y="2058039"/>
                </a:lnTo>
                <a:lnTo>
                  <a:pt x="1463687" y="2058039"/>
                </a:lnTo>
                <a:lnTo>
                  <a:pt x="1463687" y="881743"/>
                </a:lnTo>
                <a:lnTo>
                  <a:pt x="0" y="88174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B983124B-A611-0FEA-69DB-E38E174C58E9}"/>
              </a:ext>
            </a:extLst>
          </p:cNvPr>
          <p:cNvSpPr/>
          <p:nvPr/>
        </p:nvSpPr>
        <p:spPr>
          <a:xfrm rot="5400000">
            <a:off x="4939218" y="1268190"/>
            <a:ext cx="1888079" cy="3480319"/>
          </a:xfrm>
          <a:custGeom>
            <a:avLst/>
            <a:gdLst>
              <a:gd name="connsiteX0" fmla="*/ 1006336 w 1888079"/>
              <a:gd name="connsiteY0" fmla="*/ 3480319 h 3480319"/>
              <a:gd name="connsiteX1" fmla="*/ 1006336 w 1888079"/>
              <a:gd name="connsiteY1" fmla="*/ 440871 h 3480319"/>
              <a:gd name="connsiteX2" fmla="*/ 1447208 w 1888079"/>
              <a:gd name="connsiteY2" fmla="*/ 0 h 3480319"/>
              <a:gd name="connsiteX3" fmla="*/ 1888079 w 1888079"/>
              <a:gd name="connsiteY3" fmla="*/ 440871 h 3480319"/>
              <a:gd name="connsiteX4" fmla="*/ 1888079 w 1888079"/>
              <a:gd name="connsiteY4" fmla="*/ 3480319 h 3480319"/>
              <a:gd name="connsiteX5" fmla="*/ 0 w 1888079"/>
              <a:gd name="connsiteY5" fmla="*/ 2002683 h 3480319"/>
              <a:gd name="connsiteX6" fmla="*/ 0 w 1888079"/>
              <a:gd name="connsiteY6" fmla="*/ 1966683 h 3480319"/>
              <a:gd name="connsiteX7" fmla="*/ 1006333 w 1888079"/>
              <a:gd name="connsiteY7" fmla="*/ 1966683 h 3480319"/>
              <a:gd name="connsiteX8" fmla="*/ 1006333 w 1888079"/>
              <a:gd name="connsiteY8" fmla="*/ 2002683 h 348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8079" h="3480319">
                <a:moveTo>
                  <a:pt x="1006336" y="3480319"/>
                </a:moveTo>
                <a:lnTo>
                  <a:pt x="1006336" y="440871"/>
                </a:lnTo>
                <a:lnTo>
                  <a:pt x="1447208" y="0"/>
                </a:lnTo>
                <a:lnTo>
                  <a:pt x="1888079" y="440871"/>
                </a:lnTo>
                <a:lnTo>
                  <a:pt x="1888079" y="3480319"/>
                </a:lnTo>
                <a:close/>
                <a:moveTo>
                  <a:pt x="0" y="2002683"/>
                </a:moveTo>
                <a:lnTo>
                  <a:pt x="0" y="1966683"/>
                </a:lnTo>
                <a:lnTo>
                  <a:pt x="1006333" y="1966683"/>
                </a:lnTo>
                <a:lnTo>
                  <a:pt x="1006333" y="20026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37D537E1-0DE5-8ECF-B430-6C855F198D12}"/>
              </a:ext>
            </a:extLst>
          </p:cNvPr>
          <p:cNvSpPr/>
          <p:nvPr/>
        </p:nvSpPr>
        <p:spPr>
          <a:xfrm rot="5400000">
            <a:off x="2397177" y="2359505"/>
            <a:ext cx="2058039" cy="3480319"/>
          </a:xfrm>
          <a:custGeom>
            <a:avLst/>
            <a:gdLst>
              <a:gd name="connsiteX0" fmla="*/ 0 w 2058039"/>
              <a:gd name="connsiteY0" fmla="*/ 3480319 h 3480319"/>
              <a:gd name="connsiteX1" fmla="*/ 0 w 2058039"/>
              <a:gd name="connsiteY1" fmla="*/ 440871 h 3480319"/>
              <a:gd name="connsiteX2" fmla="*/ 440872 w 2058039"/>
              <a:gd name="connsiteY2" fmla="*/ 0 h 3480319"/>
              <a:gd name="connsiteX3" fmla="*/ 881744 w 2058039"/>
              <a:gd name="connsiteY3" fmla="*/ 440871 h 3480319"/>
              <a:gd name="connsiteX4" fmla="*/ 881744 w 2058039"/>
              <a:gd name="connsiteY4" fmla="*/ 1952639 h 3480319"/>
              <a:gd name="connsiteX5" fmla="*/ 2058039 w 2058039"/>
              <a:gd name="connsiteY5" fmla="*/ 1952639 h 3480319"/>
              <a:gd name="connsiteX6" fmla="*/ 2058039 w 2058039"/>
              <a:gd name="connsiteY6" fmla="*/ 1988639 h 3480319"/>
              <a:gd name="connsiteX7" fmla="*/ 881744 w 2058039"/>
              <a:gd name="connsiteY7" fmla="*/ 1988639 h 3480319"/>
              <a:gd name="connsiteX8" fmla="*/ 881743 w 2058039"/>
              <a:gd name="connsiteY8" fmla="*/ 3480319 h 348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58039" h="3480319">
                <a:moveTo>
                  <a:pt x="0" y="3480319"/>
                </a:moveTo>
                <a:lnTo>
                  <a:pt x="0" y="440871"/>
                </a:lnTo>
                <a:lnTo>
                  <a:pt x="440872" y="0"/>
                </a:lnTo>
                <a:lnTo>
                  <a:pt x="881744" y="440871"/>
                </a:lnTo>
                <a:lnTo>
                  <a:pt x="881744" y="1952639"/>
                </a:lnTo>
                <a:lnTo>
                  <a:pt x="2058039" y="1952639"/>
                </a:lnTo>
                <a:lnTo>
                  <a:pt x="2058039" y="1988639"/>
                </a:lnTo>
                <a:lnTo>
                  <a:pt x="881744" y="1988639"/>
                </a:lnTo>
                <a:lnTo>
                  <a:pt x="881743" y="3480319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F080F4-C35F-DA9D-1E80-45AEED596FCC}"/>
              </a:ext>
            </a:extLst>
          </p:cNvPr>
          <p:cNvSpPr/>
          <p:nvPr/>
        </p:nvSpPr>
        <p:spPr>
          <a:xfrm>
            <a:off x="2821260" y="3311461"/>
            <a:ext cx="1915132" cy="461665"/>
          </a:xfrm>
          <a:prstGeom prst="rect">
            <a:avLst/>
          </a:prstGeom>
        </p:spPr>
        <p:txBody>
          <a:bodyPr wrap="square" rtlCol="0" anchor="ctr" anchorCtr="0">
            <a:spAutoFit/>
          </a:bodyPr>
          <a:lstStyle/>
          <a:p>
            <a:r>
              <a:rPr lang="ru-RU" altLang="ko-KR" sz="2400" b="1" dirty="0"/>
              <a:t>2 Аспект</a:t>
            </a:r>
            <a:endParaRPr lang="en-US" altLang="ko-KR" sz="2400" b="1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71CF109-B8DF-5367-E038-BA060FD4C6C9}"/>
              </a:ext>
            </a:extLst>
          </p:cNvPr>
          <p:cNvSpPr/>
          <p:nvPr/>
        </p:nvSpPr>
        <p:spPr>
          <a:xfrm>
            <a:off x="5278321" y="3311461"/>
            <a:ext cx="1915132" cy="461665"/>
          </a:xfrm>
          <a:prstGeom prst="rect">
            <a:avLst/>
          </a:prstGeom>
        </p:spPr>
        <p:txBody>
          <a:bodyPr wrap="square" rtlCol="0" anchor="ctr" anchorCtr="0">
            <a:spAutoFit/>
          </a:bodyPr>
          <a:lstStyle/>
          <a:p>
            <a:r>
              <a:rPr lang="ru-RU" altLang="ko-KR" sz="2400" b="1" dirty="0"/>
              <a:t>3 Аспект</a:t>
            </a:r>
            <a:endParaRPr lang="en-US" altLang="ko-KR" sz="2400" b="1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04B253F-0740-67B5-25EA-27A12AC91D13}"/>
              </a:ext>
            </a:extLst>
          </p:cNvPr>
          <p:cNvSpPr/>
          <p:nvPr/>
        </p:nvSpPr>
        <p:spPr>
          <a:xfrm>
            <a:off x="7735382" y="3311461"/>
            <a:ext cx="1915132" cy="461665"/>
          </a:xfrm>
          <a:prstGeom prst="rect">
            <a:avLst/>
          </a:prstGeom>
        </p:spPr>
        <p:txBody>
          <a:bodyPr wrap="square" rtlCol="0" anchor="ctr" anchorCtr="0">
            <a:spAutoFit/>
          </a:bodyPr>
          <a:lstStyle/>
          <a:p>
            <a:r>
              <a:rPr lang="ru-RU" altLang="ko-KR" sz="2400" b="1" dirty="0"/>
              <a:t>4 Аспект</a:t>
            </a:r>
            <a:endParaRPr lang="en-US" altLang="ko-KR" sz="2400" b="1" dirty="0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AEB46A5C-A5FE-6CF1-BD84-78B748C85C49}"/>
              </a:ext>
            </a:extLst>
          </p:cNvPr>
          <p:cNvSpPr/>
          <p:nvPr/>
        </p:nvSpPr>
        <p:spPr>
          <a:xfrm rot="5400000">
            <a:off x="-231496" y="1011598"/>
            <a:ext cx="1888079" cy="3993503"/>
          </a:xfrm>
          <a:custGeom>
            <a:avLst/>
            <a:gdLst>
              <a:gd name="connsiteX0" fmla="*/ 1006336 w 1888079"/>
              <a:gd name="connsiteY0" fmla="*/ 3993503 h 3993503"/>
              <a:gd name="connsiteX1" fmla="*/ 1006336 w 1888079"/>
              <a:gd name="connsiteY1" fmla="*/ 440871 h 3993503"/>
              <a:gd name="connsiteX2" fmla="*/ 1447208 w 1888079"/>
              <a:gd name="connsiteY2" fmla="*/ 0 h 3993503"/>
              <a:gd name="connsiteX3" fmla="*/ 1888079 w 1888079"/>
              <a:gd name="connsiteY3" fmla="*/ 440872 h 3993503"/>
              <a:gd name="connsiteX4" fmla="*/ 1888079 w 1888079"/>
              <a:gd name="connsiteY4" fmla="*/ 3993503 h 3993503"/>
              <a:gd name="connsiteX5" fmla="*/ 0 w 1888079"/>
              <a:gd name="connsiteY5" fmla="*/ 1995947 h 3993503"/>
              <a:gd name="connsiteX6" fmla="*/ 0 w 1888079"/>
              <a:gd name="connsiteY6" fmla="*/ 1959947 h 3993503"/>
              <a:gd name="connsiteX7" fmla="*/ 1006333 w 1888079"/>
              <a:gd name="connsiteY7" fmla="*/ 1959947 h 3993503"/>
              <a:gd name="connsiteX8" fmla="*/ 1006333 w 1888079"/>
              <a:gd name="connsiteY8" fmla="*/ 1995947 h 3993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8079" h="3993503">
                <a:moveTo>
                  <a:pt x="1006336" y="3993503"/>
                </a:moveTo>
                <a:lnTo>
                  <a:pt x="1006336" y="440871"/>
                </a:lnTo>
                <a:lnTo>
                  <a:pt x="1447208" y="0"/>
                </a:lnTo>
                <a:lnTo>
                  <a:pt x="1888079" y="440872"/>
                </a:lnTo>
                <a:lnTo>
                  <a:pt x="1888079" y="3993503"/>
                </a:lnTo>
                <a:close/>
                <a:moveTo>
                  <a:pt x="0" y="1995947"/>
                </a:moveTo>
                <a:lnTo>
                  <a:pt x="0" y="1959947"/>
                </a:lnTo>
                <a:lnTo>
                  <a:pt x="1006333" y="1959947"/>
                </a:lnTo>
                <a:lnTo>
                  <a:pt x="1006333" y="199594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980D5B9-3BFC-1821-576B-5D9F75BFBAE3}"/>
              </a:ext>
            </a:extLst>
          </p:cNvPr>
          <p:cNvSpPr/>
          <p:nvPr/>
        </p:nvSpPr>
        <p:spPr>
          <a:xfrm>
            <a:off x="364198" y="3311461"/>
            <a:ext cx="1915132" cy="461665"/>
          </a:xfrm>
          <a:prstGeom prst="rect">
            <a:avLst/>
          </a:prstGeom>
        </p:spPr>
        <p:txBody>
          <a:bodyPr wrap="square" rtlCol="0" anchor="ctr" anchorCtr="0">
            <a:spAutoFit/>
          </a:bodyPr>
          <a:lstStyle/>
          <a:p>
            <a:r>
              <a:rPr lang="ru-RU" altLang="ko-KR" sz="2400" b="1" dirty="0"/>
              <a:t>1 Аспект</a:t>
            </a:r>
            <a:endParaRPr lang="en-US" altLang="ko-KR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D8EC7E-A956-F6EF-0409-6EFBD1BF4133}"/>
              </a:ext>
            </a:extLst>
          </p:cNvPr>
          <p:cNvSpPr txBox="1"/>
          <p:nvPr/>
        </p:nvSpPr>
        <p:spPr>
          <a:xfrm>
            <a:off x="1996751" y="265847"/>
            <a:ext cx="93265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Практическая значимость и компетенции</a:t>
            </a:r>
          </a:p>
        </p:txBody>
      </p:sp>
      <p:sp>
        <p:nvSpPr>
          <p:cNvPr id="3" name="직사각형 41">
            <a:extLst>
              <a:ext uri="{FF2B5EF4-FFF2-40B4-BE49-F238E27FC236}">
                <a16:creationId xmlns:a16="http://schemas.microsoft.com/office/drawing/2014/main" id="{6A231E0B-6D2F-E71C-7100-BE5F9162349B}"/>
              </a:ext>
            </a:extLst>
          </p:cNvPr>
          <p:cNvSpPr/>
          <p:nvPr/>
        </p:nvSpPr>
        <p:spPr>
          <a:xfrm>
            <a:off x="948238" y="1877533"/>
            <a:ext cx="300433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Создан учебно-исследовательский инструмент</a:t>
            </a:r>
          </a:p>
          <a:p>
            <a:endParaRPr lang="ru-RU" sz="22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직사각형 45">
            <a:extLst>
              <a:ext uri="{FF2B5EF4-FFF2-40B4-BE49-F238E27FC236}">
                <a16:creationId xmlns:a16="http://schemas.microsoft.com/office/drawing/2014/main" id="{9D40C1E8-CF3A-ECFF-C291-6AC50B8E3E7C}"/>
              </a:ext>
            </a:extLst>
          </p:cNvPr>
          <p:cNvSpPr/>
          <p:nvPr/>
        </p:nvSpPr>
        <p:spPr>
          <a:xfrm>
            <a:off x="3273950" y="4359164"/>
            <a:ext cx="32142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Реализован полный цикл: от математики до ПО</a:t>
            </a:r>
            <a:r>
              <a:rPr lang="ru-RU" dirty="0"/>
              <a:t>.</a:t>
            </a:r>
          </a:p>
        </p:txBody>
      </p:sp>
      <p:sp>
        <p:nvSpPr>
          <p:cNvPr id="5" name="직사각형 49">
            <a:extLst>
              <a:ext uri="{FF2B5EF4-FFF2-40B4-BE49-F238E27FC236}">
                <a16:creationId xmlns:a16="http://schemas.microsoft.com/office/drawing/2014/main" id="{6511BAF5-C2E1-23AE-FA53-21DAF4157D2C}"/>
              </a:ext>
            </a:extLst>
          </p:cNvPr>
          <p:cNvSpPr/>
          <p:nvPr/>
        </p:nvSpPr>
        <p:spPr>
          <a:xfrm>
            <a:off x="5765383" y="1879596"/>
            <a:ext cx="497758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Сформированы навыки проектирования расширяемых систем</a:t>
            </a:r>
          </a:p>
        </p:txBody>
      </p:sp>
      <p:sp>
        <p:nvSpPr>
          <p:cNvPr id="6" name="직사각형 45">
            <a:extLst>
              <a:ext uri="{FF2B5EF4-FFF2-40B4-BE49-F238E27FC236}">
                <a16:creationId xmlns:a16="http://schemas.microsoft.com/office/drawing/2014/main" id="{E10BC14E-5DA1-3581-208B-A3FB0B94AE9D}"/>
              </a:ext>
            </a:extLst>
          </p:cNvPr>
          <p:cNvSpPr/>
          <p:nvPr/>
        </p:nvSpPr>
        <p:spPr>
          <a:xfrm>
            <a:off x="8282576" y="4359164"/>
            <a:ext cx="39094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Возможность быстрого тестирования новых разностных схем</a:t>
            </a:r>
          </a:p>
        </p:txBody>
      </p:sp>
    </p:spTree>
    <p:extLst>
      <p:ext uri="{BB962C8B-B14F-4D97-AF65-F5344CB8AC3E}">
        <p14:creationId xmlns:p14="http://schemas.microsoft.com/office/powerpoint/2010/main" val="3662417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F0FBA-3A94-73EA-322E-DBD5B438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E1623B-B45F-56EE-3536-A602F48E6BCD}"/>
              </a:ext>
            </a:extLst>
          </p:cNvPr>
          <p:cNvSpPr txBox="1"/>
          <p:nvPr/>
        </p:nvSpPr>
        <p:spPr>
          <a:xfrm>
            <a:off x="894735" y="2594650"/>
            <a:ext cx="11887200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r>
              <a:rPr lang="ru-RU" altLang="ko-KR" sz="6000" b="0" dirty="0">
                <a:solidFill>
                  <a:schemeClr val="bg1"/>
                </a:solidFill>
              </a:rPr>
              <a:t>Благодарю за внимание</a:t>
            </a:r>
            <a:r>
              <a:rPr lang="en-US" altLang="ko-KR" sz="6000" b="0" dirty="0">
                <a:solidFill>
                  <a:schemeClr val="bg1"/>
                </a:solidFill>
              </a:rPr>
              <a:t> !</a:t>
            </a:r>
          </a:p>
        </p:txBody>
      </p:sp>
      <p:sp>
        <p:nvSpPr>
          <p:cNvPr id="2" name="직사각형 41">
            <a:extLst>
              <a:ext uri="{FF2B5EF4-FFF2-40B4-BE49-F238E27FC236}">
                <a16:creationId xmlns:a16="http://schemas.microsoft.com/office/drawing/2014/main" id="{02861719-D498-8D82-4DB2-043B7477EE68}"/>
              </a:ext>
            </a:extLst>
          </p:cNvPr>
          <p:cNvSpPr/>
          <p:nvPr/>
        </p:nvSpPr>
        <p:spPr>
          <a:xfrm>
            <a:off x="4094560" y="3610313"/>
            <a:ext cx="695689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Остались вопросы? Я готов на них ответить!</a:t>
            </a:r>
          </a:p>
          <a:p>
            <a:endParaRPr lang="ru-RU" sz="22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057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bas Neue - Rubik Light">
      <a:majorFont>
        <a:latin typeface="Bebas Neue"/>
        <a:ea typeface="Arial Unicode MS"/>
        <a:cs typeface=""/>
      </a:majorFont>
      <a:minorFont>
        <a:latin typeface="Rubik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 sz="2400" dirty="0" smtClean="0">
            <a:solidFill>
              <a:schemeClr val="tx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85000"/>
              <a:lumOff val="1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3354</TotalTime>
  <Words>758</Words>
  <Application>Microsoft Office PowerPoint</Application>
  <PresentationFormat>Широкоэкранный</PresentationFormat>
  <Paragraphs>125</Paragraphs>
  <Slides>13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Cambria Math</vt:lpstr>
      <vt:lpstr>Arial</vt:lpstr>
      <vt:lpstr>Malgun Gothic</vt:lpstr>
      <vt:lpstr>PPTMON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Damir</cp:lastModifiedBy>
  <cp:revision>246</cp:revision>
  <dcterms:created xsi:type="dcterms:W3CDTF">2019-04-06T05:20:47Z</dcterms:created>
  <dcterms:modified xsi:type="dcterms:W3CDTF">2026-05-15T14:37:05Z</dcterms:modified>
</cp:coreProperties>
</file>